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C23961-D168-414B-9536-515FB59A542D}">
  <a:tblStyle styleId="{F3C23961-D168-414B-9536-515FB59A542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Title Slide</a:t>
            </a:r>
            <a:endParaRPr/>
          </a:p>
          <a:p>
            <a:pPr indent="0" lvl="0" marL="0" rtl="0" algn="l">
              <a:spcBef>
                <a:spcPts val="0"/>
              </a:spcBef>
              <a:spcAft>
                <a:spcPts val="0"/>
              </a:spcAft>
              <a:buNone/>
            </a:pPr>
            <a:r>
              <a:rPr lang="en-US"/>
              <a:t>Good morning/afternoon everyone. I'm Nishant Pushparaju. Today I'll present our classification results for wheat futures price direction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shifted from regression (predicting price levels) to classification — predicting whether tomorrow's wheat futures price goes Up or Down. This is a binary classification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pipeline uses 31 FRED-MD macroeconomic indicators (with proper t-code stationarity transforms and 1-month publication delay) plus 30 lagged daily closing prices as features. The lookback window is 30 days.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have 4,605 total samples from 2008 to 2025, split 80/20 chronologically — training on 3,684 samples (2008–2022) and testing on 921 samples (2022–2025). We use 5-fold TimeSeriesSplit cross-validation with StandardScaler fit only on training data per fold — no data leakage.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 models are evaluated: ARX (logistic regression baseline), BiRNN with Self-Attention, BiRNN with Skip Connections, and Bidirectional GRU. Let me walk through each one.</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2: ARX Classifier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ARX Classifier is our econometric baseline. It's a Logistic Regression model that takes two types of inputs: autoregressive price lags and exogenous macroeconomic features from FRED-MD.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model flattens the lookback window into a feature vector: the last ar_lags closing prices concatenated with the last exog_lags days of 31 macro variables. We used balanced class weights to handle the slight imbalance (47.5% Up vs 52.5%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ran a grid search over 48 configurations: ar_lags in [3,5,7,10], exog_lags in [1,3,5], alpha in [0.01,0.1,1.0,5.0]. The best config by CV F1 was ar_lags=3, exog_lags=1, alpha=0.01 (C=100, meaning weak regularization).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Test results: Accuracy = 49.8%, essentially a coin flip. F1 = 0.555, AUC-ROC = 0.523 — barely above the 0.50 random baseline. The model is heavily biased toward predicting "Up" with recall of 68% but precision of only 47%.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test performance (F1=0.555) degraded compared to CV (F1=0.595), suggesting possible regime change between training (2008–2022) and test (2022–2025) periods.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takeaway: A linear model cannot capture the non-linear dynamics needed for daily direction prediction. This establishes the baseline that deep learning models need to beat — and spoiler: it's hard to beat even a coin flip on this task.</a:t>
            </a:r>
            <a:endParaRPr/>
          </a:p>
        </p:txBody>
      </p:sp>
      <p:sp>
        <p:nvSpPr>
          <p:cNvPr id="106" name="Google Shape;10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3: BiRNN + Self-Attention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our first deep learning model. The architecture stacks Bidirectional SimpleRNN layers followed by a SeqSelfAttention layer, GlobalAveragePooling, dropout, and a sigmoid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idea behind attention: not all 30 days in the lookback window contribute equally to tomorrow's direction. The self-attention mechanism learns a soft weighting over timesteps, theoretically allowing the model to focus on the most informative days.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Default hyperparameters: hidden_size=64, 2 layers, dropout=0.2, L2 weight_decay=0.02, batch_size=64, lr=1e-3 with ReduceLROnPlateau and EarlyStopping.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Optuna tuning ran only 2 of 25 planned trials due to compute constraints. Best trial: hidden=64, 3 layers, lr=4.37e-4, dropout=0.14, weight_decay=1.54e-5. The tuning reduced regularization significantly.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Results: The model essentially performs at random. Test accuracy is 49.3% — worse than a coin flip. AUC-ROC of 0.496 is literally below 0.50, meaning the model's probability rankings contain no useful discriminative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Overfitting is clear: train accuracy reaches 0.57 while test accuracy is 0.49. The attention mechanism, while theoretically appealing, finds no meaningful temporal patterns in noisy daily price data. This is consistent with the efficient market hypothesis — if daily direction were predictable from macro data and recent prices, it would be arbitraged away.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Optuna-tuned model showed marginal CV improvement (F1: 0.471 to 0.505) but this did not transfer to the test set.</a:t>
            </a:r>
            <a:endParaRPr/>
          </a:p>
        </p:txBody>
      </p:sp>
      <p:sp>
        <p:nvSpPr>
          <p:cNvPr id="141" name="Google Shape;14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4: BiRNN + Skip Connections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our ablation model — we remove the attention mechanism and replace it with skip connections (residual connections with LayerNorm). The architecture uses an input projection Dense layer to match dimensions, then at each BiRNN layer: h = LayerNorm(BiRNN(h) + h_prev). This is a standard residual block, similar to ResNets.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idea: skip connections preserve the gradient flow through deep networks. Instead of learning what to attend to, we let the model maintain a residual information stream.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Default: hidden=64, 2 layers, dropout=0.2, weight_decay=0.02. Optuna found: hidden=128, 1 layer, lr=6.5e-4, dropout=0.35. Only 2 of 25 trials ran.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Results: Test accuracy = 49.9%, F1 = 0.530, AUC-ROC = 0.502. Still at random chance. However, this model shows the largest overfitting gap — train accuracy reaches 0.614 while test accuracy is only 0.499. The skip connections allow the model to memorize training patterns more effectively, but these patterns don't generalize.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Interestingly, in our previous regression task, BiRNN+Skip was the best model (R²=0.867). But predicting direction is fundamentally harder than predicting level — level prediction benefits from autocorrelation (yesterday's price ≈ today's price), while direction prediction requires capturing the much smaller signal of whether the price goes up or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Optuna tuning provided almost no improvement in CV (F1: 0.434 to 0.438), confirming that the bottleneck is the signal, not the hyperparameters.</a:t>
            </a:r>
            <a:endParaRPr/>
          </a:p>
        </p:txBody>
      </p:sp>
      <p:sp>
        <p:nvSpPr>
          <p:cNvPr id="192" name="Google Shape;19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5: Bidirectional GRU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pure cell-type swap experiment — we replace SimpleRNN with GRU while removing all structural additions. No attention, no skip connections. The question: how much does the gating mechanism alone contribute?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GRU addresses the vanishing gradient problem with two gates: the reset gate selectively forgets past state, and the update gate controls how much new information flows in. This is a lighter alternative to LSTM (two gates vs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Architecture: Stacked Bidirectional GRU layers → GlobalAveragePooling → Dropout → Dense(1, sigmoid). Default: hidden=64, 2 layers. Optuna best: hidden=128, 3 layers, lr=2.8e-4, dropout=0.37.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our best-performing classification model. Test accuracy = 52.7%, F1 = 0.556, AUC-ROC = 0.538. While still only marginally above random, it's the only model that consistently edges above 50% across all metrics.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Important observations:</a:t>
            </a:r>
            <a:endParaRPr/>
          </a:p>
          <a:p>
            <a:pPr indent="0" lvl="0" marL="0" rtl="0" algn="l">
              <a:spcBef>
                <a:spcPts val="0"/>
              </a:spcBef>
              <a:spcAft>
                <a:spcPts val="0"/>
              </a:spcAft>
              <a:buNone/>
            </a:pPr>
            <a:r>
              <a:rPr lang="en-US"/>
              <a:t>1. This is the only model where Optuna tuning clearly helped on the test set (default test was likely lower).</a:t>
            </a:r>
            <a:endParaRPr/>
          </a:p>
          <a:p>
            <a:pPr indent="0" lvl="0" marL="0" rtl="0" algn="l">
              <a:spcBef>
                <a:spcPts val="0"/>
              </a:spcBef>
              <a:spcAft>
                <a:spcPts val="0"/>
              </a:spcAft>
              <a:buNone/>
            </a:pPr>
            <a:r>
              <a:rPr lang="en-US"/>
              <a:t>2. The fold-to-fold variance is still high — F1 ranges from 0.00 to 0.66 in default CV, showing learning instability.</a:t>
            </a:r>
            <a:endParaRPr/>
          </a:p>
          <a:p>
            <a:pPr indent="0" lvl="0" marL="0" rtl="0" algn="l">
              <a:spcBef>
                <a:spcPts val="0"/>
              </a:spcBef>
              <a:spcAft>
                <a:spcPts val="0"/>
              </a:spcAft>
              <a:buNone/>
            </a:pPr>
            <a:r>
              <a:rPr lang="en-US"/>
              <a:t>3. The model is biased toward predicting "Up" (recall 0.64 for Up vs 0.43 for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Despite being the "best," 52.7% accuracy on a binary task is only marginally above a coin flip. In practical terms, this would not be profitable after transaction costs. However, the GRU's gating mechanism does provide the most stable training surface among our deep learning models.</a:t>
            </a:r>
            <a:endParaRPr/>
          </a:p>
        </p:txBody>
      </p:sp>
      <p:sp>
        <p:nvSpPr>
          <p:cNvPr id="232" name="Google Shape;2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6: Results Summary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walk through the final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table shows all four models compared against a random baseline. The key observation is that every model hovers around 50% accuracy and 0.50 AUC-ROC. BiGRU is the "winner" at 52.7% accuracy and 0.538 AUC, but this is only marginally above random.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bar chart visualizes AUC-ROC — notice how all bars are clustered around the 0.50 random baseline line. BiRNN+Attention actually falls below random at 0.496.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 key takeaways: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All models perform near random chance. This is not a failure of our pipeline — the preprocessing is rigorous (no leakage, proper temporal splits, per-fold scaling). The task itself is genuinely hard.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Classification is fundamentally harder than regression for this data. In our previous regression work, BiRNN+Skip achieved R²=0.867 for price level prediction. The same architecture with the same data drops to 50% for direction prediction. Why? Price level prediction benefits from autocorrelation — yesterday's price is a great predictor of today's price level. But direction (up/down) strips away this autocorrelation advantage and requires the model to capture much subtler patterns.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Among the models, GRU gating provides the most stable optimization surface. BiGRU is the only model where Optuna tuning clearly helped and the only one consistently above 50%. The gating mechanism (reset + update gates) handles the noisy gradient landscape better than SimpleRNN.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These results are consistent with the efficient market hypothesis. If daily wheat futures direction were reliably predictable from publicly available macro data and price history, arbitrageurs would have already exploited this, removing the signal. Our models are essentially confirming that this particular signal-to-noise ratio is too low for profitable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Future directions: alternative feature engineering (technical indicators, sentiment data), longer prediction horizons (weekly instead of daily), or ensemble methods.</a:t>
            </a:r>
            <a:endParaRPr/>
          </a:p>
        </p:txBody>
      </p:sp>
      <p:sp>
        <p:nvSpPr>
          <p:cNvPr id="268" name="Google Shape;26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7: Alternative Data for Wheat Price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LEFT SIDE - 8 research papers, each leading to a specific dataset we collected. Every dataset choice was motivated by a peer-reviewed paper with quantitative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RIGHT SIDE - Results from our fair comparison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 three experiments use the SAME 4,605 samples, same 80/20 chronological split, same target variable. Only the feature columns differ. BiGRU classifier with Optuna tuning.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Experiment A (FRED-MD only): 52.7% accuracy, AUC 0.538. This uses the locked hyperparameters from the original classification notebook and reproduces the exact same result. This is our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Experiment C (Alternative Data only): 52.4% accuracy, AUC 0.550. This is the key finding. Our wheat-specific alternative data — COT positioning, cross-commodity prices, weather, Google Trends, technical indicators, NASA POWER, VIX/OVX — achieves HIGHER AUC than FRED-MD (0.550 vs 0.538) without using any macroeconomic indicators at all. The model predicts both classes: Down recall 39%, Up recall 68%.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Experiment B (Combined): 45.9% accuracy, AUC 0.508. The combined 80-feature set overwhelmed the BiGRU — it collapsed to predicting 96% Up. This is a model architecture limitation, not a data limitation. The next step is testing with XGBoost/LightGBM which handles high-dimensional tabular features better.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TAKEAWAY: Our alternative data captures comparable or better predictive signal than FRED-MD's 31 macroeconomic indicators, but through completely different information channels (wheat-specific supply, demand, positioning, and attention). With the right model architecture (tree-based), combining both should be additive.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13 data sources grouped into 5 dimensions: Positioning (COT, VIX, OVX), Demand (corn, soy, oil, USD, gold), Supply (weather KS, weather ND, NASA POWER), Attention (Google Trends), Price Action (technical indicators).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Three additional datasets identified but not yet implemented due to authentication requirements: Satellite NDVI (Google Earth Engine), USDA Crop Progress (API key), News Sentiment (GDELT rate-limited).</a:t>
            </a:r>
            <a:endParaRPr/>
          </a:p>
        </p:txBody>
      </p:sp>
      <p:sp>
        <p:nvSpPr>
          <p:cNvPr id="301" name="Google Shape;30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8: Dataset Details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slide provides the technical detail for each of the 13 data sources used in our alternative data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Three columns:</a:t>
            </a:r>
            <a:endParaRPr/>
          </a:p>
          <a:p>
            <a:pPr indent="0" lvl="0" marL="0" rtl="0" algn="l">
              <a:spcBef>
                <a:spcPts val="0"/>
              </a:spcBef>
              <a:spcAft>
                <a:spcPts val="0"/>
              </a:spcAft>
              <a:buNone/>
            </a:pPr>
            <a:r>
              <a:rPr lang="en-US"/>
              <a:t>- Data Source: name, URL, and frequency</a:t>
            </a:r>
            <a:endParaRPr/>
          </a:p>
          <a:p>
            <a:pPr indent="0" lvl="0" marL="0" rtl="0" algn="l">
              <a:spcBef>
                <a:spcPts val="0"/>
              </a:spcBef>
              <a:spcAft>
                <a:spcPts val="0"/>
              </a:spcAft>
              <a:buNone/>
            </a:pPr>
            <a:r>
              <a:rPr lang="en-US"/>
              <a:t>- Features Used: the actual variable names in our code</a:t>
            </a:r>
            <a:endParaRPr/>
          </a:p>
          <a:p>
            <a:pPr indent="0" lvl="0" marL="0" rtl="0" algn="l">
              <a:spcBef>
                <a:spcPts val="0"/>
              </a:spcBef>
              <a:spcAft>
                <a:spcPts val="0"/>
              </a:spcAft>
              <a:buNone/>
            </a:pPr>
            <a:r>
              <a:rPr lang="en-US"/>
              <a:t>- What It Provides: plain-English explanation of what information this dataset adds for wheat price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datasets are ordered by category:</a:t>
            </a:r>
            <a:endParaRPr/>
          </a:p>
          <a:p>
            <a:pPr indent="0" lvl="0" marL="0" rtl="0" algn="l">
              <a:spcBef>
                <a:spcPts val="0"/>
              </a:spcBef>
              <a:spcAft>
                <a:spcPts val="0"/>
              </a:spcAft>
              <a:buNone/>
            </a:pPr>
            <a:r>
              <a:rPr lang="en-US"/>
              <a:t>1. CFTC COT — market positioning (who is betting what on wheat)</a:t>
            </a:r>
            <a:endParaRPr/>
          </a:p>
          <a:p>
            <a:pPr indent="0" lvl="0" marL="0" rtl="0" algn="l">
              <a:spcBef>
                <a:spcPts val="0"/>
              </a:spcBef>
              <a:spcAft>
                <a:spcPts val="0"/>
              </a:spcAft>
              <a:buNone/>
            </a:pPr>
            <a:r>
              <a:rPr lang="en-US"/>
              <a:t>2-6. Cross-commodity prices — demand dynamics (corn, soy, oil, USD, gold)</a:t>
            </a:r>
            <a:endParaRPr/>
          </a:p>
          <a:p>
            <a:pPr indent="0" lvl="0" marL="0" rtl="0" algn="l">
              <a:spcBef>
                <a:spcPts val="0"/>
              </a:spcBef>
              <a:spcAft>
                <a:spcPts val="0"/>
              </a:spcAft>
              <a:buNone/>
            </a:pPr>
            <a:r>
              <a:rPr lang="en-US"/>
              <a:t>7. Google Trends — public attention and panic signals</a:t>
            </a:r>
            <a:endParaRPr/>
          </a:p>
          <a:p>
            <a:pPr indent="0" lvl="0" marL="0" rtl="0" algn="l">
              <a:spcBef>
                <a:spcPts val="0"/>
              </a:spcBef>
              <a:spcAft>
                <a:spcPts val="0"/>
              </a:spcAft>
              <a:buNone/>
            </a:pPr>
            <a:r>
              <a:rPr lang="en-US"/>
              <a:t>8-9. Weather — supply-side growing conditions for Kansas and North Dakota</a:t>
            </a:r>
            <a:endParaRPr/>
          </a:p>
          <a:p>
            <a:pPr indent="0" lvl="0" marL="0" rtl="0" algn="l">
              <a:spcBef>
                <a:spcPts val="0"/>
              </a:spcBef>
              <a:spcAft>
                <a:spcPts val="0"/>
              </a:spcAft>
              <a:buNone/>
            </a:pPr>
            <a:r>
              <a:rPr lang="en-US"/>
              <a:t>10-11. VIX/OVX — market fear and oil volatility</a:t>
            </a:r>
            <a:endParaRPr/>
          </a:p>
          <a:p>
            <a:pPr indent="0" lvl="0" marL="0" rtl="0" algn="l">
              <a:spcBef>
                <a:spcPts val="0"/>
              </a:spcBef>
              <a:spcAft>
                <a:spcPts val="0"/>
              </a:spcAft>
              <a:buNone/>
            </a:pPr>
            <a:r>
              <a:rPr lang="en-US"/>
              <a:t>12. NASA POWER — vegetation and growing condition proxy</a:t>
            </a:r>
            <a:endParaRPr/>
          </a:p>
          <a:p>
            <a:pPr indent="0" lvl="0" marL="0" rtl="0" algn="l">
              <a:spcBef>
                <a:spcPts val="0"/>
              </a:spcBef>
              <a:spcAft>
                <a:spcPts val="0"/>
              </a:spcAft>
              <a:buNone/>
            </a:pPr>
            <a:r>
              <a:rPr lang="en-US"/>
              <a:t>13. Technical indicators — price microstructure from existing OHLCV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Total: 49 alternative features (replacing or supplementing the 31 FRED-MD macro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point: every feature has a clear causal mechanism linking it to wheat price direction. We are not adding features randomly — each one captures a specific dimension of price formation that FRED-MD misses.</a:t>
            </a:r>
            <a:endParaRPr/>
          </a:p>
        </p:txBody>
      </p:sp>
      <p:sp>
        <p:nvSpPr>
          <p:cNvPr id="389" name="Google Shape;38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748f7d57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748f7d57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once with dataset, have the prices in macrodata + the dataset</a:t>
            </a:r>
            <a:br>
              <a:rPr lang="en-US"/>
            </a:br>
            <a:br>
              <a:rPr lang="en-US"/>
            </a:br>
            <a:r>
              <a:rPr lang="en-US"/>
              <a:t>why the dataset, news-&gt; difficult is </a:t>
            </a:r>
            <a:r>
              <a:rPr lang="en-US"/>
              <a:t>correlates</a:t>
            </a:r>
            <a:r>
              <a:rPr lang="en-US"/>
              <a:t> -&gt; but it is obvious</a:t>
            </a:r>
            <a:endParaRPr/>
          </a:p>
          <a:p>
            <a:pPr indent="0" lvl="0" marL="0" rtl="0" algn="l">
              <a:spcBef>
                <a:spcPts val="0"/>
              </a:spcBef>
              <a:spcAft>
                <a:spcPts val="0"/>
              </a:spcAft>
              <a:buNone/>
            </a:pPr>
            <a:r>
              <a:rPr lang="en-US"/>
              <a:t>if it is rationale and if we think it works we explain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images -&gt; </a:t>
            </a:r>
            <a:r>
              <a:rPr lang="en-US"/>
              <a:t>satellite</a:t>
            </a:r>
            <a:r>
              <a:rPr lang="en-US"/>
              <a:t> images.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Explain intuitively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 the ablation study.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google trends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airport traffics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shipping traffic</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84" name="Shape 84"/>
        <p:cNvGrpSpPr/>
        <p:nvPr/>
      </p:nvGrpSpPr>
      <p:grpSpPr>
        <a:xfrm>
          <a:off x="0" y="0"/>
          <a:ext cx="0" cy="0"/>
          <a:chOff x="0" y="0"/>
          <a:chExt cx="0" cy="0"/>
        </a:xfrm>
      </p:grpSpPr>
      <p:sp>
        <p:nvSpPr>
          <p:cNvPr id="85" name="Google Shape;85;p13"/>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86" name="Google Shape;86;p13"/>
          <p:cNvSpPr/>
          <p:nvPr/>
        </p:nvSpPr>
        <p:spPr>
          <a:xfrm>
            <a:off x="457200" y="2103120"/>
            <a:ext cx="1371600" cy="508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457200" y="1097280"/>
            <a:ext cx="7315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999AA"/>
                </a:solidFill>
                <a:latin typeface="Calibri"/>
                <a:ea typeface="Calibri"/>
                <a:cs typeface="Calibri"/>
                <a:sym typeface="Calibri"/>
              </a:rPr>
              <a:t>Vertically Integrated Projects  |  Agriculture Commodity Forecasting</a:t>
            </a:r>
            <a:endParaRPr/>
          </a:p>
        </p:txBody>
      </p:sp>
      <p:sp>
        <p:nvSpPr>
          <p:cNvPr id="88" name="Google Shape;88;p13"/>
          <p:cNvSpPr txBox="1"/>
          <p:nvPr/>
        </p:nvSpPr>
        <p:spPr>
          <a:xfrm>
            <a:off x="457200" y="2377440"/>
            <a:ext cx="914400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200" u="none" cap="none" strike="noStrike">
                <a:solidFill>
                  <a:srgbClr val="FFFFFF"/>
                </a:solidFill>
                <a:latin typeface="Calibri"/>
                <a:ea typeface="Calibri"/>
                <a:cs typeface="Calibri"/>
                <a:sym typeface="Calibri"/>
              </a:rPr>
              <a:t>Wheat Futures</a:t>
            </a:r>
            <a:br>
              <a:rPr b="1" i="0" lang="en-US" sz="4200" u="none" cap="none" strike="noStrike">
                <a:solidFill>
                  <a:srgbClr val="FFFFFF"/>
                </a:solidFill>
                <a:latin typeface="Calibri"/>
                <a:ea typeface="Calibri"/>
                <a:cs typeface="Calibri"/>
                <a:sym typeface="Calibri"/>
              </a:rPr>
            </a:br>
            <a:r>
              <a:rPr b="1" i="0" lang="en-US" sz="4200" u="none" cap="none" strike="noStrike">
                <a:solidFill>
                  <a:srgbClr val="FFFFFF"/>
                </a:solidFill>
                <a:latin typeface="Calibri"/>
                <a:ea typeface="Calibri"/>
                <a:cs typeface="Calibri"/>
                <a:sym typeface="Calibri"/>
              </a:rPr>
              <a:t>Price Direction Classification</a:t>
            </a:r>
            <a:endParaRPr/>
          </a:p>
        </p:txBody>
      </p:sp>
      <p:sp>
        <p:nvSpPr>
          <p:cNvPr id="89" name="Google Shape;89;p13"/>
          <p:cNvSpPr txBox="1"/>
          <p:nvPr/>
        </p:nvSpPr>
        <p:spPr>
          <a:xfrm>
            <a:off x="457200" y="3931920"/>
            <a:ext cx="914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D4AA"/>
                </a:solidFill>
                <a:latin typeface="Calibri"/>
                <a:ea typeface="Calibri"/>
                <a:cs typeface="Calibri"/>
                <a:sym typeface="Calibri"/>
              </a:rPr>
              <a:t>ARX  ·  BiRNN + Attention  ·  BiRNN + Skip  ·  BiGRU</a:t>
            </a:r>
            <a:endParaRPr/>
          </a:p>
        </p:txBody>
      </p:sp>
      <p:sp>
        <p:nvSpPr>
          <p:cNvPr id="90" name="Google Shape;90;p13"/>
          <p:cNvSpPr txBox="1"/>
          <p:nvPr/>
        </p:nvSpPr>
        <p:spPr>
          <a:xfrm>
            <a:off x="457200" y="475488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BBCC"/>
                </a:solidFill>
                <a:latin typeface="Calibri"/>
                <a:ea typeface="Calibri"/>
                <a:cs typeface="Calibri"/>
                <a:sym typeface="Calibri"/>
              </a:rPr>
              <a:t>Nishant Pushparaju   |   N11677724   |   April 2026</a:t>
            </a:r>
            <a:endParaRPr/>
          </a:p>
        </p:txBody>
      </p:sp>
      <p:sp>
        <p:nvSpPr>
          <p:cNvPr id="91" name="Google Shape;91;p13"/>
          <p:cNvSpPr/>
          <p:nvPr/>
        </p:nvSpPr>
        <p:spPr>
          <a:xfrm>
            <a:off x="8046720" y="2286000"/>
            <a:ext cx="3657600" cy="320040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3"/>
          <p:cNvSpPr txBox="1"/>
          <p:nvPr/>
        </p:nvSpPr>
        <p:spPr>
          <a:xfrm>
            <a:off x="8321040" y="2468880"/>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9999AA"/>
                </a:solidFill>
                <a:latin typeface="Calibri"/>
                <a:ea typeface="Calibri"/>
                <a:cs typeface="Calibri"/>
                <a:sym typeface="Calibri"/>
              </a:rPr>
              <a:t>Task</a:t>
            </a:r>
            <a:endParaRPr/>
          </a:p>
        </p:txBody>
      </p:sp>
      <p:sp>
        <p:nvSpPr>
          <p:cNvPr id="93" name="Google Shape;93;p13"/>
          <p:cNvSpPr txBox="1"/>
          <p:nvPr/>
        </p:nvSpPr>
        <p:spPr>
          <a:xfrm>
            <a:off x="9326880" y="2468880"/>
            <a:ext cx="2194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Binary classification (Up / Down)</a:t>
            </a:r>
            <a:endParaRPr/>
          </a:p>
        </p:txBody>
      </p:sp>
      <p:sp>
        <p:nvSpPr>
          <p:cNvPr id="94" name="Google Shape;94;p13"/>
          <p:cNvSpPr txBox="1"/>
          <p:nvPr/>
        </p:nvSpPr>
        <p:spPr>
          <a:xfrm>
            <a:off x="8321040" y="2834640"/>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9999AA"/>
                </a:solidFill>
                <a:latin typeface="Calibri"/>
                <a:ea typeface="Calibri"/>
                <a:cs typeface="Calibri"/>
                <a:sym typeface="Calibri"/>
              </a:rPr>
              <a:t>Features</a:t>
            </a:r>
            <a:endParaRPr/>
          </a:p>
        </p:txBody>
      </p:sp>
      <p:sp>
        <p:nvSpPr>
          <p:cNvPr id="95" name="Google Shape;95;p13"/>
          <p:cNvSpPr txBox="1"/>
          <p:nvPr/>
        </p:nvSpPr>
        <p:spPr>
          <a:xfrm>
            <a:off x="9326880" y="2834640"/>
            <a:ext cx="2194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31 FRED-MD macro + 30-day price lags</a:t>
            </a:r>
            <a:endParaRPr/>
          </a:p>
        </p:txBody>
      </p:sp>
      <p:sp>
        <p:nvSpPr>
          <p:cNvPr id="96" name="Google Shape;96;p13"/>
          <p:cNvSpPr txBox="1"/>
          <p:nvPr/>
        </p:nvSpPr>
        <p:spPr>
          <a:xfrm>
            <a:off x="8321040" y="3200400"/>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9999AA"/>
                </a:solidFill>
                <a:latin typeface="Calibri"/>
                <a:ea typeface="Calibri"/>
                <a:cs typeface="Calibri"/>
                <a:sym typeface="Calibri"/>
              </a:rPr>
              <a:t>Lookback</a:t>
            </a:r>
            <a:endParaRPr/>
          </a:p>
        </p:txBody>
      </p:sp>
      <p:sp>
        <p:nvSpPr>
          <p:cNvPr id="97" name="Google Shape;97;p13"/>
          <p:cNvSpPr txBox="1"/>
          <p:nvPr/>
        </p:nvSpPr>
        <p:spPr>
          <a:xfrm>
            <a:off x="9326880" y="3200400"/>
            <a:ext cx="2194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30-day rolling window</a:t>
            </a:r>
            <a:endParaRPr/>
          </a:p>
        </p:txBody>
      </p:sp>
      <p:sp>
        <p:nvSpPr>
          <p:cNvPr id="98" name="Google Shape;98;p13"/>
          <p:cNvSpPr txBox="1"/>
          <p:nvPr/>
        </p:nvSpPr>
        <p:spPr>
          <a:xfrm>
            <a:off x="8321040" y="3566160"/>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9999AA"/>
                </a:solidFill>
                <a:latin typeface="Calibri"/>
                <a:ea typeface="Calibri"/>
                <a:cs typeface="Calibri"/>
                <a:sym typeface="Calibri"/>
              </a:rPr>
              <a:t>Samples</a:t>
            </a:r>
            <a:endParaRPr/>
          </a:p>
        </p:txBody>
      </p:sp>
      <p:sp>
        <p:nvSpPr>
          <p:cNvPr id="99" name="Google Shape;99;p13"/>
          <p:cNvSpPr txBox="1"/>
          <p:nvPr/>
        </p:nvSpPr>
        <p:spPr>
          <a:xfrm>
            <a:off x="9326880" y="3566160"/>
            <a:ext cx="2194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4,605 (Train: 3,684 | Test: 921)</a:t>
            </a:r>
            <a:endParaRPr/>
          </a:p>
        </p:txBody>
      </p:sp>
      <p:sp>
        <p:nvSpPr>
          <p:cNvPr id="100" name="Google Shape;100;p13"/>
          <p:cNvSpPr txBox="1"/>
          <p:nvPr/>
        </p:nvSpPr>
        <p:spPr>
          <a:xfrm>
            <a:off x="8321040" y="3931920"/>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9999AA"/>
                </a:solidFill>
                <a:latin typeface="Calibri"/>
                <a:ea typeface="Calibri"/>
                <a:cs typeface="Calibri"/>
                <a:sym typeface="Calibri"/>
              </a:rPr>
              <a:t>Validation</a:t>
            </a:r>
            <a:endParaRPr/>
          </a:p>
        </p:txBody>
      </p:sp>
      <p:sp>
        <p:nvSpPr>
          <p:cNvPr id="101" name="Google Shape;101;p13"/>
          <p:cNvSpPr txBox="1"/>
          <p:nvPr/>
        </p:nvSpPr>
        <p:spPr>
          <a:xfrm>
            <a:off x="9326880" y="3931920"/>
            <a:ext cx="2194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5-fold TimeSeriesSplit</a:t>
            </a:r>
            <a:endParaRPr/>
          </a:p>
        </p:txBody>
      </p:sp>
      <p:sp>
        <p:nvSpPr>
          <p:cNvPr id="102" name="Google Shape;102;p13"/>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107" name="Shape 107"/>
        <p:cNvGrpSpPr/>
        <p:nvPr/>
      </p:nvGrpSpPr>
      <p:grpSpPr>
        <a:xfrm>
          <a:off x="0" y="0"/>
          <a:ext cx="0" cy="0"/>
          <a:chOff x="0" y="0"/>
          <a:chExt cx="0" cy="0"/>
        </a:xfrm>
      </p:grpSpPr>
      <p:sp>
        <p:nvSpPr>
          <p:cNvPr id="108" name="Google Shape;108;p14"/>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109" name="Google Shape;109;p14"/>
          <p:cNvSpPr txBox="1"/>
          <p:nvPr/>
        </p:nvSpPr>
        <p:spPr>
          <a:xfrm>
            <a:off x="1371600" y="228600"/>
            <a:ext cx="2743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999AA"/>
                </a:solidFill>
                <a:latin typeface="Calibri"/>
                <a:ea typeface="Calibri"/>
                <a:cs typeface="Calibri"/>
                <a:sym typeface="Calibri"/>
              </a:rPr>
              <a:t>Model 1 — Baseline</a:t>
            </a:r>
            <a:endParaRPr/>
          </a:p>
        </p:txBody>
      </p:sp>
      <p:sp>
        <p:nvSpPr>
          <p:cNvPr id="110" name="Google Shape;110;p14"/>
          <p:cNvSpPr txBox="1"/>
          <p:nvPr/>
        </p:nvSpPr>
        <p:spPr>
          <a:xfrm>
            <a:off x="457200" y="64008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ARX Classifier (Logistic Regression)</a:t>
            </a:r>
            <a:endParaRPr/>
          </a:p>
        </p:txBody>
      </p:sp>
      <p:sp>
        <p:nvSpPr>
          <p:cNvPr id="111" name="Google Shape;111;p14"/>
          <p:cNvSpPr/>
          <p:nvPr/>
        </p:nvSpPr>
        <p:spPr>
          <a:xfrm>
            <a:off x="457200" y="11887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4"/>
          <p:cNvSpPr/>
          <p:nvPr/>
        </p:nvSpPr>
        <p:spPr>
          <a:xfrm>
            <a:off x="457200" y="1463040"/>
            <a:ext cx="5029200" cy="256032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4"/>
          <p:cNvSpPr txBox="1"/>
          <p:nvPr/>
        </p:nvSpPr>
        <p:spPr>
          <a:xfrm>
            <a:off x="73152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Architecture</a:t>
            </a:r>
            <a:endParaRPr/>
          </a:p>
        </p:txBody>
      </p:sp>
      <p:sp>
        <p:nvSpPr>
          <p:cNvPr id="114" name="Google Shape;114;p14"/>
          <p:cNvSpPr txBox="1"/>
          <p:nvPr/>
        </p:nvSpPr>
        <p:spPr>
          <a:xfrm>
            <a:off x="731520" y="1920240"/>
            <a:ext cx="4572000" cy="20116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Core:  sklearn LogisticRegression (L2, solver=lbfgs)</a:t>
            </a:r>
            <a:endParaRPr/>
          </a:p>
          <a:p>
            <a:pPr indent="0" lvl="0" marL="0" marR="0" rtl="0" algn="l">
              <a:spcBef>
                <a:spcPts val="0"/>
              </a:spcBef>
              <a:spcAft>
                <a:spcPts val="0"/>
              </a:spcAft>
              <a:buNone/>
            </a:pPr>
            <a:r>
              <a:t/>
            </a:r>
            <a:endParaRPr b="0" i="0" sz="1100" u="none" cap="none" strike="noStrike">
              <a:solidFill>
                <a:srgbClr val="BBBBCC"/>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Input = [AR lags] + [Exog lags × 31 macro features]</a:t>
            </a:r>
            <a:endParaRPr/>
          </a:p>
          <a:p>
            <a:pPr indent="0" lvl="0" marL="0" marR="0" rtl="0" algn="l">
              <a:spcBef>
                <a:spcPts val="0"/>
              </a:spcBef>
              <a:spcAft>
                <a:spcPts val="0"/>
              </a:spcAft>
              <a:buNone/>
            </a:pPr>
            <a:r>
              <a:t/>
            </a:r>
            <a:endParaRPr b="0" i="0" sz="1100" u="none" cap="none" strike="noStrike">
              <a:solidFill>
                <a:srgbClr val="BBBBCC"/>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Grid Search:  48 configs (ar_lags × exog_lags × alpha)</a:t>
            </a:r>
            <a:endParaRPr/>
          </a:p>
          <a:p>
            <a:pPr indent="0" lvl="0" marL="0" marR="0" rtl="0" algn="l">
              <a:spcBef>
                <a:spcPts val="0"/>
              </a:spcBef>
              <a:spcAft>
                <a:spcPts val="0"/>
              </a:spcAft>
              <a:buNone/>
            </a:pPr>
            <a:r>
              <a:t/>
            </a:r>
            <a:endParaRPr b="0" i="0" sz="1100" u="none" cap="none" strike="noStrike">
              <a:solidFill>
                <a:srgbClr val="BBBBCC"/>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FF9F43"/>
                </a:solidFill>
                <a:latin typeface="Calibri"/>
                <a:ea typeface="Calibri"/>
                <a:cs typeface="Calibri"/>
                <a:sym typeface="Calibri"/>
              </a:rPr>
              <a:t>Best:  ar_lags=3, exog_lags=1, C=100 (α=0.01)</a:t>
            </a:r>
            <a:endParaRPr/>
          </a:p>
          <a:p>
            <a:pPr indent="0" lvl="0" marL="0" marR="0" rtl="0" algn="l">
              <a:spcBef>
                <a:spcPts val="0"/>
              </a:spcBef>
              <a:spcAft>
                <a:spcPts val="0"/>
              </a:spcAft>
              <a:buNone/>
            </a:pPr>
            <a:r>
              <a:t/>
            </a:r>
            <a:endParaRPr b="0" i="0" sz="1100" u="none" cap="none" strike="noStrike">
              <a:solidFill>
                <a:srgbClr val="FF9F43"/>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Class weights balanced to handle 47.5%/52.5% split</a:t>
            </a:r>
            <a:endParaRPr/>
          </a:p>
        </p:txBody>
      </p:sp>
      <p:sp>
        <p:nvSpPr>
          <p:cNvPr id="115" name="Google Shape;115;p14"/>
          <p:cNvSpPr/>
          <p:nvPr/>
        </p:nvSpPr>
        <p:spPr>
          <a:xfrm>
            <a:off x="457200" y="4206240"/>
            <a:ext cx="5029200" cy="10972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4"/>
          <p:cNvSpPr txBox="1"/>
          <p:nvPr/>
        </p:nvSpPr>
        <p:spPr>
          <a:xfrm>
            <a:off x="731520" y="429768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00D4AA"/>
                </a:solidFill>
                <a:latin typeface="Calibri"/>
                <a:ea typeface="Calibri"/>
                <a:cs typeface="Calibri"/>
                <a:sym typeface="Calibri"/>
              </a:rPr>
              <a:t>Decision Rule</a:t>
            </a:r>
            <a:endParaRPr/>
          </a:p>
        </p:txBody>
      </p:sp>
      <p:sp>
        <p:nvSpPr>
          <p:cNvPr id="117" name="Google Shape;117;p14"/>
          <p:cNvSpPr txBox="1"/>
          <p:nvPr/>
        </p:nvSpPr>
        <p:spPr>
          <a:xfrm>
            <a:off x="731520" y="4617720"/>
            <a:ext cx="45720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FFFFFF"/>
                </a:solidFill>
                <a:latin typeface="Consolas"/>
                <a:ea typeface="Consolas"/>
                <a:cs typeface="Consolas"/>
                <a:sym typeface="Consolas"/>
              </a:rPr>
              <a:t>P(Up) = σ(β₀ + Σ βᵢ·yₜ₋ᵢ + Σ γⱼ·xₜ₋ⱼ)    →    Up if P &gt; 0.5</a:t>
            </a:r>
            <a:endParaRPr/>
          </a:p>
        </p:txBody>
      </p:sp>
      <p:sp>
        <p:nvSpPr>
          <p:cNvPr id="118" name="Google Shape;118;p14"/>
          <p:cNvSpPr/>
          <p:nvPr/>
        </p:nvSpPr>
        <p:spPr>
          <a:xfrm>
            <a:off x="457200" y="5486400"/>
            <a:ext cx="5029200" cy="73152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4"/>
          <p:cNvSpPr txBox="1"/>
          <p:nvPr/>
        </p:nvSpPr>
        <p:spPr>
          <a:xfrm>
            <a:off x="731520" y="5577840"/>
            <a:ext cx="45720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Key:  Linear model serves as a baseline. Near-random performance (Acc ≈ 50%) confirms that linear combinations of macro + price lags cannot capture direction.</a:t>
            </a:r>
            <a:endParaRPr/>
          </a:p>
        </p:txBody>
      </p:sp>
      <p:sp>
        <p:nvSpPr>
          <p:cNvPr id="120" name="Google Shape;120;p14"/>
          <p:cNvSpPr/>
          <p:nvPr/>
        </p:nvSpPr>
        <p:spPr>
          <a:xfrm>
            <a:off x="5943600" y="1463040"/>
            <a:ext cx="5760720" cy="47548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4"/>
          <p:cNvSpPr txBox="1"/>
          <p:nvPr/>
        </p:nvSpPr>
        <p:spPr>
          <a:xfrm>
            <a:off x="621792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Test Set Performance</a:t>
            </a:r>
            <a:endParaRPr/>
          </a:p>
        </p:txBody>
      </p:sp>
      <p:sp>
        <p:nvSpPr>
          <p:cNvPr id="122" name="Google Shape;122;p14"/>
          <p:cNvSpPr/>
          <p:nvPr/>
        </p:nvSpPr>
        <p:spPr>
          <a:xfrm>
            <a:off x="621792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p:nvPr/>
        </p:nvSpPr>
        <p:spPr>
          <a:xfrm>
            <a:off x="6309360" y="2084832"/>
            <a:ext cx="457200" cy="38100"/>
          </a:xfrm>
          <a:prstGeom prst="rect">
            <a:avLst/>
          </a:prstGeom>
          <a:solidFill>
            <a:srgbClr val="FF9F4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4"/>
          <p:cNvSpPr txBox="1"/>
          <p:nvPr/>
        </p:nvSpPr>
        <p:spPr>
          <a:xfrm>
            <a:off x="630936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9F43"/>
                </a:solidFill>
                <a:latin typeface="Calibri"/>
                <a:ea typeface="Calibri"/>
                <a:cs typeface="Calibri"/>
                <a:sym typeface="Calibri"/>
              </a:rPr>
              <a:t>49.8%</a:t>
            </a:r>
            <a:endParaRPr/>
          </a:p>
        </p:txBody>
      </p:sp>
      <p:sp>
        <p:nvSpPr>
          <p:cNvPr id="125" name="Google Shape;125;p14"/>
          <p:cNvSpPr txBox="1"/>
          <p:nvPr/>
        </p:nvSpPr>
        <p:spPr>
          <a:xfrm>
            <a:off x="630936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Accuracy</a:t>
            </a:r>
            <a:endParaRPr/>
          </a:p>
        </p:txBody>
      </p:sp>
      <p:sp>
        <p:nvSpPr>
          <p:cNvPr id="126" name="Google Shape;126;p14"/>
          <p:cNvSpPr/>
          <p:nvPr/>
        </p:nvSpPr>
        <p:spPr>
          <a:xfrm>
            <a:off x="804672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4"/>
          <p:cNvSpPr/>
          <p:nvPr/>
        </p:nvSpPr>
        <p:spPr>
          <a:xfrm>
            <a:off x="8138160" y="2084832"/>
            <a:ext cx="457200" cy="38100"/>
          </a:xfrm>
          <a:prstGeom prst="rect">
            <a:avLst/>
          </a:prstGeom>
          <a:solidFill>
            <a:srgbClr val="00D4A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4"/>
          <p:cNvSpPr txBox="1"/>
          <p:nvPr/>
        </p:nvSpPr>
        <p:spPr>
          <a:xfrm>
            <a:off x="813816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0D4AA"/>
                </a:solidFill>
                <a:latin typeface="Calibri"/>
                <a:ea typeface="Calibri"/>
                <a:cs typeface="Calibri"/>
                <a:sym typeface="Calibri"/>
              </a:rPr>
              <a:t>0.555</a:t>
            </a:r>
            <a:endParaRPr/>
          </a:p>
        </p:txBody>
      </p:sp>
      <p:sp>
        <p:nvSpPr>
          <p:cNvPr id="129" name="Google Shape;129;p14"/>
          <p:cNvSpPr txBox="1"/>
          <p:nvPr/>
        </p:nvSpPr>
        <p:spPr>
          <a:xfrm>
            <a:off x="813816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F1 Score</a:t>
            </a:r>
            <a:endParaRPr/>
          </a:p>
        </p:txBody>
      </p:sp>
      <p:sp>
        <p:nvSpPr>
          <p:cNvPr id="130" name="Google Shape;130;p14"/>
          <p:cNvSpPr/>
          <p:nvPr/>
        </p:nvSpPr>
        <p:spPr>
          <a:xfrm>
            <a:off x="987552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4"/>
          <p:cNvSpPr/>
          <p:nvPr/>
        </p:nvSpPr>
        <p:spPr>
          <a:xfrm>
            <a:off x="9966960" y="2084832"/>
            <a:ext cx="457200" cy="38100"/>
          </a:xfrm>
          <a:prstGeom prst="rect">
            <a:avLst/>
          </a:prstGeom>
          <a:solidFill>
            <a:srgbClr val="54A0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4"/>
          <p:cNvSpPr txBox="1"/>
          <p:nvPr/>
        </p:nvSpPr>
        <p:spPr>
          <a:xfrm>
            <a:off x="996696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54A0FF"/>
                </a:solidFill>
                <a:latin typeface="Calibri"/>
                <a:ea typeface="Calibri"/>
                <a:cs typeface="Calibri"/>
                <a:sym typeface="Calibri"/>
              </a:rPr>
              <a:t>0.523</a:t>
            </a:r>
            <a:endParaRPr/>
          </a:p>
        </p:txBody>
      </p:sp>
      <p:sp>
        <p:nvSpPr>
          <p:cNvPr id="133" name="Google Shape;133;p14"/>
          <p:cNvSpPr txBox="1"/>
          <p:nvPr/>
        </p:nvSpPr>
        <p:spPr>
          <a:xfrm>
            <a:off x="996696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AUC-ROC</a:t>
            </a:r>
            <a:endParaRPr/>
          </a:p>
        </p:txBody>
      </p:sp>
      <p:sp>
        <p:nvSpPr>
          <p:cNvPr id="134" name="Google Shape;134;p14"/>
          <p:cNvSpPr txBox="1"/>
          <p:nvPr/>
        </p:nvSpPr>
        <p:spPr>
          <a:xfrm>
            <a:off x="6217920" y="3474720"/>
            <a:ext cx="5029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Classification Report (Test)</a:t>
            </a:r>
            <a:endParaRPr/>
          </a:p>
        </p:txBody>
      </p:sp>
      <p:graphicFrame>
        <p:nvGraphicFramePr>
          <p:cNvPr id="135" name="Google Shape;135;p14"/>
          <p:cNvGraphicFramePr/>
          <p:nvPr/>
        </p:nvGraphicFramePr>
        <p:xfrm>
          <a:off x="6217920" y="3794760"/>
          <a:ext cx="3000000" cy="3000000"/>
        </p:xfrm>
        <a:graphic>
          <a:graphicData uri="http://schemas.openxmlformats.org/drawingml/2006/table">
            <a:tbl>
              <a:tblPr bandRow="1" firstRow="1">
                <a:noFill/>
                <a:tableStyleId>{F3C23961-D168-414B-9536-515FB59A542D}</a:tableStyleId>
              </a:tblPr>
              <a:tblGrid>
                <a:gridCol w="1042425"/>
                <a:gridCol w="1042425"/>
                <a:gridCol w="1042425"/>
                <a:gridCol w="1042425"/>
                <a:gridCol w="1042425"/>
              </a:tblGrid>
              <a:tr h="297175">
                <a:tc>
                  <a:txBody>
                    <a:bodyPr/>
                    <a:lstStyle/>
                    <a:p>
                      <a:pPr indent="0" lvl="0" marL="0" marR="0" rtl="0" algn="ctr">
                        <a:spcBef>
                          <a:spcPts val="0"/>
                        </a:spcBef>
                        <a:spcAft>
                          <a:spcPts val="0"/>
                        </a:spcAft>
                        <a:buNone/>
                      </a:pPr>
                      <a:r>
                        <a:t/>
                      </a:r>
                      <a:endParaRPr b="1" sz="1000" u="none" cap="none" strike="noStrike">
                        <a:solidFill>
                          <a:srgbClr val="00D4AA"/>
                        </a:solidFill>
                        <a:latin typeface="Calibri"/>
                        <a:ea typeface="Calibri"/>
                        <a:cs typeface="Calibri"/>
                        <a:sym typeface="Calibri"/>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Precision</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Recall</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F1</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Support</a:t>
                      </a:r>
                      <a:endParaRPr/>
                    </a:p>
                  </a:txBody>
                  <a:tcPr marT="45725" marB="45725" marR="91450" marL="91450">
                    <a:solidFill>
                      <a:srgbClr val="2D2D4A"/>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Down</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0.56</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0.34</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497</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Up</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0.47</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0.68</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0.55</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424</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Accuracy</a:t>
                      </a:r>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0.50</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921</a:t>
                      </a:r>
                      <a:endParaRPr/>
                    </a:p>
                  </a:txBody>
                  <a:tcPr marT="45725" marB="45725" marR="91450" marL="91450">
                    <a:solidFill>
                      <a:srgbClr val="24243E"/>
                    </a:solidFill>
                  </a:tcPr>
                </a:tc>
              </a:tr>
            </a:tbl>
          </a:graphicData>
        </a:graphic>
      </p:graphicFrame>
      <p:sp>
        <p:nvSpPr>
          <p:cNvPr id="136" name="Google Shape;136;p14"/>
          <p:cNvSpPr txBox="1"/>
          <p:nvPr/>
        </p:nvSpPr>
        <p:spPr>
          <a:xfrm>
            <a:off x="6217920" y="5120640"/>
            <a:ext cx="50292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Grid search best CV F1 = 0.595 (ar=3, exog=1, α=0.01)</a:t>
            </a:r>
            <a:br>
              <a:rPr b="0" i="0" lang="en-US" sz="1000" u="none" cap="none" strike="noStrike">
                <a:solidFill>
                  <a:srgbClr val="9999AA"/>
                </a:solidFill>
                <a:latin typeface="Calibri"/>
                <a:ea typeface="Calibri"/>
                <a:cs typeface="Calibri"/>
                <a:sym typeface="Calibri"/>
              </a:rPr>
            </a:br>
            <a:r>
              <a:rPr b="0" i="0" lang="en-US" sz="1000" u="none" cap="none" strike="noStrike">
                <a:solidFill>
                  <a:srgbClr val="9999AA"/>
                </a:solidFill>
                <a:latin typeface="Calibri"/>
                <a:ea typeface="Calibri"/>
                <a:cs typeface="Calibri"/>
                <a:sym typeface="Calibri"/>
              </a:rPr>
              <a:t>Model biased toward predicting 'Up' — high recall (68%) but low precision (47%)</a:t>
            </a:r>
            <a:endParaRPr/>
          </a:p>
        </p:txBody>
      </p:sp>
      <p:sp>
        <p:nvSpPr>
          <p:cNvPr id="137" name="Google Shape;137;p14"/>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142" name="Shape 142"/>
        <p:cNvGrpSpPr/>
        <p:nvPr/>
      </p:nvGrpSpPr>
      <p:grpSpPr>
        <a:xfrm>
          <a:off x="0" y="0"/>
          <a:ext cx="0" cy="0"/>
          <a:chOff x="0" y="0"/>
          <a:chExt cx="0" cy="0"/>
        </a:xfrm>
      </p:grpSpPr>
      <p:sp>
        <p:nvSpPr>
          <p:cNvPr id="143" name="Google Shape;143;p15"/>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144" name="Google Shape;144;p15"/>
          <p:cNvSpPr txBox="1"/>
          <p:nvPr/>
        </p:nvSpPr>
        <p:spPr>
          <a:xfrm>
            <a:off x="1371600" y="228600"/>
            <a:ext cx="2743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999AA"/>
                </a:solidFill>
                <a:latin typeface="Calibri"/>
                <a:ea typeface="Calibri"/>
                <a:cs typeface="Calibri"/>
                <a:sym typeface="Calibri"/>
              </a:rPr>
              <a:t>Model 2 — Deep Learning</a:t>
            </a:r>
            <a:endParaRPr/>
          </a:p>
        </p:txBody>
      </p:sp>
      <p:sp>
        <p:nvSpPr>
          <p:cNvPr id="145" name="Google Shape;145;p15"/>
          <p:cNvSpPr txBox="1"/>
          <p:nvPr/>
        </p:nvSpPr>
        <p:spPr>
          <a:xfrm>
            <a:off x="457200" y="64008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Bidirectional RNN + Self-Attention</a:t>
            </a:r>
            <a:endParaRPr/>
          </a:p>
        </p:txBody>
      </p:sp>
      <p:sp>
        <p:nvSpPr>
          <p:cNvPr id="146" name="Google Shape;146;p15"/>
          <p:cNvSpPr/>
          <p:nvPr/>
        </p:nvSpPr>
        <p:spPr>
          <a:xfrm>
            <a:off x="457200" y="11887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5"/>
          <p:cNvSpPr/>
          <p:nvPr/>
        </p:nvSpPr>
        <p:spPr>
          <a:xfrm>
            <a:off x="457200" y="1463040"/>
            <a:ext cx="5486400" cy="29260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5"/>
          <p:cNvSpPr txBox="1"/>
          <p:nvPr/>
        </p:nvSpPr>
        <p:spPr>
          <a:xfrm>
            <a:off x="73152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Architecture Flow</a:t>
            </a:r>
            <a:endParaRPr/>
          </a:p>
        </p:txBody>
      </p:sp>
      <p:sp>
        <p:nvSpPr>
          <p:cNvPr id="149" name="Google Shape;149;p15"/>
          <p:cNvSpPr/>
          <p:nvPr/>
        </p:nvSpPr>
        <p:spPr>
          <a:xfrm>
            <a:off x="731520" y="2011680"/>
            <a:ext cx="2011680" cy="4114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5"/>
          <p:cNvSpPr txBox="1"/>
          <p:nvPr/>
        </p:nvSpPr>
        <p:spPr>
          <a:xfrm>
            <a:off x="777240" y="2057400"/>
            <a:ext cx="192024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Input (30×32)</a:t>
            </a:r>
            <a:endParaRPr/>
          </a:p>
        </p:txBody>
      </p:sp>
      <p:sp>
        <p:nvSpPr>
          <p:cNvPr id="151" name="Google Shape;151;p15"/>
          <p:cNvSpPr txBox="1"/>
          <p:nvPr/>
        </p:nvSpPr>
        <p:spPr>
          <a:xfrm>
            <a:off x="2880360" y="2057400"/>
            <a:ext cx="27432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00D4AA"/>
                </a:solidFill>
                <a:latin typeface="Calibri"/>
                <a:ea typeface="Calibri"/>
                <a:cs typeface="Calibri"/>
                <a:sym typeface="Calibri"/>
              </a:rPr>
              <a:t>→</a:t>
            </a:r>
            <a:endParaRPr/>
          </a:p>
        </p:txBody>
      </p:sp>
      <p:sp>
        <p:nvSpPr>
          <p:cNvPr id="152" name="Google Shape;152;p15"/>
          <p:cNvSpPr/>
          <p:nvPr/>
        </p:nvSpPr>
        <p:spPr>
          <a:xfrm>
            <a:off x="3291840" y="2011680"/>
            <a:ext cx="2286000" cy="4114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5"/>
          <p:cNvSpPr txBox="1"/>
          <p:nvPr/>
        </p:nvSpPr>
        <p:spPr>
          <a:xfrm>
            <a:off x="3337560" y="2057400"/>
            <a:ext cx="21945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Bi-SimpleRNN ×2</a:t>
            </a:r>
            <a:endParaRPr/>
          </a:p>
        </p:txBody>
      </p:sp>
      <p:sp>
        <p:nvSpPr>
          <p:cNvPr id="154" name="Google Shape;154;p15"/>
          <p:cNvSpPr txBox="1"/>
          <p:nvPr/>
        </p:nvSpPr>
        <p:spPr>
          <a:xfrm>
            <a:off x="777240" y="2651760"/>
            <a:ext cx="27432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00D4AA"/>
                </a:solidFill>
                <a:latin typeface="Calibri"/>
                <a:ea typeface="Calibri"/>
                <a:cs typeface="Calibri"/>
                <a:sym typeface="Calibri"/>
              </a:rPr>
              <a:t>→</a:t>
            </a:r>
            <a:endParaRPr/>
          </a:p>
        </p:txBody>
      </p:sp>
      <p:sp>
        <p:nvSpPr>
          <p:cNvPr id="155" name="Google Shape;155;p15"/>
          <p:cNvSpPr/>
          <p:nvPr/>
        </p:nvSpPr>
        <p:spPr>
          <a:xfrm>
            <a:off x="1188720" y="2606040"/>
            <a:ext cx="2286000" cy="411480"/>
          </a:xfrm>
          <a:prstGeom prst="roundRect">
            <a:avLst>
              <a:gd fmla="val 16667" name="adj"/>
            </a:avLst>
          </a:prstGeom>
          <a:solidFill>
            <a:srgbClr val="5706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5"/>
          <p:cNvSpPr txBox="1"/>
          <p:nvPr/>
        </p:nvSpPr>
        <p:spPr>
          <a:xfrm>
            <a:off x="1234440" y="2651760"/>
            <a:ext cx="21945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SeqSelfAttention</a:t>
            </a:r>
            <a:endParaRPr/>
          </a:p>
        </p:txBody>
      </p:sp>
      <p:sp>
        <p:nvSpPr>
          <p:cNvPr id="157" name="Google Shape;157;p15"/>
          <p:cNvSpPr txBox="1"/>
          <p:nvPr/>
        </p:nvSpPr>
        <p:spPr>
          <a:xfrm>
            <a:off x="3611879" y="2651760"/>
            <a:ext cx="27432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00D4AA"/>
                </a:solidFill>
                <a:latin typeface="Calibri"/>
                <a:ea typeface="Calibri"/>
                <a:cs typeface="Calibri"/>
                <a:sym typeface="Calibri"/>
              </a:rPr>
              <a:t>→</a:t>
            </a:r>
            <a:endParaRPr/>
          </a:p>
        </p:txBody>
      </p:sp>
      <p:sp>
        <p:nvSpPr>
          <p:cNvPr id="158" name="Google Shape;158;p15"/>
          <p:cNvSpPr/>
          <p:nvPr/>
        </p:nvSpPr>
        <p:spPr>
          <a:xfrm>
            <a:off x="4023360" y="2606040"/>
            <a:ext cx="1737360" cy="4114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5"/>
          <p:cNvSpPr txBox="1"/>
          <p:nvPr/>
        </p:nvSpPr>
        <p:spPr>
          <a:xfrm>
            <a:off x="4069080" y="2651760"/>
            <a:ext cx="1645919"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GlobalAvgPool</a:t>
            </a:r>
            <a:endParaRPr/>
          </a:p>
        </p:txBody>
      </p:sp>
      <p:sp>
        <p:nvSpPr>
          <p:cNvPr id="160" name="Google Shape;160;p15"/>
          <p:cNvSpPr txBox="1"/>
          <p:nvPr/>
        </p:nvSpPr>
        <p:spPr>
          <a:xfrm>
            <a:off x="777240" y="3246120"/>
            <a:ext cx="27432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00D4AA"/>
                </a:solidFill>
                <a:latin typeface="Calibri"/>
                <a:ea typeface="Calibri"/>
                <a:cs typeface="Calibri"/>
                <a:sym typeface="Calibri"/>
              </a:rPr>
              <a:t>→</a:t>
            </a:r>
            <a:endParaRPr/>
          </a:p>
        </p:txBody>
      </p:sp>
      <p:sp>
        <p:nvSpPr>
          <p:cNvPr id="161" name="Google Shape;161;p15"/>
          <p:cNvSpPr/>
          <p:nvPr/>
        </p:nvSpPr>
        <p:spPr>
          <a:xfrm>
            <a:off x="1188720" y="3200400"/>
            <a:ext cx="1371600" cy="4114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5"/>
          <p:cNvSpPr txBox="1"/>
          <p:nvPr/>
        </p:nvSpPr>
        <p:spPr>
          <a:xfrm>
            <a:off x="1234440" y="3246120"/>
            <a:ext cx="12801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Dropout</a:t>
            </a:r>
            <a:endParaRPr/>
          </a:p>
        </p:txBody>
      </p:sp>
      <p:sp>
        <p:nvSpPr>
          <p:cNvPr id="163" name="Google Shape;163;p15"/>
          <p:cNvSpPr txBox="1"/>
          <p:nvPr/>
        </p:nvSpPr>
        <p:spPr>
          <a:xfrm>
            <a:off x="2697479" y="3246120"/>
            <a:ext cx="27432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00D4AA"/>
                </a:solidFill>
                <a:latin typeface="Calibri"/>
                <a:ea typeface="Calibri"/>
                <a:cs typeface="Calibri"/>
                <a:sym typeface="Calibri"/>
              </a:rPr>
              <a:t>→</a:t>
            </a:r>
            <a:endParaRPr/>
          </a:p>
        </p:txBody>
      </p:sp>
      <p:sp>
        <p:nvSpPr>
          <p:cNvPr id="164" name="Google Shape;164;p15"/>
          <p:cNvSpPr/>
          <p:nvPr/>
        </p:nvSpPr>
        <p:spPr>
          <a:xfrm>
            <a:off x="3108960" y="3200400"/>
            <a:ext cx="1645920" cy="411480"/>
          </a:xfrm>
          <a:prstGeom prst="roundRect">
            <a:avLst>
              <a:gd fmla="val 16667" name="adj"/>
            </a:avLst>
          </a:prstGeom>
          <a:solidFill>
            <a:srgbClr val="00D4A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5"/>
          <p:cNvSpPr txBox="1"/>
          <p:nvPr/>
        </p:nvSpPr>
        <p:spPr>
          <a:xfrm>
            <a:off x="3154679" y="3246120"/>
            <a:ext cx="15544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1A1A2E"/>
                </a:solidFill>
                <a:latin typeface="Calibri"/>
                <a:ea typeface="Calibri"/>
                <a:cs typeface="Calibri"/>
                <a:sym typeface="Calibri"/>
              </a:rPr>
              <a:t>Dense(1, σ)</a:t>
            </a:r>
            <a:endParaRPr/>
          </a:p>
        </p:txBody>
      </p:sp>
      <p:sp>
        <p:nvSpPr>
          <p:cNvPr id="166" name="Google Shape;166;p15"/>
          <p:cNvSpPr/>
          <p:nvPr/>
        </p:nvSpPr>
        <p:spPr>
          <a:xfrm>
            <a:off x="457200" y="3840480"/>
            <a:ext cx="5486400" cy="6400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5"/>
          <p:cNvSpPr txBox="1"/>
          <p:nvPr/>
        </p:nvSpPr>
        <p:spPr>
          <a:xfrm>
            <a:off x="731520" y="3913632"/>
            <a:ext cx="50292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Attention learns soft weights over 30 timesteps — which days matter most.</a:t>
            </a:r>
            <a:br>
              <a:rPr b="0" i="0" lang="en-US" sz="1000" u="none" cap="none" strike="noStrike">
                <a:solidFill>
                  <a:srgbClr val="BBBBCC"/>
                </a:solidFill>
                <a:latin typeface="Calibri"/>
                <a:ea typeface="Calibri"/>
                <a:cs typeface="Calibri"/>
                <a:sym typeface="Calibri"/>
              </a:rPr>
            </a:br>
            <a:r>
              <a:rPr b="0" i="0" lang="en-US" sz="1000" u="none" cap="none" strike="noStrike">
                <a:solidFill>
                  <a:srgbClr val="BBBBCC"/>
                </a:solidFill>
                <a:latin typeface="Calibri"/>
                <a:ea typeface="Calibri"/>
                <a:cs typeface="Calibri"/>
                <a:sym typeface="Calibri"/>
              </a:rPr>
              <a:t>Optuna: 2 trials | Best: hidden=64, layers=3, lr=4.37e-4, dropout=0.14</a:t>
            </a:r>
            <a:endParaRPr/>
          </a:p>
        </p:txBody>
      </p:sp>
      <p:sp>
        <p:nvSpPr>
          <p:cNvPr id="168" name="Google Shape;168;p15"/>
          <p:cNvSpPr/>
          <p:nvPr/>
        </p:nvSpPr>
        <p:spPr>
          <a:xfrm>
            <a:off x="457200" y="4663440"/>
            <a:ext cx="5486400" cy="6400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5"/>
          <p:cNvSpPr txBox="1"/>
          <p:nvPr/>
        </p:nvSpPr>
        <p:spPr>
          <a:xfrm>
            <a:off x="731520" y="4736592"/>
            <a:ext cx="50292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9F43"/>
                </a:solidFill>
                <a:latin typeface="Calibri"/>
                <a:ea typeface="Calibri"/>
                <a:cs typeface="Calibri"/>
                <a:sym typeface="Calibri"/>
              </a:rPr>
              <a:t>Key:  Test AUC = 0.496 (below random). Attention over 30 days of noise</a:t>
            </a:r>
            <a:br>
              <a:rPr b="0" i="0" lang="en-US" sz="1000" u="none" cap="none" strike="noStrike">
                <a:solidFill>
                  <a:srgbClr val="FF9F43"/>
                </a:solidFill>
                <a:latin typeface="Calibri"/>
                <a:ea typeface="Calibri"/>
                <a:cs typeface="Calibri"/>
                <a:sym typeface="Calibri"/>
              </a:rPr>
            </a:br>
            <a:r>
              <a:rPr b="0" i="0" lang="en-US" sz="1000" u="none" cap="none" strike="noStrike">
                <a:solidFill>
                  <a:srgbClr val="FF9F43"/>
                </a:solidFill>
                <a:latin typeface="Calibri"/>
                <a:ea typeface="Calibri"/>
                <a:cs typeface="Calibri"/>
                <a:sym typeface="Calibri"/>
              </a:rPr>
              <a:t>finds no signal. Train acc 0.57 vs test 0.49 → clear overfitting.</a:t>
            </a:r>
            <a:endParaRPr/>
          </a:p>
        </p:txBody>
      </p:sp>
      <p:sp>
        <p:nvSpPr>
          <p:cNvPr id="170" name="Google Shape;170;p15"/>
          <p:cNvSpPr/>
          <p:nvPr/>
        </p:nvSpPr>
        <p:spPr>
          <a:xfrm>
            <a:off x="6217920" y="1463040"/>
            <a:ext cx="5486400" cy="47548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5"/>
          <p:cNvSpPr txBox="1"/>
          <p:nvPr/>
        </p:nvSpPr>
        <p:spPr>
          <a:xfrm>
            <a:off x="649224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Test Set Performance</a:t>
            </a:r>
            <a:endParaRPr/>
          </a:p>
        </p:txBody>
      </p:sp>
      <p:sp>
        <p:nvSpPr>
          <p:cNvPr id="172" name="Google Shape;172;p15"/>
          <p:cNvSpPr/>
          <p:nvPr/>
        </p:nvSpPr>
        <p:spPr>
          <a:xfrm>
            <a:off x="64922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5"/>
          <p:cNvSpPr/>
          <p:nvPr/>
        </p:nvSpPr>
        <p:spPr>
          <a:xfrm>
            <a:off x="6583680" y="2084832"/>
            <a:ext cx="457200" cy="38100"/>
          </a:xfrm>
          <a:prstGeom prst="rect">
            <a:avLst/>
          </a:prstGeom>
          <a:solidFill>
            <a:srgbClr val="FF9F4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5"/>
          <p:cNvSpPr txBox="1"/>
          <p:nvPr/>
        </p:nvSpPr>
        <p:spPr>
          <a:xfrm>
            <a:off x="65836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9F43"/>
                </a:solidFill>
                <a:latin typeface="Calibri"/>
                <a:ea typeface="Calibri"/>
                <a:cs typeface="Calibri"/>
                <a:sym typeface="Calibri"/>
              </a:rPr>
              <a:t>49.3%</a:t>
            </a:r>
            <a:endParaRPr/>
          </a:p>
        </p:txBody>
      </p:sp>
      <p:sp>
        <p:nvSpPr>
          <p:cNvPr id="175" name="Google Shape;175;p15"/>
          <p:cNvSpPr txBox="1"/>
          <p:nvPr/>
        </p:nvSpPr>
        <p:spPr>
          <a:xfrm>
            <a:off x="65836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Accuracy</a:t>
            </a:r>
            <a:endParaRPr/>
          </a:p>
        </p:txBody>
      </p:sp>
      <p:sp>
        <p:nvSpPr>
          <p:cNvPr id="176" name="Google Shape;176;p15"/>
          <p:cNvSpPr/>
          <p:nvPr/>
        </p:nvSpPr>
        <p:spPr>
          <a:xfrm>
            <a:off x="83210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5"/>
          <p:cNvSpPr/>
          <p:nvPr/>
        </p:nvSpPr>
        <p:spPr>
          <a:xfrm>
            <a:off x="8412480" y="2084832"/>
            <a:ext cx="457200" cy="38100"/>
          </a:xfrm>
          <a:prstGeom prst="rect">
            <a:avLst/>
          </a:prstGeom>
          <a:solidFill>
            <a:srgbClr val="00D4A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5"/>
          <p:cNvSpPr txBox="1"/>
          <p:nvPr/>
        </p:nvSpPr>
        <p:spPr>
          <a:xfrm>
            <a:off x="84124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0D4AA"/>
                </a:solidFill>
                <a:latin typeface="Calibri"/>
                <a:ea typeface="Calibri"/>
                <a:cs typeface="Calibri"/>
                <a:sym typeface="Calibri"/>
              </a:rPr>
              <a:t>0.475</a:t>
            </a:r>
            <a:endParaRPr/>
          </a:p>
        </p:txBody>
      </p:sp>
      <p:sp>
        <p:nvSpPr>
          <p:cNvPr id="179" name="Google Shape;179;p15"/>
          <p:cNvSpPr txBox="1"/>
          <p:nvPr/>
        </p:nvSpPr>
        <p:spPr>
          <a:xfrm>
            <a:off x="84124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F1 Score</a:t>
            </a:r>
            <a:endParaRPr/>
          </a:p>
        </p:txBody>
      </p:sp>
      <p:sp>
        <p:nvSpPr>
          <p:cNvPr id="180" name="Google Shape;180;p15"/>
          <p:cNvSpPr/>
          <p:nvPr/>
        </p:nvSpPr>
        <p:spPr>
          <a:xfrm>
            <a:off x="101498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5"/>
          <p:cNvSpPr/>
          <p:nvPr/>
        </p:nvSpPr>
        <p:spPr>
          <a:xfrm>
            <a:off x="10241280" y="2084832"/>
            <a:ext cx="457200" cy="38100"/>
          </a:xfrm>
          <a:prstGeom prst="rect">
            <a:avLst/>
          </a:prstGeom>
          <a:solidFill>
            <a:srgbClr val="FF6B9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5"/>
          <p:cNvSpPr txBox="1"/>
          <p:nvPr/>
        </p:nvSpPr>
        <p:spPr>
          <a:xfrm>
            <a:off x="102412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6B9D"/>
                </a:solidFill>
                <a:latin typeface="Calibri"/>
                <a:ea typeface="Calibri"/>
                <a:cs typeface="Calibri"/>
                <a:sym typeface="Calibri"/>
              </a:rPr>
              <a:t>0.496</a:t>
            </a:r>
            <a:endParaRPr/>
          </a:p>
        </p:txBody>
      </p:sp>
      <p:sp>
        <p:nvSpPr>
          <p:cNvPr id="183" name="Google Shape;183;p15"/>
          <p:cNvSpPr txBox="1"/>
          <p:nvPr/>
        </p:nvSpPr>
        <p:spPr>
          <a:xfrm>
            <a:off x="102412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AUC-ROC</a:t>
            </a:r>
            <a:endParaRPr/>
          </a:p>
        </p:txBody>
      </p:sp>
      <p:sp>
        <p:nvSpPr>
          <p:cNvPr id="184" name="Google Shape;184;p15"/>
          <p:cNvSpPr txBox="1"/>
          <p:nvPr/>
        </p:nvSpPr>
        <p:spPr>
          <a:xfrm>
            <a:off x="6492240" y="3474720"/>
            <a:ext cx="5029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Classification Report (Test)</a:t>
            </a:r>
            <a:endParaRPr/>
          </a:p>
        </p:txBody>
      </p:sp>
      <p:graphicFrame>
        <p:nvGraphicFramePr>
          <p:cNvPr id="185" name="Google Shape;185;p15"/>
          <p:cNvGraphicFramePr/>
          <p:nvPr/>
        </p:nvGraphicFramePr>
        <p:xfrm>
          <a:off x="6492240" y="3794760"/>
          <a:ext cx="3000000" cy="3000000"/>
        </p:xfrm>
        <a:graphic>
          <a:graphicData uri="http://schemas.openxmlformats.org/drawingml/2006/table">
            <a:tbl>
              <a:tblPr bandRow="1" firstRow="1">
                <a:noFill/>
                <a:tableStyleId>{F3C23961-D168-414B-9536-515FB59A542D}</a:tableStyleId>
              </a:tblPr>
              <a:tblGrid>
                <a:gridCol w="987550"/>
                <a:gridCol w="987550"/>
                <a:gridCol w="987550"/>
                <a:gridCol w="987550"/>
                <a:gridCol w="987550"/>
              </a:tblGrid>
              <a:tr h="297175">
                <a:tc>
                  <a:txBody>
                    <a:bodyPr/>
                    <a:lstStyle/>
                    <a:p>
                      <a:pPr indent="0" lvl="0" marL="0" marR="0" rtl="0" algn="ctr">
                        <a:spcBef>
                          <a:spcPts val="0"/>
                        </a:spcBef>
                        <a:spcAft>
                          <a:spcPts val="0"/>
                        </a:spcAft>
                        <a:buNone/>
                      </a:pPr>
                      <a:r>
                        <a:t/>
                      </a:r>
                      <a:endParaRPr b="1" sz="1000" u="none" cap="none" strike="noStrike">
                        <a:solidFill>
                          <a:srgbClr val="00D4AA"/>
                        </a:solidFill>
                        <a:latin typeface="Calibri"/>
                        <a:ea typeface="Calibri"/>
                        <a:cs typeface="Calibri"/>
                        <a:sym typeface="Calibri"/>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Precision</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Recall</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F1</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Support</a:t>
                      </a:r>
                      <a:endParaRPr/>
                    </a:p>
                  </a:txBody>
                  <a:tcPr marT="45725" marB="45725" marR="91450" marL="91450">
                    <a:solidFill>
                      <a:srgbClr val="2D2D4A"/>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Down</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0.51</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497</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Up</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0.45</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0.50</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0.47</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424</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Accuracy</a:t>
                      </a:r>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921</a:t>
                      </a:r>
                      <a:endParaRPr/>
                    </a:p>
                  </a:txBody>
                  <a:tcPr marT="45725" marB="45725" marR="91450" marL="91450">
                    <a:solidFill>
                      <a:srgbClr val="24243E"/>
                    </a:solidFill>
                  </a:tcPr>
                </a:tc>
              </a:tr>
            </a:tbl>
          </a:graphicData>
        </a:graphic>
      </p:graphicFrame>
      <p:sp>
        <p:nvSpPr>
          <p:cNvPr id="186" name="Google Shape;186;p15"/>
          <p:cNvSpPr txBox="1"/>
          <p:nvPr/>
        </p:nvSpPr>
        <p:spPr>
          <a:xfrm>
            <a:off x="6492240" y="512064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Default vs Optuna CV</a:t>
            </a:r>
            <a:endParaRPr/>
          </a:p>
        </p:txBody>
      </p:sp>
      <p:sp>
        <p:nvSpPr>
          <p:cNvPr id="187" name="Google Shape;187;p15"/>
          <p:cNvSpPr txBox="1"/>
          <p:nvPr/>
        </p:nvSpPr>
        <p:spPr>
          <a:xfrm>
            <a:off x="6492240" y="5440680"/>
            <a:ext cx="5029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onsolas"/>
                <a:ea typeface="Consolas"/>
                <a:cs typeface="Consolas"/>
                <a:sym typeface="Consolas"/>
              </a:rPr>
              <a:t>Default CV:   Acc=0.508  F1=0.471  AUC=0.517</a:t>
            </a:r>
            <a:endParaRPr/>
          </a:p>
          <a:p>
            <a:pPr indent="0" lvl="0" marL="0" marR="0" rtl="0" algn="l">
              <a:spcBef>
                <a:spcPts val="0"/>
              </a:spcBef>
              <a:spcAft>
                <a:spcPts val="0"/>
              </a:spcAft>
              <a:buNone/>
            </a:pPr>
            <a:r>
              <a:rPr b="0" i="0" lang="en-US" sz="1000" u="none" cap="none" strike="noStrike">
                <a:solidFill>
                  <a:srgbClr val="00D4AA"/>
                </a:solidFill>
                <a:latin typeface="Consolas"/>
                <a:ea typeface="Consolas"/>
                <a:cs typeface="Consolas"/>
                <a:sym typeface="Consolas"/>
              </a:rPr>
              <a:t>Optuna CV:    Acc=0.518  F1=0.505  AUC=0.519  (marginal gain)</a:t>
            </a:r>
            <a:endParaRPr/>
          </a:p>
          <a:p>
            <a:pPr indent="0" lvl="0" marL="0" marR="0" rtl="0" algn="l">
              <a:spcBef>
                <a:spcPts val="0"/>
              </a:spcBef>
              <a:spcAft>
                <a:spcPts val="0"/>
              </a:spcAft>
              <a:buNone/>
            </a:pPr>
            <a:r>
              <a:rPr b="0" i="0" lang="en-US" sz="1000" u="none" cap="none" strike="noStrike">
                <a:solidFill>
                  <a:srgbClr val="FF9F43"/>
                </a:solidFill>
                <a:latin typeface="Consolas"/>
                <a:ea typeface="Consolas"/>
                <a:cs typeface="Consolas"/>
                <a:sym typeface="Consolas"/>
              </a:rPr>
              <a:t>Test Set:       Acc=0.493  F1=0.475  AUC=0.496  (did not generalize)</a:t>
            </a:r>
            <a:endParaRPr/>
          </a:p>
        </p:txBody>
      </p:sp>
      <p:sp>
        <p:nvSpPr>
          <p:cNvPr id="188" name="Google Shape;188;p15"/>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193" name="Shape 193"/>
        <p:cNvGrpSpPr/>
        <p:nvPr/>
      </p:nvGrpSpPr>
      <p:grpSpPr>
        <a:xfrm>
          <a:off x="0" y="0"/>
          <a:ext cx="0" cy="0"/>
          <a:chOff x="0" y="0"/>
          <a:chExt cx="0" cy="0"/>
        </a:xfrm>
      </p:grpSpPr>
      <p:sp>
        <p:nvSpPr>
          <p:cNvPr id="194" name="Google Shape;194;p16"/>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195" name="Google Shape;195;p16"/>
          <p:cNvSpPr txBox="1"/>
          <p:nvPr/>
        </p:nvSpPr>
        <p:spPr>
          <a:xfrm>
            <a:off x="1371600" y="228600"/>
            <a:ext cx="2743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999AA"/>
                </a:solidFill>
                <a:latin typeface="Calibri"/>
                <a:ea typeface="Calibri"/>
                <a:cs typeface="Calibri"/>
                <a:sym typeface="Calibri"/>
              </a:rPr>
              <a:t>Model 3 — Deep Learning</a:t>
            </a:r>
            <a:endParaRPr/>
          </a:p>
        </p:txBody>
      </p:sp>
      <p:sp>
        <p:nvSpPr>
          <p:cNvPr id="196" name="Google Shape;196;p16"/>
          <p:cNvSpPr txBox="1"/>
          <p:nvPr/>
        </p:nvSpPr>
        <p:spPr>
          <a:xfrm>
            <a:off x="457200" y="640080"/>
            <a:ext cx="91440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Bidirectional RNN + Skip Connections</a:t>
            </a:r>
            <a:endParaRPr/>
          </a:p>
        </p:txBody>
      </p:sp>
      <p:sp>
        <p:nvSpPr>
          <p:cNvPr id="197" name="Google Shape;197;p16"/>
          <p:cNvSpPr/>
          <p:nvPr/>
        </p:nvSpPr>
        <p:spPr>
          <a:xfrm>
            <a:off x="457200" y="11887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16"/>
          <p:cNvSpPr/>
          <p:nvPr/>
        </p:nvSpPr>
        <p:spPr>
          <a:xfrm>
            <a:off x="457200" y="1463040"/>
            <a:ext cx="5486400" cy="274320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6"/>
          <p:cNvSpPr txBox="1"/>
          <p:nvPr/>
        </p:nvSpPr>
        <p:spPr>
          <a:xfrm>
            <a:off x="73152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Residual Skip Block</a:t>
            </a:r>
            <a:endParaRPr/>
          </a:p>
        </p:txBody>
      </p:sp>
      <p:sp>
        <p:nvSpPr>
          <p:cNvPr id="200" name="Google Shape;200;p16"/>
          <p:cNvSpPr/>
          <p:nvPr/>
        </p:nvSpPr>
        <p:spPr>
          <a:xfrm>
            <a:off x="731520" y="2011680"/>
            <a:ext cx="4937760" cy="36576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6"/>
          <p:cNvSpPr txBox="1"/>
          <p:nvPr/>
        </p:nvSpPr>
        <p:spPr>
          <a:xfrm>
            <a:off x="822960" y="2057400"/>
            <a:ext cx="4754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Input Projection: Dense(F → 2H)</a:t>
            </a:r>
            <a:endParaRPr/>
          </a:p>
        </p:txBody>
      </p:sp>
      <p:sp>
        <p:nvSpPr>
          <p:cNvPr id="202" name="Google Shape;202;p16"/>
          <p:cNvSpPr/>
          <p:nvPr/>
        </p:nvSpPr>
        <p:spPr>
          <a:xfrm>
            <a:off x="731520" y="2560320"/>
            <a:ext cx="4937760" cy="457200"/>
          </a:xfrm>
          <a:prstGeom prst="roundRect">
            <a:avLst>
              <a:gd fmla="val 16667" name="adj"/>
            </a:avLst>
          </a:prstGeom>
          <a:solidFill>
            <a:srgbClr val="5706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6"/>
          <p:cNvSpPr txBox="1"/>
          <p:nvPr/>
        </p:nvSpPr>
        <p:spPr>
          <a:xfrm>
            <a:off x="822960" y="2606039"/>
            <a:ext cx="4754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For each layer:  h = LayerNorm( BiRNN(h) + h )</a:t>
            </a:r>
            <a:endParaRPr/>
          </a:p>
        </p:txBody>
      </p:sp>
      <p:sp>
        <p:nvSpPr>
          <p:cNvPr id="204" name="Google Shape;204;p16"/>
          <p:cNvSpPr/>
          <p:nvPr/>
        </p:nvSpPr>
        <p:spPr>
          <a:xfrm>
            <a:off x="731520" y="3200400"/>
            <a:ext cx="4937760" cy="36576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6"/>
          <p:cNvSpPr txBox="1"/>
          <p:nvPr/>
        </p:nvSpPr>
        <p:spPr>
          <a:xfrm>
            <a:off x="822960" y="3246120"/>
            <a:ext cx="4754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GlobalAveragePooling1D → Dropout → Dense(1, σ)</a:t>
            </a:r>
            <a:endParaRPr/>
          </a:p>
        </p:txBody>
      </p:sp>
      <p:sp>
        <p:nvSpPr>
          <p:cNvPr id="206" name="Google Shape;206;p16"/>
          <p:cNvSpPr/>
          <p:nvPr/>
        </p:nvSpPr>
        <p:spPr>
          <a:xfrm>
            <a:off x="457200" y="3840480"/>
            <a:ext cx="5486400" cy="64008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6"/>
          <p:cNvSpPr txBox="1"/>
          <p:nvPr/>
        </p:nvSpPr>
        <p:spPr>
          <a:xfrm>
            <a:off x="731520" y="3913632"/>
            <a:ext cx="50292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alibri"/>
                <a:ea typeface="Calibri"/>
                <a:cs typeface="Calibri"/>
                <a:sym typeface="Calibri"/>
              </a:rPr>
              <a:t>Skip = residual stream + LayerNorm. Replaces attention with structural</a:t>
            </a:r>
            <a:br>
              <a:rPr b="0" i="0" lang="en-US" sz="1000" u="none" cap="none" strike="noStrike">
                <a:solidFill>
                  <a:srgbClr val="BBBBCC"/>
                </a:solidFill>
                <a:latin typeface="Calibri"/>
                <a:ea typeface="Calibri"/>
                <a:cs typeface="Calibri"/>
                <a:sym typeface="Calibri"/>
              </a:rPr>
            </a:br>
            <a:r>
              <a:rPr b="0" i="0" lang="en-US" sz="1000" u="none" cap="none" strike="noStrike">
                <a:solidFill>
                  <a:srgbClr val="BBBBCC"/>
                </a:solidFill>
                <a:latin typeface="Calibri"/>
                <a:ea typeface="Calibri"/>
                <a:cs typeface="Calibri"/>
                <a:sym typeface="Calibri"/>
              </a:rPr>
              <a:t>gradient flow. Optuna: 2 trials | Best: hidden=128, layers=1, lr=6.5e-4</a:t>
            </a:r>
            <a:endParaRPr/>
          </a:p>
        </p:txBody>
      </p:sp>
      <p:sp>
        <p:nvSpPr>
          <p:cNvPr id="208" name="Google Shape;208;p16"/>
          <p:cNvSpPr/>
          <p:nvPr/>
        </p:nvSpPr>
        <p:spPr>
          <a:xfrm>
            <a:off x="457200" y="4663440"/>
            <a:ext cx="5486400" cy="6400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6"/>
          <p:cNvSpPr txBox="1"/>
          <p:nvPr/>
        </p:nvSpPr>
        <p:spPr>
          <a:xfrm>
            <a:off x="731520" y="4736592"/>
            <a:ext cx="50292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9F43"/>
                </a:solidFill>
                <a:latin typeface="Calibri"/>
                <a:ea typeface="Calibri"/>
                <a:cs typeface="Calibri"/>
                <a:sym typeface="Calibri"/>
              </a:rPr>
              <a:t>Key:  Train acc 0.614 vs test 0.499 — largest overfit gap of all models.</a:t>
            </a:r>
            <a:br>
              <a:rPr b="0" i="0" lang="en-US" sz="1000" u="none" cap="none" strike="noStrike">
                <a:solidFill>
                  <a:srgbClr val="FF9F43"/>
                </a:solidFill>
                <a:latin typeface="Calibri"/>
                <a:ea typeface="Calibri"/>
                <a:cs typeface="Calibri"/>
                <a:sym typeface="Calibri"/>
              </a:rPr>
            </a:br>
            <a:r>
              <a:rPr b="0" i="0" lang="en-US" sz="1000" u="none" cap="none" strike="noStrike">
                <a:solidFill>
                  <a:srgbClr val="FF9F43"/>
                </a:solidFill>
                <a:latin typeface="Calibri"/>
                <a:ea typeface="Calibri"/>
                <a:cs typeface="Calibri"/>
                <a:sym typeface="Calibri"/>
              </a:rPr>
              <a:t>Skip connections help gradient flow but don't add predictive signal.</a:t>
            </a:r>
            <a:endParaRPr/>
          </a:p>
        </p:txBody>
      </p:sp>
      <p:sp>
        <p:nvSpPr>
          <p:cNvPr id="210" name="Google Shape;210;p16"/>
          <p:cNvSpPr/>
          <p:nvPr/>
        </p:nvSpPr>
        <p:spPr>
          <a:xfrm>
            <a:off x="6217920" y="1463040"/>
            <a:ext cx="5486400" cy="47548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6"/>
          <p:cNvSpPr txBox="1"/>
          <p:nvPr/>
        </p:nvSpPr>
        <p:spPr>
          <a:xfrm>
            <a:off x="649224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Test Set Performance</a:t>
            </a:r>
            <a:endParaRPr/>
          </a:p>
        </p:txBody>
      </p:sp>
      <p:sp>
        <p:nvSpPr>
          <p:cNvPr id="212" name="Google Shape;212;p16"/>
          <p:cNvSpPr/>
          <p:nvPr/>
        </p:nvSpPr>
        <p:spPr>
          <a:xfrm>
            <a:off x="64922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6"/>
          <p:cNvSpPr/>
          <p:nvPr/>
        </p:nvSpPr>
        <p:spPr>
          <a:xfrm>
            <a:off x="6583680" y="2084832"/>
            <a:ext cx="457200" cy="38100"/>
          </a:xfrm>
          <a:prstGeom prst="rect">
            <a:avLst/>
          </a:prstGeom>
          <a:solidFill>
            <a:srgbClr val="FF9F4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16"/>
          <p:cNvSpPr txBox="1"/>
          <p:nvPr/>
        </p:nvSpPr>
        <p:spPr>
          <a:xfrm>
            <a:off x="65836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9F43"/>
                </a:solidFill>
                <a:latin typeface="Calibri"/>
                <a:ea typeface="Calibri"/>
                <a:cs typeface="Calibri"/>
                <a:sym typeface="Calibri"/>
              </a:rPr>
              <a:t>49.9%</a:t>
            </a:r>
            <a:endParaRPr/>
          </a:p>
        </p:txBody>
      </p:sp>
      <p:sp>
        <p:nvSpPr>
          <p:cNvPr id="215" name="Google Shape;215;p16"/>
          <p:cNvSpPr txBox="1"/>
          <p:nvPr/>
        </p:nvSpPr>
        <p:spPr>
          <a:xfrm>
            <a:off x="65836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Accuracy</a:t>
            </a:r>
            <a:endParaRPr/>
          </a:p>
        </p:txBody>
      </p:sp>
      <p:sp>
        <p:nvSpPr>
          <p:cNvPr id="216" name="Google Shape;216;p16"/>
          <p:cNvSpPr/>
          <p:nvPr/>
        </p:nvSpPr>
        <p:spPr>
          <a:xfrm>
            <a:off x="83210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6"/>
          <p:cNvSpPr/>
          <p:nvPr/>
        </p:nvSpPr>
        <p:spPr>
          <a:xfrm>
            <a:off x="8412480" y="2084832"/>
            <a:ext cx="457200" cy="38100"/>
          </a:xfrm>
          <a:prstGeom prst="rect">
            <a:avLst/>
          </a:prstGeom>
          <a:solidFill>
            <a:srgbClr val="00D4A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6"/>
          <p:cNvSpPr txBox="1"/>
          <p:nvPr/>
        </p:nvSpPr>
        <p:spPr>
          <a:xfrm>
            <a:off x="84124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0D4AA"/>
                </a:solidFill>
                <a:latin typeface="Calibri"/>
                <a:ea typeface="Calibri"/>
                <a:cs typeface="Calibri"/>
                <a:sym typeface="Calibri"/>
              </a:rPr>
              <a:t>0.530</a:t>
            </a:r>
            <a:endParaRPr/>
          </a:p>
        </p:txBody>
      </p:sp>
      <p:sp>
        <p:nvSpPr>
          <p:cNvPr id="219" name="Google Shape;219;p16"/>
          <p:cNvSpPr txBox="1"/>
          <p:nvPr/>
        </p:nvSpPr>
        <p:spPr>
          <a:xfrm>
            <a:off x="84124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F1 Score</a:t>
            </a:r>
            <a:endParaRPr/>
          </a:p>
        </p:txBody>
      </p:sp>
      <p:sp>
        <p:nvSpPr>
          <p:cNvPr id="220" name="Google Shape;220;p16"/>
          <p:cNvSpPr/>
          <p:nvPr/>
        </p:nvSpPr>
        <p:spPr>
          <a:xfrm>
            <a:off x="101498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10241280" y="2084832"/>
            <a:ext cx="457200" cy="38100"/>
          </a:xfrm>
          <a:prstGeom prst="rect">
            <a:avLst/>
          </a:prstGeom>
          <a:solidFill>
            <a:srgbClr val="54A0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6"/>
          <p:cNvSpPr txBox="1"/>
          <p:nvPr/>
        </p:nvSpPr>
        <p:spPr>
          <a:xfrm>
            <a:off x="102412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54A0FF"/>
                </a:solidFill>
                <a:latin typeface="Calibri"/>
                <a:ea typeface="Calibri"/>
                <a:cs typeface="Calibri"/>
                <a:sym typeface="Calibri"/>
              </a:rPr>
              <a:t>0.502</a:t>
            </a:r>
            <a:endParaRPr/>
          </a:p>
        </p:txBody>
      </p:sp>
      <p:sp>
        <p:nvSpPr>
          <p:cNvPr id="223" name="Google Shape;223;p16"/>
          <p:cNvSpPr txBox="1"/>
          <p:nvPr/>
        </p:nvSpPr>
        <p:spPr>
          <a:xfrm>
            <a:off x="102412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AUC-ROC</a:t>
            </a:r>
            <a:endParaRPr/>
          </a:p>
        </p:txBody>
      </p:sp>
      <p:sp>
        <p:nvSpPr>
          <p:cNvPr id="224" name="Google Shape;224;p16"/>
          <p:cNvSpPr txBox="1"/>
          <p:nvPr/>
        </p:nvSpPr>
        <p:spPr>
          <a:xfrm>
            <a:off x="6492240" y="3474720"/>
            <a:ext cx="5029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Classification Report (Test)</a:t>
            </a:r>
            <a:endParaRPr/>
          </a:p>
        </p:txBody>
      </p:sp>
      <p:graphicFrame>
        <p:nvGraphicFramePr>
          <p:cNvPr id="225" name="Google Shape;225;p16"/>
          <p:cNvGraphicFramePr/>
          <p:nvPr/>
        </p:nvGraphicFramePr>
        <p:xfrm>
          <a:off x="6492240" y="3794760"/>
          <a:ext cx="3000000" cy="3000000"/>
        </p:xfrm>
        <a:graphic>
          <a:graphicData uri="http://schemas.openxmlformats.org/drawingml/2006/table">
            <a:tbl>
              <a:tblPr bandRow="1" firstRow="1">
                <a:noFill/>
                <a:tableStyleId>{F3C23961-D168-414B-9536-515FB59A542D}</a:tableStyleId>
              </a:tblPr>
              <a:tblGrid>
                <a:gridCol w="987550"/>
                <a:gridCol w="987550"/>
                <a:gridCol w="987550"/>
                <a:gridCol w="987550"/>
                <a:gridCol w="987550"/>
              </a:tblGrid>
              <a:tr h="297175">
                <a:tc>
                  <a:txBody>
                    <a:bodyPr/>
                    <a:lstStyle/>
                    <a:p>
                      <a:pPr indent="0" lvl="0" marL="0" marR="0" rtl="0" algn="ctr">
                        <a:spcBef>
                          <a:spcPts val="0"/>
                        </a:spcBef>
                        <a:spcAft>
                          <a:spcPts val="0"/>
                        </a:spcAft>
                        <a:buNone/>
                      </a:pPr>
                      <a:r>
                        <a:t/>
                      </a:r>
                      <a:endParaRPr b="1" sz="1000" u="none" cap="none" strike="noStrike">
                        <a:solidFill>
                          <a:srgbClr val="00D4AA"/>
                        </a:solidFill>
                        <a:latin typeface="Calibri"/>
                        <a:ea typeface="Calibri"/>
                        <a:cs typeface="Calibri"/>
                        <a:sym typeface="Calibri"/>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Precision</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Recall</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F1</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Support</a:t>
                      </a:r>
                      <a:endParaRPr/>
                    </a:p>
                  </a:txBody>
                  <a:tcPr marT="45725" marB="45725" marR="91450" marL="91450">
                    <a:solidFill>
                      <a:srgbClr val="2D2D4A"/>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Down</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0.55</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0.40</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0.46</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497</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Up</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0.47</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0.61</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424</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Accuracy</a:t>
                      </a:r>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0.50</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921</a:t>
                      </a:r>
                      <a:endParaRPr/>
                    </a:p>
                  </a:txBody>
                  <a:tcPr marT="45725" marB="45725" marR="91450" marL="91450">
                    <a:solidFill>
                      <a:srgbClr val="24243E"/>
                    </a:solidFill>
                  </a:tcPr>
                </a:tc>
              </a:tr>
            </a:tbl>
          </a:graphicData>
        </a:graphic>
      </p:graphicFrame>
      <p:sp>
        <p:nvSpPr>
          <p:cNvPr id="226" name="Google Shape;226;p16"/>
          <p:cNvSpPr txBox="1"/>
          <p:nvPr/>
        </p:nvSpPr>
        <p:spPr>
          <a:xfrm>
            <a:off x="6492240" y="512064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Default vs Optuna CV</a:t>
            </a:r>
            <a:endParaRPr/>
          </a:p>
        </p:txBody>
      </p:sp>
      <p:sp>
        <p:nvSpPr>
          <p:cNvPr id="227" name="Google Shape;227;p16"/>
          <p:cNvSpPr txBox="1"/>
          <p:nvPr/>
        </p:nvSpPr>
        <p:spPr>
          <a:xfrm>
            <a:off x="6492240" y="5440680"/>
            <a:ext cx="5029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onsolas"/>
                <a:ea typeface="Consolas"/>
                <a:cs typeface="Consolas"/>
                <a:sym typeface="Consolas"/>
              </a:rPr>
              <a:t>Default CV:   Acc=0.514  F1=0.434  AUC=0.521</a:t>
            </a:r>
            <a:endParaRPr/>
          </a:p>
          <a:p>
            <a:pPr indent="0" lvl="0" marL="0" marR="0" rtl="0" algn="l">
              <a:spcBef>
                <a:spcPts val="0"/>
              </a:spcBef>
              <a:spcAft>
                <a:spcPts val="0"/>
              </a:spcAft>
              <a:buNone/>
            </a:pPr>
            <a:r>
              <a:rPr b="0" i="0" lang="en-US" sz="1000" u="none" cap="none" strike="noStrike">
                <a:solidFill>
                  <a:srgbClr val="00D4AA"/>
                </a:solidFill>
                <a:latin typeface="Consolas"/>
                <a:ea typeface="Consolas"/>
                <a:cs typeface="Consolas"/>
                <a:sym typeface="Consolas"/>
              </a:rPr>
              <a:t>Optuna CV:    Acc=0.512  F1=0.438  AUC=0.515  (negligible change)</a:t>
            </a:r>
            <a:endParaRPr/>
          </a:p>
          <a:p>
            <a:pPr indent="0" lvl="0" marL="0" marR="0" rtl="0" algn="l">
              <a:spcBef>
                <a:spcPts val="0"/>
              </a:spcBef>
              <a:spcAft>
                <a:spcPts val="0"/>
              </a:spcAft>
              <a:buNone/>
            </a:pPr>
            <a:r>
              <a:rPr b="0" i="0" lang="en-US" sz="1000" u="none" cap="none" strike="noStrike">
                <a:solidFill>
                  <a:srgbClr val="FF9F43"/>
                </a:solidFill>
                <a:latin typeface="Consolas"/>
                <a:ea typeface="Consolas"/>
                <a:cs typeface="Consolas"/>
                <a:sym typeface="Consolas"/>
              </a:rPr>
              <a:t>Test Set:       Acc=0.499  F1=0.530  AUC=0.502  (overfitting evident)</a:t>
            </a:r>
            <a:endParaRPr/>
          </a:p>
        </p:txBody>
      </p:sp>
      <p:sp>
        <p:nvSpPr>
          <p:cNvPr id="228" name="Google Shape;228;p16"/>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233" name="Shape 233"/>
        <p:cNvGrpSpPr/>
        <p:nvPr/>
      </p:nvGrpSpPr>
      <p:grpSpPr>
        <a:xfrm>
          <a:off x="0" y="0"/>
          <a:ext cx="0" cy="0"/>
          <a:chOff x="0" y="0"/>
          <a:chExt cx="0" cy="0"/>
        </a:xfrm>
      </p:grpSpPr>
      <p:sp>
        <p:nvSpPr>
          <p:cNvPr id="234" name="Google Shape;234;p17"/>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235" name="Google Shape;235;p17"/>
          <p:cNvSpPr txBox="1"/>
          <p:nvPr/>
        </p:nvSpPr>
        <p:spPr>
          <a:xfrm>
            <a:off x="1371600" y="228600"/>
            <a:ext cx="2743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999AA"/>
                </a:solidFill>
                <a:latin typeface="Calibri"/>
                <a:ea typeface="Calibri"/>
                <a:cs typeface="Calibri"/>
                <a:sym typeface="Calibri"/>
              </a:rPr>
              <a:t>Model 4 — Deep Learning</a:t>
            </a:r>
            <a:endParaRPr/>
          </a:p>
        </p:txBody>
      </p:sp>
      <p:sp>
        <p:nvSpPr>
          <p:cNvPr id="236" name="Google Shape;236;p17"/>
          <p:cNvSpPr txBox="1"/>
          <p:nvPr/>
        </p:nvSpPr>
        <p:spPr>
          <a:xfrm>
            <a:off x="457200" y="64008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Bidirectional GRU</a:t>
            </a:r>
            <a:endParaRPr/>
          </a:p>
        </p:txBody>
      </p:sp>
      <p:sp>
        <p:nvSpPr>
          <p:cNvPr id="237" name="Google Shape;237;p17"/>
          <p:cNvSpPr/>
          <p:nvPr/>
        </p:nvSpPr>
        <p:spPr>
          <a:xfrm>
            <a:off x="457200" y="11887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17"/>
          <p:cNvSpPr/>
          <p:nvPr/>
        </p:nvSpPr>
        <p:spPr>
          <a:xfrm>
            <a:off x="457200" y="1463040"/>
            <a:ext cx="5486400" cy="228600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17"/>
          <p:cNvSpPr txBox="1"/>
          <p:nvPr/>
        </p:nvSpPr>
        <p:spPr>
          <a:xfrm>
            <a:off x="73152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Architecture</a:t>
            </a:r>
            <a:endParaRPr/>
          </a:p>
        </p:txBody>
      </p:sp>
      <p:sp>
        <p:nvSpPr>
          <p:cNvPr id="240" name="Google Shape;240;p17"/>
          <p:cNvSpPr txBox="1"/>
          <p:nvPr/>
        </p:nvSpPr>
        <p:spPr>
          <a:xfrm>
            <a:off x="731520" y="1965960"/>
            <a:ext cx="475488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Pure cell-type swap: SimpleRNN → GRU</a:t>
            </a:r>
            <a:endParaRPr/>
          </a:p>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No attention, no skip — isolating the gating effect</a:t>
            </a:r>
            <a:endParaRPr/>
          </a:p>
          <a:p>
            <a:pPr indent="0" lvl="0" marL="0" marR="0" rtl="0" algn="l">
              <a:spcBef>
                <a:spcPts val="0"/>
              </a:spcBef>
              <a:spcAft>
                <a:spcPts val="0"/>
              </a:spcAft>
              <a:buNone/>
            </a:pPr>
            <a:r>
              <a:t/>
            </a:r>
            <a:endParaRPr b="0" i="0" sz="1100" u="none" cap="none" strike="noStrike">
              <a:solidFill>
                <a:srgbClr val="BBBBCC"/>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00D4AA"/>
                </a:solidFill>
                <a:latin typeface="Calibri"/>
                <a:ea typeface="Calibri"/>
                <a:cs typeface="Calibri"/>
                <a:sym typeface="Calibri"/>
              </a:rPr>
              <a:t>GRU gates:  Reset gate (selective forget)</a:t>
            </a:r>
            <a:endParaRPr/>
          </a:p>
          <a:p>
            <a:pPr indent="0" lvl="0" marL="0" marR="0" rtl="0" algn="l">
              <a:spcBef>
                <a:spcPts val="0"/>
              </a:spcBef>
              <a:spcAft>
                <a:spcPts val="0"/>
              </a:spcAft>
              <a:buNone/>
            </a:pPr>
            <a:r>
              <a:rPr b="0" i="0" lang="en-US" sz="1100" u="none" cap="none" strike="noStrike">
                <a:solidFill>
                  <a:srgbClr val="00D4AA"/>
                </a:solidFill>
                <a:latin typeface="Calibri"/>
                <a:ea typeface="Calibri"/>
                <a:cs typeface="Calibri"/>
                <a:sym typeface="Calibri"/>
              </a:rPr>
              <a:t>                    Update gate (control information flow)</a:t>
            </a:r>
            <a:endParaRPr/>
          </a:p>
          <a:p>
            <a:pPr indent="0" lvl="0" marL="0" marR="0" rtl="0" algn="l">
              <a:spcBef>
                <a:spcPts val="0"/>
              </a:spcBef>
              <a:spcAft>
                <a:spcPts val="0"/>
              </a:spcAft>
              <a:buNone/>
            </a:pPr>
            <a:r>
              <a:t/>
            </a:r>
            <a:endParaRPr b="0" i="0" sz="1100" u="none" cap="none" strike="noStrike">
              <a:solidFill>
                <a:srgbClr val="00D4AA"/>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BBBBCC"/>
                </a:solidFill>
                <a:latin typeface="Calibri"/>
                <a:ea typeface="Calibri"/>
                <a:cs typeface="Calibri"/>
                <a:sym typeface="Calibri"/>
              </a:rPr>
              <a:t>Stacked Bi-GRU → GlobalAvgPool → Dropout → Dense(1, σ)</a:t>
            </a:r>
            <a:endParaRPr/>
          </a:p>
        </p:txBody>
      </p:sp>
      <p:sp>
        <p:nvSpPr>
          <p:cNvPr id="241" name="Google Shape;241;p17"/>
          <p:cNvSpPr/>
          <p:nvPr/>
        </p:nvSpPr>
        <p:spPr>
          <a:xfrm>
            <a:off x="457200" y="3931920"/>
            <a:ext cx="5486400" cy="777240"/>
          </a:xfrm>
          <a:prstGeom prst="roundRect">
            <a:avLst>
              <a:gd fmla="val 16667" name="adj"/>
            </a:avLst>
          </a:prstGeom>
          <a:solidFill>
            <a:srgbClr val="5706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17"/>
          <p:cNvSpPr txBox="1"/>
          <p:nvPr/>
        </p:nvSpPr>
        <p:spPr>
          <a:xfrm>
            <a:off x="731520" y="3977639"/>
            <a:ext cx="5029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FFD700"/>
                </a:solidFill>
                <a:latin typeface="Calibri"/>
                <a:ea typeface="Calibri"/>
                <a:cs typeface="Calibri"/>
                <a:sym typeface="Calibri"/>
              </a:rPr>
              <a:t>★  Best Classification Model</a:t>
            </a:r>
            <a:endParaRPr/>
          </a:p>
        </p:txBody>
      </p:sp>
      <p:sp>
        <p:nvSpPr>
          <p:cNvPr id="243" name="Google Shape;243;p17"/>
          <p:cNvSpPr txBox="1"/>
          <p:nvPr/>
        </p:nvSpPr>
        <p:spPr>
          <a:xfrm>
            <a:off x="731520" y="4315968"/>
            <a:ext cx="5029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Highest test accuracy (52.7%), F1 (0.556), and AUC-ROC (0.538)</a:t>
            </a:r>
            <a:endParaRPr/>
          </a:p>
        </p:txBody>
      </p:sp>
      <p:sp>
        <p:nvSpPr>
          <p:cNvPr id="244" name="Google Shape;244;p17"/>
          <p:cNvSpPr/>
          <p:nvPr/>
        </p:nvSpPr>
        <p:spPr>
          <a:xfrm>
            <a:off x="457200" y="4892040"/>
            <a:ext cx="5486400" cy="6400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17"/>
          <p:cNvSpPr txBox="1"/>
          <p:nvPr/>
        </p:nvSpPr>
        <p:spPr>
          <a:xfrm>
            <a:off x="731520" y="4965192"/>
            <a:ext cx="50292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9F43"/>
                </a:solidFill>
                <a:latin typeface="Calibri"/>
                <a:ea typeface="Calibri"/>
                <a:cs typeface="Calibri"/>
                <a:sym typeface="Calibri"/>
              </a:rPr>
              <a:t>Key:  GRU gating provides most stable training. Only model where</a:t>
            </a:r>
            <a:br>
              <a:rPr b="0" i="0" lang="en-US" sz="1000" u="none" cap="none" strike="noStrike">
                <a:solidFill>
                  <a:srgbClr val="FF9F43"/>
                </a:solidFill>
                <a:latin typeface="Calibri"/>
                <a:ea typeface="Calibri"/>
                <a:cs typeface="Calibri"/>
                <a:sym typeface="Calibri"/>
              </a:rPr>
            </a:br>
            <a:r>
              <a:rPr b="0" i="0" lang="en-US" sz="1000" u="none" cap="none" strike="noStrike">
                <a:solidFill>
                  <a:srgbClr val="FF9F43"/>
                </a:solidFill>
                <a:latin typeface="Calibri"/>
                <a:ea typeface="Calibri"/>
                <a:cs typeface="Calibri"/>
                <a:sym typeface="Calibri"/>
              </a:rPr>
              <a:t>Optuna tuning actually helped on the test set. Still only marginally &gt; random.</a:t>
            </a:r>
            <a:endParaRPr/>
          </a:p>
        </p:txBody>
      </p:sp>
      <p:sp>
        <p:nvSpPr>
          <p:cNvPr id="246" name="Google Shape;246;p17"/>
          <p:cNvSpPr/>
          <p:nvPr/>
        </p:nvSpPr>
        <p:spPr>
          <a:xfrm>
            <a:off x="6217920" y="1463040"/>
            <a:ext cx="5486400" cy="475488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7"/>
          <p:cNvSpPr txBox="1"/>
          <p:nvPr/>
        </p:nvSpPr>
        <p:spPr>
          <a:xfrm>
            <a:off x="649224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Test Set Performance</a:t>
            </a:r>
            <a:endParaRPr/>
          </a:p>
        </p:txBody>
      </p:sp>
      <p:sp>
        <p:nvSpPr>
          <p:cNvPr id="248" name="Google Shape;248;p17"/>
          <p:cNvSpPr/>
          <p:nvPr/>
        </p:nvSpPr>
        <p:spPr>
          <a:xfrm>
            <a:off x="64922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7"/>
          <p:cNvSpPr/>
          <p:nvPr/>
        </p:nvSpPr>
        <p:spPr>
          <a:xfrm>
            <a:off x="6583680" y="2084832"/>
            <a:ext cx="457200" cy="38100"/>
          </a:xfrm>
          <a:prstGeom prst="rect">
            <a:avLst/>
          </a:prstGeom>
          <a:solidFill>
            <a:srgbClr val="00D4A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7"/>
          <p:cNvSpPr txBox="1"/>
          <p:nvPr/>
        </p:nvSpPr>
        <p:spPr>
          <a:xfrm>
            <a:off x="65836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0D4AA"/>
                </a:solidFill>
                <a:latin typeface="Calibri"/>
                <a:ea typeface="Calibri"/>
                <a:cs typeface="Calibri"/>
                <a:sym typeface="Calibri"/>
              </a:rPr>
              <a:t>52.7%</a:t>
            </a:r>
            <a:endParaRPr/>
          </a:p>
        </p:txBody>
      </p:sp>
      <p:sp>
        <p:nvSpPr>
          <p:cNvPr id="251" name="Google Shape;251;p17"/>
          <p:cNvSpPr txBox="1"/>
          <p:nvPr/>
        </p:nvSpPr>
        <p:spPr>
          <a:xfrm>
            <a:off x="65836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Accuracy</a:t>
            </a:r>
            <a:endParaRPr/>
          </a:p>
        </p:txBody>
      </p:sp>
      <p:sp>
        <p:nvSpPr>
          <p:cNvPr id="252" name="Google Shape;252;p17"/>
          <p:cNvSpPr/>
          <p:nvPr/>
        </p:nvSpPr>
        <p:spPr>
          <a:xfrm>
            <a:off x="83210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7"/>
          <p:cNvSpPr/>
          <p:nvPr/>
        </p:nvSpPr>
        <p:spPr>
          <a:xfrm>
            <a:off x="8412480" y="2084832"/>
            <a:ext cx="457200" cy="38100"/>
          </a:xfrm>
          <a:prstGeom prst="rect">
            <a:avLst/>
          </a:prstGeom>
          <a:solidFill>
            <a:srgbClr val="FFD7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7"/>
          <p:cNvSpPr txBox="1"/>
          <p:nvPr/>
        </p:nvSpPr>
        <p:spPr>
          <a:xfrm>
            <a:off x="84124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D700"/>
                </a:solidFill>
                <a:latin typeface="Calibri"/>
                <a:ea typeface="Calibri"/>
                <a:cs typeface="Calibri"/>
                <a:sym typeface="Calibri"/>
              </a:rPr>
              <a:t>0.556</a:t>
            </a:r>
            <a:endParaRPr/>
          </a:p>
        </p:txBody>
      </p:sp>
      <p:sp>
        <p:nvSpPr>
          <p:cNvPr id="255" name="Google Shape;255;p17"/>
          <p:cNvSpPr txBox="1"/>
          <p:nvPr/>
        </p:nvSpPr>
        <p:spPr>
          <a:xfrm>
            <a:off x="84124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F1 Score</a:t>
            </a:r>
            <a:endParaRPr/>
          </a:p>
        </p:txBody>
      </p:sp>
      <p:sp>
        <p:nvSpPr>
          <p:cNvPr id="256" name="Google Shape;256;p17"/>
          <p:cNvSpPr/>
          <p:nvPr/>
        </p:nvSpPr>
        <p:spPr>
          <a:xfrm>
            <a:off x="10149840" y="2011680"/>
            <a:ext cx="1645920" cy="1188720"/>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7"/>
          <p:cNvSpPr/>
          <p:nvPr/>
        </p:nvSpPr>
        <p:spPr>
          <a:xfrm>
            <a:off x="10241280" y="2084832"/>
            <a:ext cx="457200" cy="38100"/>
          </a:xfrm>
          <a:prstGeom prst="rect">
            <a:avLst/>
          </a:prstGeom>
          <a:solidFill>
            <a:srgbClr val="54A0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17"/>
          <p:cNvSpPr txBox="1"/>
          <p:nvPr/>
        </p:nvSpPr>
        <p:spPr>
          <a:xfrm>
            <a:off x="10241280" y="2194560"/>
            <a:ext cx="14630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54A0FF"/>
                </a:solidFill>
                <a:latin typeface="Calibri"/>
                <a:ea typeface="Calibri"/>
                <a:cs typeface="Calibri"/>
                <a:sym typeface="Calibri"/>
              </a:rPr>
              <a:t>0.538</a:t>
            </a:r>
            <a:endParaRPr/>
          </a:p>
        </p:txBody>
      </p:sp>
      <p:sp>
        <p:nvSpPr>
          <p:cNvPr id="259" name="Google Shape;259;p17"/>
          <p:cNvSpPr txBox="1"/>
          <p:nvPr/>
        </p:nvSpPr>
        <p:spPr>
          <a:xfrm>
            <a:off x="10241280" y="2788920"/>
            <a:ext cx="14630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999AA"/>
                </a:solidFill>
                <a:latin typeface="Calibri"/>
                <a:ea typeface="Calibri"/>
                <a:cs typeface="Calibri"/>
                <a:sym typeface="Calibri"/>
              </a:rPr>
              <a:t>AUC-ROC</a:t>
            </a:r>
            <a:endParaRPr/>
          </a:p>
        </p:txBody>
      </p:sp>
      <p:sp>
        <p:nvSpPr>
          <p:cNvPr id="260" name="Google Shape;260;p17"/>
          <p:cNvSpPr txBox="1"/>
          <p:nvPr/>
        </p:nvSpPr>
        <p:spPr>
          <a:xfrm>
            <a:off x="6492240" y="3474720"/>
            <a:ext cx="5029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Classification Report (Test)</a:t>
            </a:r>
            <a:endParaRPr/>
          </a:p>
        </p:txBody>
      </p:sp>
      <p:graphicFrame>
        <p:nvGraphicFramePr>
          <p:cNvPr id="261" name="Google Shape;261;p17"/>
          <p:cNvGraphicFramePr/>
          <p:nvPr/>
        </p:nvGraphicFramePr>
        <p:xfrm>
          <a:off x="6492240" y="3794760"/>
          <a:ext cx="3000000" cy="3000000"/>
        </p:xfrm>
        <a:graphic>
          <a:graphicData uri="http://schemas.openxmlformats.org/drawingml/2006/table">
            <a:tbl>
              <a:tblPr bandRow="1" firstRow="1">
                <a:noFill/>
                <a:tableStyleId>{F3C23961-D168-414B-9536-515FB59A542D}</a:tableStyleId>
              </a:tblPr>
              <a:tblGrid>
                <a:gridCol w="987550"/>
                <a:gridCol w="987550"/>
                <a:gridCol w="987550"/>
                <a:gridCol w="987550"/>
                <a:gridCol w="987550"/>
              </a:tblGrid>
              <a:tr h="297175">
                <a:tc>
                  <a:txBody>
                    <a:bodyPr/>
                    <a:lstStyle/>
                    <a:p>
                      <a:pPr indent="0" lvl="0" marL="0" marR="0" rtl="0" algn="ctr">
                        <a:spcBef>
                          <a:spcPts val="0"/>
                        </a:spcBef>
                        <a:spcAft>
                          <a:spcPts val="0"/>
                        </a:spcAft>
                        <a:buNone/>
                      </a:pPr>
                      <a:r>
                        <a:t/>
                      </a:r>
                      <a:endParaRPr b="1" sz="1000" u="none" cap="none" strike="noStrike">
                        <a:solidFill>
                          <a:srgbClr val="00D4AA"/>
                        </a:solidFill>
                        <a:latin typeface="Calibri"/>
                        <a:ea typeface="Calibri"/>
                        <a:cs typeface="Calibri"/>
                        <a:sym typeface="Calibri"/>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Precision</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Recall</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F1</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b="1" lang="en-US" sz="1000" u="none" cap="none" strike="noStrike">
                          <a:solidFill>
                            <a:srgbClr val="00D4AA"/>
                          </a:solidFill>
                          <a:latin typeface="Calibri"/>
                          <a:ea typeface="Calibri"/>
                          <a:cs typeface="Calibri"/>
                          <a:sym typeface="Calibri"/>
                        </a:rPr>
                        <a:t>Support</a:t>
                      </a:r>
                      <a:endParaRPr/>
                    </a:p>
                  </a:txBody>
                  <a:tcPr marT="45725" marB="45725" marR="91450" marL="91450">
                    <a:solidFill>
                      <a:srgbClr val="2D2D4A"/>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Down</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0.58</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497</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Up</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0.49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0.64</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0.56</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424</a:t>
                      </a:r>
                      <a:endParaRPr/>
                    </a:p>
                  </a:txBody>
                  <a:tcPr marT="45725" marB="45725" marR="91450" marL="91450">
                    <a:solidFill>
                      <a:srgbClr val="24243E"/>
                    </a:solidFill>
                  </a:tcPr>
                </a:tc>
              </a:tr>
              <a:tr h="297175">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Accuracy</a:t>
                      </a:r>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t/>
                      </a:r>
                      <a:endParaRPr b="0" sz="1000" u="none" cap="none" strike="noStrike">
                        <a:solidFill>
                          <a:srgbClr val="FFFFFF"/>
                        </a:solidFill>
                        <a:latin typeface="Calibri"/>
                        <a:ea typeface="Calibri"/>
                        <a:cs typeface="Calibri"/>
                        <a:sym typeface="Calibri"/>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0.53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b="0" lang="en-US" sz="1000" u="none" cap="none" strike="noStrike">
                          <a:solidFill>
                            <a:srgbClr val="FFFFFF"/>
                          </a:solidFill>
                          <a:latin typeface="Calibri"/>
                          <a:ea typeface="Calibri"/>
                          <a:cs typeface="Calibri"/>
                          <a:sym typeface="Calibri"/>
                        </a:rPr>
                        <a:t>921</a:t>
                      </a:r>
                      <a:endParaRPr/>
                    </a:p>
                  </a:txBody>
                  <a:tcPr marT="45725" marB="45725" marR="91450" marL="91450">
                    <a:solidFill>
                      <a:srgbClr val="24243E"/>
                    </a:solidFill>
                  </a:tcPr>
                </a:tc>
              </a:tr>
            </a:tbl>
          </a:graphicData>
        </a:graphic>
      </p:graphicFrame>
      <p:sp>
        <p:nvSpPr>
          <p:cNvPr id="262" name="Google Shape;262;p17"/>
          <p:cNvSpPr txBox="1"/>
          <p:nvPr/>
        </p:nvSpPr>
        <p:spPr>
          <a:xfrm>
            <a:off x="6492240" y="512064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Calibri"/>
                <a:ea typeface="Calibri"/>
                <a:cs typeface="Calibri"/>
                <a:sym typeface="Calibri"/>
              </a:rPr>
              <a:t>Default vs Optuna CV</a:t>
            </a:r>
            <a:endParaRPr/>
          </a:p>
        </p:txBody>
      </p:sp>
      <p:sp>
        <p:nvSpPr>
          <p:cNvPr id="263" name="Google Shape;263;p17"/>
          <p:cNvSpPr txBox="1"/>
          <p:nvPr/>
        </p:nvSpPr>
        <p:spPr>
          <a:xfrm>
            <a:off x="6492240" y="5440680"/>
            <a:ext cx="5029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BBBBCC"/>
                </a:solidFill>
                <a:latin typeface="Consolas"/>
                <a:ea typeface="Consolas"/>
                <a:cs typeface="Consolas"/>
                <a:sym typeface="Consolas"/>
              </a:rPr>
              <a:t>Default CV:   Acc=0.507  F1=0.412  AUC=0.521</a:t>
            </a:r>
            <a:endParaRPr/>
          </a:p>
          <a:p>
            <a:pPr indent="0" lvl="0" marL="0" marR="0" rtl="0" algn="l">
              <a:spcBef>
                <a:spcPts val="0"/>
              </a:spcBef>
              <a:spcAft>
                <a:spcPts val="0"/>
              </a:spcAft>
              <a:buNone/>
            </a:pPr>
            <a:r>
              <a:rPr b="0" i="0" lang="en-US" sz="1000" u="none" cap="none" strike="noStrike">
                <a:solidFill>
                  <a:srgbClr val="00D4AA"/>
                </a:solidFill>
                <a:latin typeface="Consolas"/>
                <a:ea typeface="Consolas"/>
                <a:cs typeface="Consolas"/>
                <a:sym typeface="Consolas"/>
              </a:rPr>
              <a:t>Optuna CV:    Acc=0.512  F1=0.422  AUC=0.523</a:t>
            </a:r>
            <a:endParaRPr/>
          </a:p>
          <a:p>
            <a:pPr indent="0" lvl="0" marL="0" marR="0" rtl="0" algn="l">
              <a:spcBef>
                <a:spcPts val="0"/>
              </a:spcBef>
              <a:spcAft>
                <a:spcPts val="0"/>
              </a:spcAft>
              <a:buNone/>
            </a:pPr>
            <a:r>
              <a:rPr b="0" i="0" lang="en-US" sz="1000" u="none" cap="none" strike="noStrike">
                <a:solidFill>
                  <a:srgbClr val="FFD700"/>
                </a:solidFill>
                <a:latin typeface="Consolas"/>
                <a:ea typeface="Consolas"/>
                <a:cs typeface="Consolas"/>
                <a:sym typeface="Consolas"/>
              </a:rPr>
              <a:t>Test Set:       Acc=0.527  F1=0.556  AUC=0.538  ★ Best result</a:t>
            </a:r>
            <a:endParaRPr/>
          </a:p>
        </p:txBody>
      </p:sp>
      <p:sp>
        <p:nvSpPr>
          <p:cNvPr id="264" name="Google Shape;264;p17"/>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269" name="Shape 269"/>
        <p:cNvGrpSpPr/>
        <p:nvPr/>
      </p:nvGrpSpPr>
      <p:grpSpPr>
        <a:xfrm>
          <a:off x="0" y="0"/>
          <a:ext cx="0" cy="0"/>
          <a:chOff x="0" y="0"/>
          <a:chExt cx="0" cy="0"/>
        </a:xfrm>
      </p:grpSpPr>
      <p:sp>
        <p:nvSpPr>
          <p:cNvPr id="270" name="Google Shape;270;p18"/>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271" name="Google Shape;271;p18"/>
          <p:cNvSpPr txBox="1"/>
          <p:nvPr/>
        </p:nvSpPr>
        <p:spPr>
          <a:xfrm>
            <a:off x="457200" y="64008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Results Summary</a:t>
            </a:r>
            <a:endParaRPr/>
          </a:p>
        </p:txBody>
      </p:sp>
      <p:sp>
        <p:nvSpPr>
          <p:cNvPr id="272" name="Google Shape;272;p18"/>
          <p:cNvSpPr txBox="1"/>
          <p:nvPr/>
        </p:nvSpPr>
        <p:spPr>
          <a:xfrm>
            <a:off x="457200" y="105156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9999AA"/>
                </a:solidFill>
                <a:latin typeface="Calibri"/>
                <a:ea typeface="Calibri"/>
                <a:cs typeface="Calibri"/>
                <a:sym typeface="Calibri"/>
              </a:rPr>
              <a:t>Wheat Futures Direction Classification  |  All Models  |  Test Set (2022–2025)</a:t>
            </a:r>
            <a:endParaRPr/>
          </a:p>
        </p:txBody>
      </p:sp>
      <p:sp>
        <p:nvSpPr>
          <p:cNvPr id="273" name="Google Shape;273;p18"/>
          <p:cNvSpPr/>
          <p:nvPr/>
        </p:nvSpPr>
        <p:spPr>
          <a:xfrm>
            <a:off x="457200" y="137160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8"/>
          <p:cNvSpPr txBox="1"/>
          <p:nvPr/>
        </p:nvSpPr>
        <p:spPr>
          <a:xfrm>
            <a:off x="457200" y="155448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D4AA"/>
                </a:solidFill>
                <a:latin typeface="Calibri"/>
                <a:ea typeface="Calibri"/>
                <a:cs typeface="Calibri"/>
                <a:sym typeface="Calibri"/>
              </a:rPr>
              <a:t>Model Comparison</a:t>
            </a:r>
            <a:endParaRPr/>
          </a:p>
        </p:txBody>
      </p:sp>
      <p:graphicFrame>
        <p:nvGraphicFramePr>
          <p:cNvPr id="275" name="Google Shape;275;p18"/>
          <p:cNvGraphicFramePr/>
          <p:nvPr/>
        </p:nvGraphicFramePr>
        <p:xfrm>
          <a:off x="457200" y="1920240"/>
          <a:ext cx="3000000" cy="3000000"/>
        </p:xfrm>
        <a:graphic>
          <a:graphicData uri="http://schemas.openxmlformats.org/drawingml/2006/table">
            <a:tbl>
              <a:tblPr bandRow="1" firstRow="1">
                <a:noFill/>
                <a:tableStyleId>{F3C23961-D168-414B-9536-515FB59A542D}</a:tableStyleId>
              </a:tblPr>
              <a:tblGrid>
                <a:gridCol w="2743200"/>
                <a:gridCol w="1645925"/>
                <a:gridCol w="1645925"/>
                <a:gridCol w="1645925"/>
                <a:gridCol w="1645925"/>
                <a:gridCol w="1920250"/>
              </a:tblGrid>
              <a:tr h="350525">
                <a:tc>
                  <a:txBody>
                    <a:bodyPr/>
                    <a:lstStyle/>
                    <a:p>
                      <a:pPr indent="0" lvl="0" marL="0" marR="0" rtl="0" algn="l">
                        <a:spcBef>
                          <a:spcPts val="0"/>
                        </a:spcBef>
                        <a:spcAft>
                          <a:spcPts val="0"/>
                        </a:spcAft>
                        <a:buNone/>
                      </a:pPr>
                      <a:r>
                        <a:rPr b="1" lang="en-US" sz="1200" u="none" cap="none" strike="noStrike">
                          <a:solidFill>
                            <a:srgbClr val="FFFFFF"/>
                          </a:solidFill>
                          <a:latin typeface="Calibri"/>
                          <a:ea typeface="Calibri"/>
                          <a:cs typeface="Calibri"/>
                          <a:sym typeface="Calibri"/>
                        </a:rPr>
                        <a:t>Model</a:t>
                      </a:r>
                      <a:endParaRPr/>
                    </a:p>
                  </a:txBody>
                  <a:tcPr marT="45725" marB="45725" marR="91450" marL="91450">
                    <a:solidFill>
                      <a:srgbClr val="57068C"/>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Accuracy</a:t>
                      </a:r>
                      <a:endParaRPr/>
                    </a:p>
                  </a:txBody>
                  <a:tcPr marT="45725" marB="45725" marR="91450" marL="91450">
                    <a:solidFill>
                      <a:srgbClr val="57068C"/>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Precision</a:t>
                      </a:r>
                      <a:endParaRPr/>
                    </a:p>
                  </a:txBody>
                  <a:tcPr marT="45725" marB="45725" marR="91450" marL="91450">
                    <a:solidFill>
                      <a:srgbClr val="57068C"/>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Recall</a:t>
                      </a:r>
                      <a:endParaRPr/>
                    </a:p>
                  </a:txBody>
                  <a:tcPr marT="45725" marB="45725" marR="91450" marL="91450">
                    <a:solidFill>
                      <a:srgbClr val="57068C"/>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F1</a:t>
                      </a:r>
                      <a:endParaRPr/>
                    </a:p>
                  </a:txBody>
                  <a:tcPr marT="45725" marB="45725" marR="91450" marL="91450">
                    <a:solidFill>
                      <a:srgbClr val="57068C"/>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AUC-ROC</a:t>
                      </a:r>
                      <a:endParaRPr/>
                    </a:p>
                  </a:txBody>
                  <a:tcPr marT="45725" marB="45725" marR="91450" marL="91450">
                    <a:solidFill>
                      <a:srgbClr val="57068C"/>
                    </a:solidFill>
                  </a:tcPr>
                </a:tc>
              </a:tr>
              <a:tr h="350525">
                <a:tc>
                  <a:txBody>
                    <a:bodyPr/>
                    <a:lstStyle/>
                    <a:p>
                      <a:pPr indent="0" lvl="0" marL="0" marR="0" rtl="0" algn="l">
                        <a:spcBef>
                          <a:spcPts val="0"/>
                        </a:spcBef>
                        <a:spcAft>
                          <a:spcPts val="0"/>
                        </a:spcAft>
                        <a:buNone/>
                      </a:pPr>
                      <a:r>
                        <a:rPr lang="en-US" sz="1200" u="none" cap="none" strike="noStrike">
                          <a:solidFill>
                            <a:srgbClr val="9999AA"/>
                          </a:solidFill>
                          <a:latin typeface="Calibri"/>
                          <a:ea typeface="Calibri"/>
                          <a:cs typeface="Calibri"/>
                          <a:sym typeface="Calibri"/>
                        </a:rPr>
                        <a:t>Random Baseline</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lang="en-US" sz="1200" u="none" cap="none" strike="noStrike">
                          <a:solidFill>
                            <a:srgbClr val="9999AA"/>
                          </a:solidFill>
                          <a:latin typeface="Calibri"/>
                          <a:ea typeface="Calibri"/>
                          <a:cs typeface="Calibri"/>
                          <a:sym typeface="Calibri"/>
                        </a:rPr>
                        <a:t>50.0%</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lang="en-US" sz="1200" u="none" cap="none" strike="noStrike">
                          <a:solidFill>
                            <a:srgbClr val="9999AA"/>
                          </a:solidFill>
                          <a:latin typeface="Calibri"/>
                          <a:ea typeface="Calibri"/>
                          <a:cs typeface="Calibri"/>
                          <a:sym typeface="Calibri"/>
                        </a:rPr>
                        <a:t>0.500</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lang="en-US" sz="1200" u="none" cap="none" strike="noStrike">
                          <a:solidFill>
                            <a:srgbClr val="9999AA"/>
                          </a:solidFill>
                          <a:latin typeface="Calibri"/>
                          <a:ea typeface="Calibri"/>
                          <a:cs typeface="Calibri"/>
                          <a:sym typeface="Calibri"/>
                        </a:rPr>
                        <a:t>0.500</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lang="en-US" sz="1200" u="none" cap="none" strike="noStrike">
                          <a:solidFill>
                            <a:srgbClr val="9999AA"/>
                          </a:solidFill>
                          <a:latin typeface="Calibri"/>
                          <a:ea typeface="Calibri"/>
                          <a:cs typeface="Calibri"/>
                          <a:sym typeface="Calibri"/>
                        </a:rPr>
                        <a:t>0.500</a:t>
                      </a:r>
                      <a:endParaRPr/>
                    </a:p>
                  </a:txBody>
                  <a:tcPr marT="45725" marB="45725" marR="91450" marL="91450">
                    <a:solidFill>
                      <a:srgbClr val="2D2D4A"/>
                    </a:solidFill>
                  </a:tcPr>
                </a:tc>
                <a:tc>
                  <a:txBody>
                    <a:bodyPr/>
                    <a:lstStyle/>
                    <a:p>
                      <a:pPr indent="0" lvl="0" marL="0" marR="0" rtl="0" algn="ctr">
                        <a:spcBef>
                          <a:spcPts val="0"/>
                        </a:spcBef>
                        <a:spcAft>
                          <a:spcPts val="0"/>
                        </a:spcAft>
                        <a:buNone/>
                      </a:pPr>
                      <a:r>
                        <a:rPr lang="en-US" sz="1200" u="none" cap="none" strike="noStrike">
                          <a:solidFill>
                            <a:srgbClr val="9999AA"/>
                          </a:solidFill>
                          <a:latin typeface="Calibri"/>
                          <a:ea typeface="Calibri"/>
                          <a:cs typeface="Calibri"/>
                          <a:sym typeface="Calibri"/>
                        </a:rPr>
                        <a:t>0.500</a:t>
                      </a:r>
                      <a:endParaRPr/>
                    </a:p>
                  </a:txBody>
                  <a:tcPr marT="45725" marB="45725" marR="91450" marL="91450">
                    <a:solidFill>
                      <a:srgbClr val="2D2D4A"/>
                    </a:solidFill>
                  </a:tcPr>
                </a:tc>
              </a:tr>
              <a:tr h="350525">
                <a:tc>
                  <a:txBody>
                    <a:bodyPr/>
                    <a:lstStyle/>
                    <a:p>
                      <a:pPr indent="0" lvl="0" marL="0" marR="0" rtl="0" algn="l">
                        <a:spcBef>
                          <a:spcPts val="0"/>
                        </a:spcBef>
                        <a:spcAft>
                          <a:spcPts val="0"/>
                        </a:spcAft>
                        <a:buNone/>
                      </a:pPr>
                      <a:r>
                        <a:rPr lang="en-US" sz="1200" u="none" cap="none" strike="noStrike">
                          <a:solidFill>
                            <a:srgbClr val="FFFFFF"/>
                          </a:solidFill>
                          <a:latin typeface="Calibri"/>
                          <a:ea typeface="Calibri"/>
                          <a:cs typeface="Calibri"/>
                          <a:sym typeface="Calibri"/>
                        </a:rPr>
                        <a:t>ARX (Logistic)</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49.8%</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0.469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0.679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0.555</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0.523</a:t>
                      </a:r>
                      <a:endParaRPr/>
                    </a:p>
                  </a:txBody>
                  <a:tcPr marT="45725" marB="45725" marR="91450" marL="91450">
                    <a:solidFill>
                      <a:srgbClr val="24243E"/>
                    </a:solidFill>
                  </a:tcPr>
                </a:tc>
              </a:tr>
              <a:tr h="350525">
                <a:tc>
                  <a:txBody>
                    <a:bodyPr/>
                    <a:lstStyle/>
                    <a:p>
                      <a:pPr indent="0" lvl="0" marL="0" marR="0" rtl="0" algn="l">
                        <a:spcBef>
                          <a:spcPts val="0"/>
                        </a:spcBef>
                        <a:spcAft>
                          <a:spcPts val="0"/>
                        </a:spcAft>
                        <a:buNone/>
                      </a:pPr>
                      <a:r>
                        <a:rPr lang="en-US" sz="1200" u="none" cap="none" strike="noStrike">
                          <a:solidFill>
                            <a:srgbClr val="FFFFFF"/>
                          </a:solidFill>
                          <a:latin typeface="Calibri"/>
                          <a:ea typeface="Calibri"/>
                          <a:cs typeface="Calibri"/>
                          <a:sym typeface="Calibri"/>
                        </a:rPr>
                        <a:t>BiRNN + Attention</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49.3%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0.454</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0.498</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0.475</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0.496</a:t>
                      </a:r>
                      <a:endParaRPr/>
                    </a:p>
                  </a:txBody>
                  <a:tcPr marT="45725" marB="45725" marR="91450" marL="91450">
                    <a:solidFill>
                      <a:srgbClr val="24243E"/>
                    </a:solidFill>
                  </a:tcPr>
                </a:tc>
              </a:tr>
              <a:tr h="350525">
                <a:tc>
                  <a:txBody>
                    <a:bodyPr/>
                    <a:lstStyle/>
                    <a:p>
                      <a:pPr indent="0" lvl="0" marL="0" marR="0" rtl="0" algn="l">
                        <a:spcBef>
                          <a:spcPts val="0"/>
                        </a:spcBef>
                        <a:spcAft>
                          <a:spcPts val="0"/>
                        </a:spcAft>
                        <a:buNone/>
                      </a:pPr>
                      <a:r>
                        <a:rPr lang="en-US" sz="1200" u="none" cap="none" strike="noStrike">
                          <a:solidFill>
                            <a:srgbClr val="FFFFFF"/>
                          </a:solidFill>
                          <a:latin typeface="Calibri"/>
                          <a:ea typeface="Calibri"/>
                          <a:cs typeface="Calibri"/>
                          <a:sym typeface="Calibri"/>
                        </a:rPr>
                        <a:t>BiRNN + Skip</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49.9%</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0.467</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0.613</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0.530</a:t>
                      </a:r>
                      <a:endParaRPr/>
                    </a:p>
                  </a:txBody>
                  <a:tcPr marT="45725" marB="45725" marR="91450" marL="91450">
                    <a:solidFill>
                      <a:srgbClr val="24243E"/>
                    </a:solidFill>
                  </a:tcPr>
                </a:tc>
                <a:tc>
                  <a:txBody>
                    <a:bodyPr/>
                    <a:lstStyle/>
                    <a:p>
                      <a:pPr indent="0" lvl="0" marL="0" marR="0" rtl="0" algn="ctr">
                        <a:spcBef>
                          <a:spcPts val="0"/>
                        </a:spcBef>
                        <a:spcAft>
                          <a:spcPts val="0"/>
                        </a:spcAft>
                        <a:buNone/>
                      </a:pPr>
                      <a:r>
                        <a:rPr lang="en-US" sz="1200" u="none" cap="none" strike="noStrike">
                          <a:solidFill>
                            <a:srgbClr val="FFFFFF"/>
                          </a:solidFill>
                          <a:latin typeface="Calibri"/>
                          <a:ea typeface="Calibri"/>
                          <a:cs typeface="Calibri"/>
                          <a:sym typeface="Calibri"/>
                        </a:rPr>
                        <a:t>0.502</a:t>
                      </a:r>
                      <a:endParaRPr/>
                    </a:p>
                  </a:txBody>
                  <a:tcPr marT="45725" marB="45725" marR="91450" marL="91450">
                    <a:solidFill>
                      <a:srgbClr val="24243E"/>
                    </a:solidFill>
                  </a:tcPr>
                </a:tc>
              </a:tr>
              <a:tr h="350525">
                <a:tc>
                  <a:txBody>
                    <a:bodyPr/>
                    <a:lstStyle/>
                    <a:p>
                      <a:pPr indent="0" lvl="0" marL="0" marR="0" rtl="0" algn="l">
                        <a:spcBef>
                          <a:spcPts val="0"/>
                        </a:spcBef>
                        <a:spcAft>
                          <a:spcPts val="0"/>
                        </a:spcAft>
                        <a:buNone/>
                      </a:pPr>
                      <a:r>
                        <a:rPr b="1" lang="en-US" sz="1200" u="none" cap="none" strike="noStrike">
                          <a:solidFill>
                            <a:srgbClr val="FFD700"/>
                          </a:solidFill>
                          <a:latin typeface="Calibri"/>
                          <a:ea typeface="Calibri"/>
                          <a:cs typeface="Calibri"/>
                          <a:sym typeface="Calibri"/>
                        </a:rPr>
                        <a:t>BiGRU  ★</a:t>
                      </a:r>
                      <a:endParaRPr/>
                    </a:p>
                  </a:txBody>
                  <a:tcPr marT="45725" marB="45725" marR="91450" marL="91450">
                    <a:solidFill>
                      <a:srgbClr val="2A2A50"/>
                    </a:solidFill>
                  </a:tcPr>
                </a:tc>
                <a:tc>
                  <a:txBody>
                    <a:bodyPr/>
                    <a:lstStyle/>
                    <a:p>
                      <a:pPr indent="0" lvl="0" marL="0" marR="0" rtl="0" algn="ctr">
                        <a:spcBef>
                          <a:spcPts val="0"/>
                        </a:spcBef>
                        <a:spcAft>
                          <a:spcPts val="0"/>
                        </a:spcAft>
                        <a:buNone/>
                      </a:pPr>
                      <a:r>
                        <a:rPr b="1" lang="en-US" sz="1200" u="none" cap="none" strike="noStrike">
                          <a:solidFill>
                            <a:srgbClr val="FFD700"/>
                          </a:solidFill>
                          <a:latin typeface="Calibri"/>
                          <a:ea typeface="Calibri"/>
                          <a:cs typeface="Calibri"/>
                          <a:sym typeface="Calibri"/>
                        </a:rPr>
                        <a:t>52.7%</a:t>
                      </a:r>
                      <a:endParaRPr/>
                    </a:p>
                  </a:txBody>
                  <a:tcPr marT="45725" marB="45725" marR="91450" marL="91450">
                    <a:solidFill>
                      <a:srgbClr val="2A2A50"/>
                    </a:solidFill>
                  </a:tcPr>
                </a:tc>
                <a:tc>
                  <a:txBody>
                    <a:bodyPr/>
                    <a:lstStyle/>
                    <a:p>
                      <a:pPr indent="0" lvl="0" marL="0" marR="0" rtl="0" algn="ctr">
                        <a:spcBef>
                          <a:spcPts val="0"/>
                        </a:spcBef>
                        <a:spcAft>
                          <a:spcPts val="0"/>
                        </a:spcAft>
                        <a:buNone/>
                      </a:pPr>
                      <a:r>
                        <a:rPr b="1" lang="en-US" sz="1200" u="none" cap="none" strike="noStrike">
                          <a:solidFill>
                            <a:srgbClr val="FFD700"/>
                          </a:solidFill>
                          <a:latin typeface="Calibri"/>
                          <a:ea typeface="Calibri"/>
                          <a:cs typeface="Calibri"/>
                          <a:sym typeface="Calibri"/>
                        </a:rPr>
                        <a:t>0.489</a:t>
                      </a:r>
                      <a:endParaRPr/>
                    </a:p>
                  </a:txBody>
                  <a:tcPr marT="45725" marB="45725" marR="91450" marL="91450">
                    <a:solidFill>
                      <a:srgbClr val="2A2A50"/>
                    </a:solidFill>
                  </a:tcPr>
                </a:tc>
                <a:tc>
                  <a:txBody>
                    <a:bodyPr/>
                    <a:lstStyle/>
                    <a:p>
                      <a:pPr indent="0" lvl="0" marL="0" marR="0" rtl="0" algn="ctr">
                        <a:spcBef>
                          <a:spcPts val="0"/>
                        </a:spcBef>
                        <a:spcAft>
                          <a:spcPts val="0"/>
                        </a:spcAft>
                        <a:buNone/>
                      </a:pPr>
                      <a:r>
                        <a:rPr b="1" lang="en-US" sz="1200" u="none" cap="none" strike="noStrike">
                          <a:solidFill>
                            <a:srgbClr val="FFD700"/>
                          </a:solidFill>
                          <a:latin typeface="Calibri"/>
                          <a:ea typeface="Calibri"/>
                          <a:cs typeface="Calibri"/>
                          <a:sym typeface="Calibri"/>
                        </a:rPr>
                        <a:t>0.644</a:t>
                      </a:r>
                      <a:endParaRPr/>
                    </a:p>
                  </a:txBody>
                  <a:tcPr marT="45725" marB="45725" marR="91450" marL="91450">
                    <a:solidFill>
                      <a:srgbClr val="2A2A50"/>
                    </a:solidFill>
                  </a:tcPr>
                </a:tc>
                <a:tc>
                  <a:txBody>
                    <a:bodyPr/>
                    <a:lstStyle/>
                    <a:p>
                      <a:pPr indent="0" lvl="0" marL="0" marR="0" rtl="0" algn="ctr">
                        <a:spcBef>
                          <a:spcPts val="0"/>
                        </a:spcBef>
                        <a:spcAft>
                          <a:spcPts val="0"/>
                        </a:spcAft>
                        <a:buNone/>
                      </a:pPr>
                      <a:r>
                        <a:rPr b="1" lang="en-US" sz="1200" u="none" cap="none" strike="noStrike">
                          <a:solidFill>
                            <a:srgbClr val="FFD700"/>
                          </a:solidFill>
                          <a:latin typeface="Calibri"/>
                          <a:ea typeface="Calibri"/>
                          <a:cs typeface="Calibri"/>
                          <a:sym typeface="Calibri"/>
                        </a:rPr>
                        <a:t>0.556</a:t>
                      </a:r>
                      <a:endParaRPr/>
                    </a:p>
                  </a:txBody>
                  <a:tcPr marT="45725" marB="45725" marR="91450" marL="91450">
                    <a:solidFill>
                      <a:srgbClr val="2A2A50"/>
                    </a:solidFill>
                  </a:tcPr>
                </a:tc>
                <a:tc>
                  <a:txBody>
                    <a:bodyPr/>
                    <a:lstStyle/>
                    <a:p>
                      <a:pPr indent="0" lvl="0" marL="0" marR="0" rtl="0" algn="ctr">
                        <a:spcBef>
                          <a:spcPts val="0"/>
                        </a:spcBef>
                        <a:spcAft>
                          <a:spcPts val="0"/>
                        </a:spcAft>
                        <a:buNone/>
                      </a:pPr>
                      <a:r>
                        <a:rPr b="1" lang="en-US" sz="1200" u="none" cap="none" strike="noStrike">
                          <a:solidFill>
                            <a:srgbClr val="FFD700"/>
                          </a:solidFill>
                          <a:latin typeface="Calibri"/>
                          <a:ea typeface="Calibri"/>
                          <a:cs typeface="Calibri"/>
                          <a:sym typeface="Calibri"/>
                        </a:rPr>
                        <a:t>0.538</a:t>
                      </a:r>
                      <a:endParaRPr/>
                    </a:p>
                  </a:txBody>
                  <a:tcPr marT="45725" marB="45725" marR="91450" marL="91450">
                    <a:solidFill>
                      <a:srgbClr val="2A2A50"/>
                    </a:solidFill>
                  </a:tcPr>
                </a:tc>
              </a:tr>
            </a:tbl>
          </a:graphicData>
        </a:graphic>
      </p:graphicFrame>
      <p:pic>
        <p:nvPicPr>
          <p:cNvPr id="276" name="Google Shape;276;p18"/>
          <p:cNvPicPr preferRelativeResize="0"/>
          <p:nvPr/>
        </p:nvPicPr>
        <p:blipFill rotWithShape="1">
          <a:blip r:embed="rId3">
            <a:alphaModFix/>
          </a:blip>
          <a:srcRect b="0" l="0" r="0" t="0"/>
          <a:stretch/>
        </p:blipFill>
        <p:spPr>
          <a:xfrm>
            <a:off x="457200" y="4206240"/>
            <a:ext cx="5029200" cy="2468880"/>
          </a:xfrm>
          <a:prstGeom prst="rect">
            <a:avLst/>
          </a:prstGeom>
          <a:noFill/>
          <a:ln>
            <a:noFill/>
          </a:ln>
        </p:spPr>
      </p:pic>
      <p:sp>
        <p:nvSpPr>
          <p:cNvPr id="277" name="Google Shape;277;p18"/>
          <p:cNvSpPr/>
          <p:nvPr/>
        </p:nvSpPr>
        <p:spPr>
          <a:xfrm>
            <a:off x="5760720" y="4206240"/>
            <a:ext cx="5943600" cy="54864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8"/>
          <p:cNvSpPr/>
          <p:nvPr/>
        </p:nvSpPr>
        <p:spPr>
          <a:xfrm>
            <a:off x="5852160" y="4279392"/>
            <a:ext cx="320040" cy="320040"/>
          </a:xfrm>
          <a:prstGeom prst="roundRect">
            <a:avLst>
              <a:gd fmla="val 16667" name="adj"/>
            </a:avLst>
          </a:prstGeom>
          <a:solidFill>
            <a:srgbClr val="00D4A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8"/>
          <p:cNvSpPr txBox="1"/>
          <p:nvPr/>
        </p:nvSpPr>
        <p:spPr>
          <a:xfrm>
            <a:off x="5852160" y="4279392"/>
            <a:ext cx="32004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1A1A2E"/>
                </a:solidFill>
                <a:latin typeface="Calibri"/>
                <a:ea typeface="Calibri"/>
                <a:cs typeface="Calibri"/>
                <a:sym typeface="Calibri"/>
              </a:rPr>
              <a:t>1</a:t>
            </a:r>
            <a:endParaRPr/>
          </a:p>
        </p:txBody>
      </p:sp>
      <p:sp>
        <p:nvSpPr>
          <p:cNvPr id="280" name="Google Shape;280;p18"/>
          <p:cNvSpPr txBox="1"/>
          <p:nvPr/>
        </p:nvSpPr>
        <p:spPr>
          <a:xfrm>
            <a:off x="6309360" y="4261104"/>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0D4AA"/>
                </a:solidFill>
                <a:latin typeface="Calibri"/>
                <a:ea typeface="Calibri"/>
                <a:cs typeface="Calibri"/>
                <a:sym typeface="Calibri"/>
              </a:rPr>
              <a:t>All models ≈ random chance</a:t>
            </a:r>
            <a:endParaRPr/>
          </a:p>
        </p:txBody>
      </p:sp>
      <p:sp>
        <p:nvSpPr>
          <p:cNvPr id="281" name="Google Shape;281;p18"/>
          <p:cNvSpPr txBox="1"/>
          <p:nvPr/>
        </p:nvSpPr>
        <p:spPr>
          <a:xfrm>
            <a:off x="6309360" y="4498848"/>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BBBCC"/>
                </a:solidFill>
                <a:latin typeface="Calibri"/>
                <a:ea typeface="Calibri"/>
                <a:cs typeface="Calibri"/>
                <a:sym typeface="Calibri"/>
              </a:rPr>
              <a:t>No model meaningfully exceeds 50% accuracy or 0.50 AUC. Daily wheat direction is extremely hard to predict from macro indicators and price history.</a:t>
            </a:r>
            <a:endParaRPr/>
          </a:p>
        </p:txBody>
      </p:sp>
      <p:sp>
        <p:nvSpPr>
          <p:cNvPr id="282" name="Google Shape;282;p18"/>
          <p:cNvSpPr/>
          <p:nvPr/>
        </p:nvSpPr>
        <p:spPr>
          <a:xfrm>
            <a:off x="5760720" y="4828032"/>
            <a:ext cx="5943600" cy="54864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8"/>
          <p:cNvSpPr/>
          <p:nvPr/>
        </p:nvSpPr>
        <p:spPr>
          <a:xfrm>
            <a:off x="5852160" y="4901184"/>
            <a:ext cx="320040" cy="320040"/>
          </a:xfrm>
          <a:prstGeom prst="roundRect">
            <a:avLst>
              <a:gd fmla="val 16667" name="adj"/>
            </a:avLst>
          </a:prstGeom>
          <a:solidFill>
            <a:srgbClr val="FF9F4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18"/>
          <p:cNvSpPr txBox="1"/>
          <p:nvPr/>
        </p:nvSpPr>
        <p:spPr>
          <a:xfrm>
            <a:off x="5852160" y="4901184"/>
            <a:ext cx="32004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1A1A2E"/>
                </a:solidFill>
                <a:latin typeface="Calibri"/>
                <a:ea typeface="Calibri"/>
                <a:cs typeface="Calibri"/>
                <a:sym typeface="Calibri"/>
              </a:rPr>
              <a:t>2</a:t>
            </a:r>
            <a:endParaRPr/>
          </a:p>
        </p:txBody>
      </p:sp>
      <p:sp>
        <p:nvSpPr>
          <p:cNvPr id="285" name="Google Shape;285;p18"/>
          <p:cNvSpPr txBox="1"/>
          <p:nvPr/>
        </p:nvSpPr>
        <p:spPr>
          <a:xfrm>
            <a:off x="6309360" y="4882896"/>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9F43"/>
                </a:solidFill>
                <a:latin typeface="Calibri"/>
                <a:ea typeface="Calibri"/>
                <a:cs typeface="Calibri"/>
                <a:sym typeface="Calibri"/>
              </a:rPr>
              <a:t>Classification ≠ Regression</a:t>
            </a:r>
            <a:endParaRPr/>
          </a:p>
        </p:txBody>
      </p:sp>
      <p:sp>
        <p:nvSpPr>
          <p:cNvPr id="286" name="Google Shape;286;p18"/>
          <p:cNvSpPr txBox="1"/>
          <p:nvPr/>
        </p:nvSpPr>
        <p:spPr>
          <a:xfrm>
            <a:off x="6309360" y="5120640"/>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BBBCC"/>
                </a:solidFill>
                <a:latin typeface="Calibri"/>
                <a:ea typeface="Calibri"/>
                <a:cs typeface="Calibri"/>
                <a:sym typeface="Calibri"/>
              </a:rPr>
              <a:t>In regression, BiRNN+Skip achieved R²=0.867. In classification, the same architecture drops to 50% accuracy. Predicting direction removes the autocorrelation advantage.</a:t>
            </a:r>
            <a:endParaRPr/>
          </a:p>
        </p:txBody>
      </p:sp>
      <p:sp>
        <p:nvSpPr>
          <p:cNvPr id="287" name="Google Shape;287;p18"/>
          <p:cNvSpPr/>
          <p:nvPr/>
        </p:nvSpPr>
        <p:spPr>
          <a:xfrm>
            <a:off x="5760720" y="5449824"/>
            <a:ext cx="5943600" cy="54864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18"/>
          <p:cNvSpPr/>
          <p:nvPr/>
        </p:nvSpPr>
        <p:spPr>
          <a:xfrm>
            <a:off x="5852160" y="5522976"/>
            <a:ext cx="320040" cy="320040"/>
          </a:xfrm>
          <a:prstGeom prst="roundRect">
            <a:avLst>
              <a:gd fmla="val 16667" name="adj"/>
            </a:avLst>
          </a:prstGeom>
          <a:solidFill>
            <a:srgbClr val="54A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8"/>
          <p:cNvSpPr txBox="1"/>
          <p:nvPr/>
        </p:nvSpPr>
        <p:spPr>
          <a:xfrm>
            <a:off x="5852160" y="5522976"/>
            <a:ext cx="32004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1A1A2E"/>
                </a:solidFill>
                <a:latin typeface="Calibri"/>
                <a:ea typeface="Calibri"/>
                <a:cs typeface="Calibri"/>
                <a:sym typeface="Calibri"/>
              </a:rPr>
              <a:t>3</a:t>
            </a:r>
            <a:endParaRPr/>
          </a:p>
        </p:txBody>
      </p:sp>
      <p:sp>
        <p:nvSpPr>
          <p:cNvPr id="290" name="Google Shape;290;p18"/>
          <p:cNvSpPr txBox="1"/>
          <p:nvPr/>
        </p:nvSpPr>
        <p:spPr>
          <a:xfrm>
            <a:off x="6309360" y="5504688"/>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54A0FF"/>
                </a:solidFill>
                <a:latin typeface="Calibri"/>
                <a:ea typeface="Calibri"/>
                <a:cs typeface="Calibri"/>
                <a:sym typeface="Calibri"/>
              </a:rPr>
              <a:t>GRU gating = most stable</a:t>
            </a:r>
            <a:endParaRPr/>
          </a:p>
        </p:txBody>
      </p:sp>
      <p:sp>
        <p:nvSpPr>
          <p:cNvPr id="291" name="Google Shape;291;p18"/>
          <p:cNvSpPr txBox="1"/>
          <p:nvPr/>
        </p:nvSpPr>
        <p:spPr>
          <a:xfrm>
            <a:off x="6309360" y="5742432"/>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BBBCC"/>
                </a:solidFill>
                <a:latin typeface="Calibri"/>
                <a:ea typeface="Calibri"/>
                <a:cs typeface="Calibri"/>
                <a:sym typeface="Calibri"/>
              </a:rPr>
              <a:t>BiGRU is the only model that edges above random (52.7%). Gating provides more stable optimization than attention or skip connections for this task.</a:t>
            </a:r>
            <a:endParaRPr/>
          </a:p>
        </p:txBody>
      </p:sp>
      <p:sp>
        <p:nvSpPr>
          <p:cNvPr id="292" name="Google Shape;292;p18"/>
          <p:cNvSpPr/>
          <p:nvPr/>
        </p:nvSpPr>
        <p:spPr>
          <a:xfrm>
            <a:off x="5760720" y="6071616"/>
            <a:ext cx="5943600" cy="548640"/>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8"/>
          <p:cNvSpPr/>
          <p:nvPr/>
        </p:nvSpPr>
        <p:spPr>
          <a:xfrm>
            <a:off x="5852160" y="6144768"/>
            <a:ext cx="320040" cy="320040"/>
          </a:xfrm>
          <a:prstGeom prst="roundRect">
            <a:avLst>
              <a:gd fmla="val 16667" name="adj"/>
            </a:avLst>
          </a:prstGeom>
          <a:solidFill>
            <a:srgbClr val="FF6B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18"/>
          <p:cNvSpPr txBox="1"/>
          <p:nvPr/>
        </p:nvSpPr>
        <p:spPr>
          <a:xfrm>
            <a:off x="5852160" y="6144768"/>
            <a:ext cx="32004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1A1A2E"/>
                </a:solidFill>
                <a:latin typeface="Calibri"/>
                <a:ea typeface="Calibri"/>
                <a:cs typeface="Calibri"/>
                <a:sym typeface="Calibri"/>
              </a:rPr>
              <a:t>4</a:t>
            </a:r>
            <a:endParaRPr/>
          </a:p>
        </p:txBody>
      </p:sp>
      <p:sp>
        <p:nvSpPr>
          <p:cNvPr id="295" name="Google Shape;295;p18"/>
          <p:cNvSpPr txBox="1"/>
          <p:nvPr/>
        </p:nvSpPr>
        <p:spPr>
          <a:xfrm>
            <a:off x="6309360" y="6126480"/>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6B9D"/>
                </a:solidFill>
                <a:latin typeface="Calibri"/>
                <a:ea typeface="Calibri"/>
                <a:cs typeface="Calibri"/>
                <a:sym typeface="Calibri"/>
              </a:rPr>
              <a:t>Efficient market signal</a:t>
            </a:r>
            <a:endParaRPr/>
          </a:p>
        </p:txBody>
      </p:sp>
      <p:sp>
        <p:nvSpPr>
          <p:cNvPr id="296" name="Google Shape;296;p18"/>
          <p:cNvSpPr txBox="1"/>
          <p:nvPr/>
        </p:nvSpPr>
        <p:spPr>
          <a:xfrm>
            <a:off x="6309360" y="6364224"/>
            <a:ext cx="53035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BBBCC"/>
                </a:solidFill>
                <a:latin typeface="Calibri"/>
                <a:ea typeface="Calibri"/>
                <a:cs typeface="Calibri"/>
                <a:sym typeface="Calibri"/>
              </a:rPr>
              <a:t>Results are consistent with weak-form EMH — public price history + macro data cannot reliably predict short-term direction.</a:t>
            </a:r>
            <a:endParaRPr/>
          </a:p>
        </p:txBody>
      </p:sp>
      <p:sp>
        <p:nvSpPr>
          <p:cNvPr id="297" name="Google Shape;297;p18"/>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302" name="Shape 302"/>
        <p:cNvGrpSpPr/>
        <p:nvPr/>
      </p:nvGrpSpPr>
      <p:grpSpPr>
        <a:xfrm>
          <a:off x="0" y="0"/>
          <a:ext cx="0" cy="0"/>
          <a:chOff x="0" y="0"/>
          <a:chExt cx="0" cy="0"/>
        </a:xfrm>
      </p:grpSpPr>
      <p:sp>
        <p:nvSpPr>
          <p:cNvPr id="303" name="Google Shape;303;p19"/>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304" name="Google Shape;304;p19"/>
          <p:cNvSpPr txBox="1"/>
          <p:nvPr/>
        </p:nvSpPr>
        <p:spPr>
          <a:xfrm>
            <a:off x="457200" y="548640"/>
            <a:ext cx="914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Alternative Data for Wheat Price Prediction</a:t>
            </a:r>
            <a:endParaRPr/>
          </a:p>
        </p:txBody>
      </p:sp>
      <p:sp>
        <p:nvSpPr>
          <p:cNvPr id="305" name="Google Shape;305;p19"/>
          <p:cNvSpPr/>
          <p:nvPr/>
        </p:nvSpPr>
        <p:spPr>
          <a:xfrm>
            <a:off x="457200" y="9601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9"/>
          <p:cNvSpPr txBox="1"/>
          <p:nvPr/>
        </p:nvSpPr>
        <p:spPr>
          <a:xfrm>
            <a:off x="365760" y="1097280"/>
            <a:ext cx="5943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00D4AA"/>
                </a:solidFill>
                <a:latin typeface="Calibri"/>
                <a:ea typeface="Calibri"/>
                <a:cs typeface="Calibri"/>
                <a:sym typeface="Calibri"/>
              </a:rPr>
              <a:t>Research Paper → Dataset Collected</a:t>
            </a:r>
            <a:endParaRPr/>
          </a:p>
        </p:txBody>
      </p:sp>
      <p:sp>
        <p:nvSpPr>
          <p:cNvPr id="307" name="Google Shape;307;p19"/>
          <p:cNvSpPr/>
          <p:nvPr/>
        </p:nvSpPr>
        <p:spPr>
          <a:xfrm>
            <a:off x="365760" y="1417320"/>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9"/>
          <p:cNvSpPr txBox="1"/>
          <p:nvPr/>
        </p:nvSpPr>
        <p:spPr>
          <a:xfrm>
            <a:off x="457200" y="1444752"/>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00D4AA"/>
                </a:solidFill>
                <a:latin typeface="Calibri"/>
                <a:ea typeface="Calibri"/>
                <a:cs typeface="Calibri"/>
                <a:sym typeface="Calibri"/>
              </a:rPr>
              <a:t>Wang &amp; Zhang (2024)</a:t>
            </a:r>
            <a:endParaRPr/>
          </a:p>
        </p:txBody>
      </p:sp>
      <p:sp>
        <p:nvSpPr>
          <p:cNvPr id="309" name="Google Shape;309;p19"/>
          <p:cNvSpPr txBox="1"/>
          <p:nvPr/>
        </p:nvSpPr>
        <p:spPr>
          <a:xfrm>
            <a:off x="457200" y="1636776"/>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J. Futures Markets</a:t>
            </a:r>
            <a:endParaRPr/>
          </a:p>
        </p:txBody>
      </p:sp>
      <p:sp>
        <p:nvSpPr>
          <p:cNvPr id="310" name="Google Shape;310;p19"/>
          <p:cNvSpPr txBox="1"/>
          <p:nvPr/>
        </p:nvSpPr>
        <p:spPr>
          <a:xfrm>
            <a:off x="2514600" y="1508760"/>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11" name="Google Shape;311;p19"/>
          <p:cNvSpPr txBox="1"/>
          <p:nvPr/>
        </p:nvSpPr>
        <p:spPr>
          <a:xfrm>
            <a:off x="2788920" y="1463040"/>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CFTC COT</a:t>
            </a:r>
            <a:endParaRPr/>
          </a:p>
        </p:txBody>
      </p:sp>
      <p:sp>
        <p:nvSpPr>
          <p:cNvPr id="312" name="Google Shape;312;p19"/>
          <p:cNvSpPr txBox="1"/>
          <p:nvPr/>
        </p:nvSpPr>
        <p:spPr>
          <a:xfrm>
            <a:off x="2788920" y="1664208"/>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Sharpe 2.07</a:t>
            </a:r>
            <a:endParaRPr/>
          </a:p>
        </p:txBody>
      </p:sp>
      <p:sp>
        <p:nvSpPr>
          <p:cNvPr id="313" name="Google Shape;313;p19"/>
          <p:cNvSpPr/>
          <p:nvPr/>
        </p:nvSpPr>
        <p:spPr>
          <a:xfrm>
            <a:off x="4663440" y="1554480"/>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19"/>
          <p:cNvSpPr/>
          <p:nvPr/>
        </p:nvSpPr>
        <p:spPr>
          <a:xfrm>
            <a:off x="365760" y="1929384"/>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19"/>
          <p:cNvSpPr txBox="1"/>
          <p:nvPr/>
        </p:nvSpPr>
        <p:spPr>
          <a:xfrm>
            <a:off x="457200" y="1956816"/>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54A0FF"/>
                </a:solidFill>
                <a:latin typeface="Calibri"/>
                <a:ea typeface="Calibri"/>
                <a:cs typeface="Calibri"/>
                <a:sym typeface="Calibri"/>
              </a:rPr>
              <a:t>Manogna et al. (2025)</a:t>
            </a:r>
            <a:endParaRPr/>
          </a:p>
        </p:txBody>
      </p:sp>
      <p:sp>
        <p:nvSpPr>
          <p:cNvPr id="316" name="Google Shape;316;p19"/>
          <p:cNvSpPr txBox="1"/>
          <p:nvPr/>
        </p:nvSpPr>
        <p:spPr>
          <a:xfrm>
            <a:off x="457200" y="2148840"/>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Scientific Reports</a:t>
            </a:r>
            <a:endParaRPr/>
          </a:p>
        </p:txBody>
      </p:sp>
      <p:sp>
        <p:nvSpPr>
          <p:cNvPr id="317" name="Google Shape;317;p19"/>
          <p:cNvSpPr txBox="1"/>
          <p:nvPr/>
        </p:nvSpPr>
        <p:spPr>
          <a:xfrm>
            <a:off x="2514600" y="2020824"/>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18" name="Google Shape;318;p19"/>
          <p:cNvSpPr txBox="1"/>
          <p:nvPr/>
        </p:nvSpPr>
        <p:spPr>
          <a:xfrm>
            <a:off x="2788920" y="1975104"/>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Corn, Soy, Oil, USD, Gold</a:t>
            </a:r>
            <a:endParaRPr/>
          </a:p>
        </p:txBody>
      </p:sp>
      <p:sp>
        <p:nvSpPr>
          <p:cNvPr id="319" name="Google Shape;319;p19"/>
          <p:cNvSpPr txBox="1"/>
          <p:nvPr/>
        </p:nvSpPr>
        <p:spPr>
          <a:xfrm>
            <a:off x="2788920" y="2176272"/>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GRU best w/ cross-commodity</a:t>
            </a:r>
            <a:endParaRPr/>
          </a:p>
        </p:txBody>
      </p:sp>
      <p:sp>
        <p:nvSpPr>
          <p:cNvPr id="320" name="Google Shape;320;p19"/>
          <p:cNvSpPr/>
          <p:nvPr/>
        </p:nvSpPr>
        <p:spPr>
          <a:xfrm>
            <a:off x="4663440" y="2066544"/>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19"/>
          <p:cNvSpPr/>
          <p:nvPr/>
        </p:nvSpPr>
        <p:spPr>
          <a:xfrm>
            <a:off x="365760" y="2441448"/>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19"/>
          <p:cNvSpPr txBox="1"/>
          <p:nvPr/>
        </p:nvSpPr>
        <p:spPr>
          <a:xfrm>
            <a:off x="457200" y="2468880"/>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9F43"/>
                </a:solidFill>
                <a:latin typeface="Calibri"/>
                <a:ea typeface="Calibri"/>
                <a:cs typeface="Calibri"/>
                <a:sym typeface="Calibri"/>
              </a:rPr>
              <a:t>Gutierrez &amp; Taieb (2021)</a:t>
            </a:r>
            <a:endParaRPr/>
          </a:p>
        </p:txBody>
      </p:sp>
      <p:sp>
        <p:nvSpPr>
          <p:cNvPr id="323" name="Google Shape;323;p19"/>
          <p:cNvSpPr txBox="1"/>
          <p:nvPr/>
        </p:nvSpPr>
        <p:spPr>
          <a:xfrm>
            <a:off x="457200" y="2660904"/>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Econ. of Agriculture</a:t>
            </a:r>
            <a:endParaRPr/>
          </a:p>
        </p:txBody>
      </p:sp>
      <p:sp>
        <p:nvSpPr>
          <p:cNvPr id="324" name="Google Shape;324;p19"/>
          <p:cNvSpPr txBox="1"/>
          <p:nvPr/>
        </p:nvSpPr>
        <p:spPr>
          <a:xfrm>
            <a:off x="2514600" y="2532888"/>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25" name="Google Shape;325;p19"/>
          <p:cNvSpPr txBox="1"/>
          <p:nvPr/>
        </p:nvSpPr>
        <p:spPr>
          <a:xfrm>
            <a:off x="2788920" y="2487168"/>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Google Trends</a:t>
            </a:r>
            <a:endParaRPr/>
          </a:p>
        </p:txBody>
      </p:sp>
      <p:sp>
        <p:nvSpPr>
          <p:cNvPr id="326" name="Google Shape;326;p19"/>
          <p:cNvSpPr txBox="1"/>
          <p:nvPr/>
        </p:nvSpPr>
        <p:spPr>
          <a:xfrm>
            <a:off x="2788920" y="2688336"/>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Granger causality confirmed</a:t>
            </a:r>
            <a:endParaRPr/>
          </a:p>
        </p:txBody>
      </p:sp>
      <p:sp>
        <p:nvSpPr>
          <p:cNvPr id="327" name="Google Shape;327;p19"/>
          <p:cNvSpPr/>
          <p:nvPr/>
        </p:nvSpPr>
        <p:spPr>
          <a:xfrm>
            <a:off x="4663440" y="2578608"/>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9"/>
          <p:cNvSpPr/>
          <p:nvPr/>
        </p:nvSpPr>
        <p:spPr>
          <a:xfrm>
            <a:off x="365760" y="2953512"/>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9"/>
          <p:cNvSpPr txBox="1"/>
          <p:nvPr/>
        </p:nvSpPr>
        <p:spPr>
          <a:xfrm>
            <a:off x="457200" y="2980944"/>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9F43"/>
                </a:solidFill>
                <a:latin typeface="Calibri"/>
                <a:ea typeface="Calibri"/>
                <a:cs typeface="Calibri"/>
                <a:sym typeface="Calibri"/>
              </a:rPr>
              <a:t>Wang et al. (2023)</a:t>
            </a:r>
            <a:endParaRPr/>
          </a:p>
        </p:txBody>
      </p:sp>
      <p:sp>
        <p:nvSpPr>
          <p:cNvPr id="330" name="Google Shape;330;p19"/>
          <p:cNvSpPr txBox="1"/>
          <p:nvPr/>
        </p:nvSpPr>
        <p:spPr>
          <a:xfrm>
            <a:off x="457200" y="3172968"/>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J. Sustainable Ag.</a:t>
            </a:r>
            <a:endParaRPr/>
          </a:p>
        </p:txBody>
      </p:sp>
      <p:sp>
        <p:nvSpPr>
          <p:cNvPr id="331" name="Google Shape;331;p19"/>
          <p:cNvSpPr txBox="1"/>
          <p:nvPr/>
        </p:nvSpPr>
        <p:spPr>
          <a:xfrm>
            <a:off x="2514600" y="3044952"/>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32" name="Google Shape;332;p19"/>
          <p:cNvSpPr txBox="1"/>
          <p:nvPr/>
        </p:nvSpPr>
        <p:spPr>
          <a:xfrm>
            <a:off x="2788920" y="2999232"/>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Weather (KS + ND)</a:t>
            </a:r>
            <a:endParaRPr/>
          </a:p>
        </p:txBody>
      </p:sp>
      <p:sp>
        <p:nvSpPr>
          <p:cNvPr id="333" name="Google Shape;333;p19"/>
          <p:cNvSpPr txBox="1"/>
          <p:nvPr/>
        </p:nvSpPr>
        <p:spPr>
          <a:xfrm>
            <a:off x="2788920" y="3200400"/>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SWE &gt; precipitation</a:t>
            </a:r>
            <a:endParaRPr/>
          </a:p>
        </p:txBody>
      </p:sp>
      <p:sp>
        <p:nvSpPr>
          <p:cNvPr id="334" name="Google Shape;334;p19"/>
          <p:cNvSpPr/>
          <p:nvPr/>
        </p:nvSpPr>
        <p:spPr>
          <a:xfrm>
            <a:off x="4663440" y="3090672"/>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19"/>
          <p:cNvSpPr/>
          <p:nvPr/>
        </p:nvSpPr>
        <p:spPr>
          <a:xfrm>
            <a:off x="365760" y="3465576"/>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19"/>
          <p:cNvSpPr txBox="1"/>
          <p:nvPr/>
        </p:nvSpPr>
        <p:spPr>
          <a:xfrm>
            <a:off x="457200" y="3493008"/>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00D4AA"/>
                </a:solidFill>
                <a:latin typeface="Calibri"/>
                <a:ea typeface="Calibri"/>
                <a:cs typeface="Calibri"/>
                <a:sym typeface="Calibri"/>
              </a:rPr>
              <a:t>Guida (2025)</a:t>
            </a:r>
            <a:endParaRPr/>
          </a:p>
        </p:txBody>
      </p:sp>
      <p:sp>
        <p:nvSpPr>
          <p:cNvPr id="337" name="Google Shape;337;p19"/>
          <p:cNvSpPr txBox="1"/>
          <p:nvPr/>
        </p:nvSpPr>
        <p:spPr>
          <a:xfrm>
            <a:off x="457200" y="3685032"/>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CFA Institute</a:t>
            </a:r>
            <a:endParaRPr/>
          </a:p>
        </p:txBody>
      </p:sp>
      <p:sp>
        <p:nvSpPr>
          <p:cNvPr id="338" name="Google Shape;338;p19"/>
          <p:cNvSpPr txBox="1"/>
          <p:nvPr/>
        </p:nvSpPr>
        <p:spPr>
          <a:xfrm>
            <a:off x="2514600" y="3557016"/>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39" name="Google Shape;339;p19"/>
          <p:cNvSpPr txBox="1"/>
          <p:nvPr/>
        </p:nvSpPr>
        <p:spPr>
          <a:xfrm>
            <a:off x="2788920" y="3511296"/>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Tech Indicators (OHLCV)</a:t>
            </a:r>
            <a:endParaRPr/>
          </a:p>
        </p:txBody>
      </p:sp>
      <p:sp>
        <p:nvSpPr>
          <p:cNvPr id="340" name="Google Shape;340;p19"/>
          <p:cNvSpPr txBox="1"/>
          <p:nvPr/>
        </p:nvSpPr>
        <p:spPr>
          <a:xfrm>
            <a:off x="2788920" y="3712464"/>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Momentum = #1 predictor</a:t>
            </a:r>
            <a:endParaRPr/>
          </a:p>
        </p:txBody>
      </p:sp>
      <p:sp>
        <p:nvSpPr>
          <p:cNvPr id="341" name="Google Shape;341;p19"/>
          <p:cNvSpPr/>
          <p:nvPr/>
        </p:nvSpPr>
        <p:spPr>
          <a:xfrm>
            <a:off x="4663440" y="3602736"/>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19"/>
          <p:cNvSpPr/>
          <p:nvPr/>
        </p:nvSpPr>
        <p:spPr>
          <a:xfrm>
            <a:off x="365760" y="3977640"/>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19"/>
          <p:cNvSpPr txBox="1"/>
          <p:nvPr/>
        </p:nvSpPr>
        <p:spPr>
          <a:xfrm>
            <a:off x="457200" y="4005072"/>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54A0FF"/>
                </a:solidFill>
                <a:latin typeface="Calibri"/>
                <a:ea typeface="Calibri"/>
                <a:cs typeface="Calibri"/>
                <a:sym typeface="Calibri"/>
              </a:rPr>
              <a:t>Teste (2025)</a:t>
            </a:r>
            <a:endParaRPr/>
          </a:p>
        </p:txBody>
      </p:sp>
      <p:sp>
        <p:nvSpPr>
          <p:cNvPr id="344" name="Google Shape;344;p19"/>
          <p:cNvSpPr txBox="1"/>
          <p:nvPr/>
        </p:nvSpPr>
        <p:spPr>
          <a:xfrm>
            <a:off x="457200" y="4197096"/>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PhD Thesis</a:t>
            </a:r>
            <a:endParaRPr/>
          </a:p>
        </p:txBody>
      </p:sp>
      <p:sp>
        <p:nvSpPr>
          <p:cNvPr id="345" name="Google Shape;345;p19"/>
          <p:cNvSpPr txBox="1"/>
          <p:nvPr/>
        </p:nvSpPr>
        <p:spPr>
          <a:xfrm>
            <a:off x="2514600" y="4069080"/>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46" name="Google Shape;346;p19"/>
          <p:cNvSpPr txBox="1"/>
          <p:nvPr/>
        </p:nvSpPr>
        <p:spPr>
          <a:xfrm>
            <a:off x="2788920" y="4023360"/>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NASA POWER + NDVI*</a:t>
            </a:r>
            <a:endParaRPr/>
          </a:p>
        </p:txBody>
      </p:sp>
      <p:sp>
        <p:nvSpPr>
          <p:cNvPr id="347" name="Google Shape;347;p19"/>
          <p:cNvSpPr txBox="1"/>
          <p:nvPr/>
        </p:nvSpPr>
        <p:spPr>
          <a:xfrm>
            <a:off x="2788920" y="4224528"/>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24% return on wheat</a:t>
            </a:r>
            <a:endParaRPr/>
          </a:p>
        </p:txBody>
      </p:sp>
      <p:sp>
        <p:nvSpPr>
          <p:cNvPr id="348" name="Google Shape;348;p19"/>
          <p:cNvSpPr/>
          <p:nvPr/>
        </p:nvSpPr>
        <p:spPr>
          <a:xfrm>
            <a:off x="4663440" y="4114800"/>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19"/>
          <p:cNvSpPr/>
          <p:nvPr/>
        </p:nvSpPr>
        <p:spPr>
          <a:xfrm>
            <a:off x="365760" y="4489704"/>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19"/>
          <p:cNvSpPr txBox="1"/>
          <p:nvPr/>
        </p:nvSpPr>
        <p:spPr>
          <a:xfrm>
            <a:off x="457200" y="4517136"/>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6B9D"/>
                </a:solidFill>
                <a:latin typeface="Calibri"/>
                <a:ea typeface="Calibri"/>
                <a:cs typeface="Calibri"/>
                <a:sym typeface="Calibri"/>
              </a:rPr>
              <a:t>Ghali et al. (2024)</a:t>
            </a:r>
            <a:endParaRPr/>
          </a:p>
        </p:txBody>
      </p:sp>
      <p:sp>
        <p:nvSpPr>
          <p:cNvPr id="351" name="Google Shape;351;p19"/>
          <p:cNvSpPr txBox="1"/>
          <p:nvPr/>
        </p:nvSpPr>
        <p:spPr>
          <a:xfrm>
            <a:off x="457200" y="4709160"/>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arXiv</a:t>
            </a:r>
            <a:endParaRPr/>
          </a:p>
        </p:txBody>
      </p:sp>
      <p:sp>
        <p:nvSpPr>
          <p:cNvPr id="352" name="Google Shape;352;p19"/>
          <p:cNvSpPr txBox="1"/>
          <p:nvPr/>
        </p:nvSpPr>
        <p:spPr>
          <a:xfrm>
            <a:off x="2514600" y="4581144"/>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53" name="Google Shape;353;p19"/>
          <p:cNvSpPr txBox="1"/>
          <p:nvPr/>
        </p:nvSpPr>
        <p:spPr>
          <a:xfrm>
            <a:off x="2788920" y="4535424"/>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News Sentiment*</a:t>
            </a:r>
            <a:endParaRPr/>
          </a:p>
        </p:txBody>
      </p:sp>
      <p:sp>
        <p:nvSpPr>
          <p:cNvPr id="354" name="Google Shape;354;p19"/>
          <p:cNvSpPr txBox="1"/>
          <p:nvPr/>
        </p:nvSpPr>
        <p:spPr>
          <a:xfrm>
            <a:off x="2788920" y="4736592"/>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AUC 0.94 -&gt; 0.46 without</a:t>
            </a:r>
            <a:endParaRPr/>
          </a:p>
        </p:txBody>
      </p:sp>
      <p:sp>
        <p:nvSpPr>
          <p:cNvPr id="355" name="Google Shape;355;p19"/>
          <p:cNvSpPr/>
          <p:nvPr/>
        </p:nvSpPr>
        <p:spPr>
          <a:xfrm>
            <a:off x="4663440" y="4626864"/>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19"/>
          <p:cNvSpPr/>
          <p:nvPr/>
        </p:nvSpPr>
        <p:spPr>
          <a:xfrm>
            <a:off x="365760" y="5001768"/>
            <a:ext cx="5943600" cy="475488"/>
          </a:xfrm>
          <a:prstGeom prst="roundRect">
            <a:avLst>
              <a:gd fmla="val 16667" name="adj"/>
            </a:avLst>
          </a:prstGeom>
          <a:solidFill>
            <a:srgbClr val="2424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19"/>
          <p:cNvSpPr txBox="1"/>
          <p:nvPr/>
        </p:nvSpPr>
        <p:spPr>
          <a:xfrm>
            <a:off x="457200" y="5029200"/>
            <a:ext cx="21031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6B9D"/>
                </a:solidFill>
                <a:latin typeface="Calibri"/>
                <a:ea typeface="Calibri"/>
                <a:cs typeface="Calibri"/>
                <a:sym typeface="Calibri"/>
              </a:rPr>
              <a:t>Isengildina (2023)</a:t>
            </a:r>
            <a:endParaRPr/>
          </a:p>
        </p:txBody>
      </p:sp>
      <p:sp>
        <p:nvSpPr>
          <p:cNvPr id="358" name="Google Shape;358;p19"/>
          <p:cNvSpPr txBox="1"/>
          <p:nvPr/>
        </p:nvSpPr>
        <p:spPr>
          <a:xfrm>
            <a:off x="457200" y="5221224"/>
            <a:ext cx="21031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Virginia Tech</a:t>
            </a:r>
            <a:endParaRPr/>
          </a:p>
        </p:txBody>
      </p:sp>
      <p:sp>
        <p:nvSpPr>
          <p:cNvPr id="359" name="Google Shape;359;p19"/>
          <p:cNvSpPr txBox="1"/>
          <p:nvPr/>
        </p:nvSpPr>
        <p:spPr>
          <a:xfrm>
            <a:off x="2514600" y="5093208"/>
            <a:ext cx="2743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9999AA"/>
                </a:solidFill>
                <a:latin typeface="Calibri"/>
                <a:ea typeface="Calibri"/>
                <a:cs typeface="Calibri"/>
                <a:sym typeface="Calibri"/>
              </a:rPr>
              <a:t>-&gt;</a:t>
            </a:r>
            <a:endParaRPr/>
          </a:p>
        </p:txBody>
      </p:sp>
      <p:sp>
        <p:nvSpPr>
          <p:cNvPr id="360" name="Google Shape;360;p19"/>
          <p:cNvSpPr txBox="1"/>
          <p:nvPr/>
        </p:nvSpPr>
        <p:spPr>
          <a:xfrm>
            <a:off x="2788920" y="5047488"/>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FFFFFF"/>
                </a:solidFill>
                <a:latin typeface="Calibri"/>
                <a:ea typeface="Calibri"/>
                <a:cs typeface="Calibri"/>
                <a:sym typeface="Calibri"/>
              </a:rPr>
              <a:t>USDA Crop Progress*</a:t>
            </a:r>
            <a:endParaRPr/>
          </a:p>
        </p:txBody>
      </p:sp>
      <p:sp>
        <p:nvSpPr>
          <p:cNvPr id="361" name="Google Shape;361;p19"/>
          <p:cNvSpPr txBox="1"/>
          <p:nvPr/>
        </p:nvSpPr>
        <p:spPr>
          <a:xfrm>
            <a:off x="2788920" y="5248656"/>
            <a:ext cx="18288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FF9F43"/>
                </a:solidFill>
                <a:latin typeface="Calibri"/>
                <a:ea typeface="Calibri"/>
                <a:cs typeface="Calibri"/>
                <a:sym typeface="Calibri"/>
              </a:rPr>
              <a:t>&gt;70% price variance</a:t>
            </a:r>
            <a:endParaRPr/>
          </a:p>
        </p:txBody>
      </p:sp>
      <p:sp>
        <p:nvSpPr>
          <p:cNvPr id="362" name="Google Shape;362;p19"/>
          <p:cNvSpPr/>
          <p:nvPr/>
        </p:nvSpPr>
        <p:spPr>
          <a:xfrm>
            <a:off x="4663440" y="5138928"/>
            <a:ext cx="1554480" cy="12700"/>
          </a:xfrm>
          <a:prstGeom prst="rect">
            <a:avLst/>
          </a:prstGeom>
          <a:solidFill>
            <a:srgbClr val="2D2D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19"/>
          <p:cNvSpPr txBox="1"/>
          <p:nvPr/>
        </p:nvSpPr>
        <p:spPr>
          <a:xfrm>
            <a:off x="457200" y="5559552"/>
            <a:ext cx="57607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50" u="none" cap="none" strike="noStrike">
                <a:solidFill>
                  <a:srgbClr val="9999AA"/>
                </a:solidFill>
                <a:latin typeface="Calibri"/>
                <a:ea typeface="Calibri"/>
                <a:cs typeface="Calibri"/>
                <a:sym typeface="Calibri"/>
              </a:rPr>
              <a:t>* Needs auth (Earth Engine / API key / rate-limited) - identified, not yet implemented</a:t>
            </a:r>
            <a:endParaRPr/>
          </a:p>
        </p:txBody>
      </p:sp>
      <p:sp>
        <p:nvSpPr>
          <p:cNvPr id="364" name="Google Shape;364;p19"/>
          <p:cNvSpPr txBox="1"/>
          <p:nvPr/>
        </p:nvSpPr>
        <p:spPr>
          <a:xfrm>
            <a:off x="6492240" y="1097280"/>
            <a:ext cx="53035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0D4AA"/>
                </a:solidFill>
                <a:latin typeface="Calibri"/>
                <a:ea typeface="Calibri"/>
                <a:cs typeface="Calibri"/>
                <a:sym typeface="Calibri"/>
              </a:rPr>
              <a:t>Results (BiGRU, Optuna-tuned, same 4,605 samples)</a:t>
            </a:r>
            <a:endParaRPr/>
          </a:p>
        </p:txBody>
      </p:sp>
      <p:sp>
        <p:nvSpPr>
          <p:cNvPr id="365" name="Google Shape;365;p19"/>
          <p:cNvSpPr/>
          <p:nvPr/>
        </p:nvSpPr>
        <p:spPr>
          <a:xfrm>
            <a:off x="6492240" y="2743200"/>
            <a:ext cx="5029200" cy="594360"/>
          </a:xfrm>
          <a:prstGeom prst="roundRect">
            <a:avLst>
              <a:gd fmla="val 16667" name="adj"/>
            </a:avLst>
          </a:prstGeom>
          <a:solidFill>
            <a:srgbClr val="5706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9"/>
          <p:cNvSpPr txBox="1"/>
          <p:nvPr/>
        </p:nvSpPr>
        <p:spPr>
          <a:xfrm>
            <a:off x="6629400" y="2770632"/>
            <a:ext cx="47548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D700"/>
                </a:solidFill>
                <a:latin typeface="Calibri"/>
                <a:ea typeface="Calibri"/>
                <a:cs typeface="Calibri"/>
                <a:sym typeface="Calibri"/>
              </a:rPr>
              <a:t>Alt Data AUC (0.550) &gt; FRED-MD AUC (0.538)</a:t>
            </a:r>
            <a:endParaRPr/>
          </a:p>
        </p:txBody>
      </p:sp>
      <p:sp>
        <p:nvSpPr>
          <p:cNvPr id="367" name="Google Shape;367;p19"/>
          <p:cNvSpPr txBox="1"/>
          <p:nvPr/>
        </p:nvSpPr>
        <p:spPr>
          <a:xfrm>
            <a:off x="6629400" y="3017520"/>
            <a:ext cx="47548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BBBCC"/>
                </a:solidFill>
                <a:latin typeface="Calibri"/>
                <a:ea typeface="Calibri"/>
                <a:cs typeface="Calibri"/>
                <a:sym typeface="Calibri"/>
              </a:rPr>
              <a:t>Wheat-specific data outperforms macro indicators for direction prediction</a:t>
            </a:r>
            <a:endParaRPr/>
          </a:p>
        </p:txBody>
      </p:sp>
      <p:sp>
        <p:nvSpPr>
          <p:cNvPr id="368" name="Google Shape;368;p19"/>
          <p:cNvSpPr txBox="1"/>
          <p:nvPr/>
        </p:nvSpPr>
        <p:spPr>
          <a:xfrm>
            <a:off x="6492240" y="3474720"/>
            <a:ext cx="5029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9999AA"/>
                </a:solidFill>
                <a:latin typeface="Calibri"/>
                <a:ea typeface="Calibri"/>
                <a:cs typeface="Calibri"/>
                <a:sym typeface="Calibri"/>
              </a:rPr>
              <a:t>Exp B (80 features) collapsed to all-Up predictions - BiGRU limitation</a:t>
            </a:r>
            <a:br>
              <a:rPr b="0" i="0" lang="en-US" sz="750" u="none" cap="none" strike="noStrike">
                <a:solidFill>
                  <a:srgbClr val="9999AA"/>
                </a:solidFill>
                <a:latin typeface="Calibri"/>
                <a:ea typeface="Calibri"/>
                <a:cs typeface="Calibri"/>
                <a:sym typeface="Calibri"/>
              </a:rPr>
            </a:br>
            <a:r>
              <a:rPr b="0" i="0" lang="en-US" sz="750" u="none" cap="none" strike="noStrike">
                <a:solidFill>
                  <a:srgbClr val="9999AA"/>
                </a:solidFill>
                <a:latin typeface="Calibri"/>
                <a:ea typeface="Calibri"/>
                <a:cs typeface="Calibri"/>
                <a:sym typeface="Calibri"/>
              </a:rPr>
              <a:t>with high-dimensional input. Next step: XGBoost/LightGBM.</a:t>
            </a:r>
            <a:endParaRPr/>
          </a:p>
        </p:txBody>
      </p:sp>
      <p:sp>
        <p:nvSpPr>
          <p:cNvPr id="369" name="Google Shape;369;p19"/>
          <p:cNvSpPr txBox="1"/>
          <p:nvPr/>
        </p:nvSpPr>
        <p:spPr>
          <a:xfrm>
            <a:off x="6492240" y="3886200"/>
            <a:ext cx="53035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0D4AA"/>
                </a:solidFill>
                <a:latin typeface="Calibri"/>
                <a:ea typeface="Calibri"/>
                <a:cs typeface="Calibri"/>
                <a:sym typeface="Calibri"/>
              </a:rPr>
              <a:t>13 Data Sources Collected</a:t>
            </a:r>
            <a:endParaRPr/>
          </a:p>
        </p:txBody>
      </p:sp>
      <p:sp>
        <p:nvSpPr>
          <p:cNvPr id="370" name="Google Shape;370;p19"/>
          <p:cNvSpPr/>
          <p:nvPr/>
        </p:nvSpPr>
        <p:spPr>
          <a:xfrm>
            <a:off x="6492240" y="4206240"/>
            <a:ext cx="1188720" cy="256032"/>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19"/>
          <p:cNvSpPr txBox="1"/>
          <p:nvPr/>
        </p:nvSpPr>
        <p:spPr>
          <a:xfrm>
            <a:off x="6492240" y="4206240"/>
            <a:ext cx="11887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00" u="none" cap="none" strike="noStrike">
                <a:solidFill>
                  <a:srgbClr val="00D4AA"/>
                </a:solidFill>
                <a:latin typeface="Calibri"/>
                <a:ea typeface="Calibri"/>
                <a:cs typeface="Calibri"/>
                <a:sym typeface="Calibri"/>
              </a:rPr>
              <a:t>POSITIONING</a:t>
            </a:r>
            <a:endParaRPr/>
          </a:p>
        </p:txBody>
      </p:sp>
      <p:sp>
        <p:nvSpPr>
          <p:cNvPr id="372" name="Google Shape;372;p19"/>
          <p:cNvSpPr txBox="1"/>
          <p:nvPr/>
        </p:nvSpPr>
        <p:spPr>
          <a:xfrm>
            <a:off x="7772400" y="4233672"/>
            <a:ext cx="3657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BBBBCC"/>
                </a:solidFill>
                <a:latin typeface="Calibri"/>
                <a:ea typeface="Calibri"/>
                <a:cs typeface="Calibri"/>
                <a:sym typeface="Calibri"/>
              </a:rPr>
              <a:t>CFTC COT  |  VIX  |  OVX</a:t>
            </a:r>
            <a:endParaRPr/>
          </a:p>
        </p:txBody>
      </p:sp>
      <p:sp>
        <p:nvSpPr>
          <p:cNvPr id="373" name="Google Shape;373;p19"/>
          <p:cNvSpPr/>
          <p:nvPr/>
        </p:nvSpPr>
        <p:spPr>
          <a:xfrm>
            <a:off x="6492240" y="4507992"/>
            <a:ext cx="1188720" cy="256032"/>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19"/>
          <p:cNvSpPr txBox="1"/>
          <p:nvPr/>
        </p:nvSpPr>
        <p:spPr>
          <a:xfrm>
            <a:off x="6492240" y="4507992"/>
            <a:ext cx="11887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00" u="none" cap="none" strike="noStrike">
                <a:solidFill>
                  <a:srgbClr val="54A0FF"/>
                </a:solidFill>
                <a:latin typeface="Calibri"/>
                <a:ea typeface="Calibri"/>
                <a:cs typeface="Calibri"/>
                <a:sym typeface="Calibri"/>
              </a:rPr>
              <a:t>DEMAND</a:t>
            </a:r>
            <a:endParaRPr/>
          </a:p>
        </p:txBody>
      </p:sp>
      <p:sp>
        <p:nvSpPr>
          <p:cNvPr id="375" name="Google Shape;375;p19"/>
          <p:cNvSpPr txBox="1"/>
          <p:nvPr/>
        </p:nvSpPr>
        <p:spPr>
          <a:xfrm>
            <a:off x="7772400" y="4535424"/>
            <a:ext cx="3657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BBBBCC"/>
                </a:solidFill>
                <a:latin typeface="Calibri"/>
                <a:ea typeface="Calibri"/>
                <a:cs typeface="Calibri"/>
                <a:sym typeface="Calibri"/>
              </a:rPr>
              <a:t>Corn  |  Soy  |  Oil  |  USD  |  Gold</a:t>
            </a:r>
            <a:endParaRPr/>
          </a:p>
        </p:txBody>
      </p:sp>
      <p:sp>
        <p:nvSpPr>
          <p:cNvPr id="376" name="Google Shape;376;p19"/>
          <p:cNvSpPr/>
          <p:nvPr/>
        </p:nvSpPr>
        <p:spPr>
          <a:xfrm>
            <a:off x="6492240" y="4809744"/>
            <a:ext cx="1188720" cy="256032"/>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9"/>
          <p:cNvSpPr txBox="1"/>
          <p:nvPr/>
        </p:nvSpPr>
        <p:spPr>
          <a:xfrm>
            <a:off x="6492240" y="4809744"/>
            <a:ext cx="11887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00" u="none" cap="none" strike="noStrike">
                <a:solidFill>
                  <a:srgbClr val="FF9F43"/>
                </a:solidFill>
                <a:latin typeface="Calibri"/>
                <a:ea typeface="Calibri"/>
                <a:cs typeface="Calibri"/>
                <a:sym typeface="Calibri"/>
              </a:rPr>
              <a:t>SUPPLY</a:t>
            </a:r>
            <a:endParaRPr/>
          </a:p>
        </p:txBody>
      </p:sp>
      <p:sp>
        <p:nvSpPr>
          <p:cNvPr id="378" name="Google Shape;378;p19"/>
          <p:cNvSpPr txBox="1"/>
          <p:nvPr/>
        </p:nvSpPr>
        <p:spPr>
          <a:xfrm>
            <a:off x="7772400" y="4837176"/>
            <a:ext cx="3657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BBBBCC"/>
                </a:solidFill>
                <a:latin typeface="Calibri"/>
                <a:ea typeface="Calibri"/>
                <a:cs typeface="Calibri"/>
                <a:sym typeface="Calibri"/>
              </a:rPr>
              <a:t>Weather KS  |  Weather ND  |  NASA POWER</a:t>
            </a:r>
            <a:endParaRPr/>
          </a:p>
        </p:txBody>
      </p:sp>
      <p:sp>
        <p:nvSpPr>
          <p:cNvPr id="379" name="Google Shape;379;p19"/>
          <p:cNvSpPr/>
          <p:nvPr/>
        </p:nvSpPr>
        <p:spPr>
          <a:xfrm>
            <a:off x="6492240" y="5111496"/>
            <a:ext cx="1188720" cy="256032"/>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19"/>
          <p:cNvSpPr txBox="1"/>
          <p:nvPr/>
        </p:nvSpPr>
        <p:spPr>
          <a:xfrm>
            <a:off x="6492240" y="5111496"/>
            <a:ext cx="11887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00" u="none" cap="none" strike="noStrike">
                <a:solidFill>
                  <a:srgbClr val="FF9F43"/>
                </a:solidFill>
                <a:latin typeface="Calibri"/>
                <a:ea typeface="Calibri"/>
                <a:cs typeface="Calibri"/>
                <a:sym typeface="Calibri"/>
              </a:rPr>
              <a:t>ATTENTION</a:t>
            </a:r>
            <a:endParaRPr/>
          </a:p>
        </p:txBody>
      </p:sp>
      <p:sp>
        <p:nvSpPr>
          <p:cNvPr id="381" name="Google Shape;381;p19"/>
          <p:cNvSpPr txBox="1"/>
          <p:nvPr/>
        </p:nvSpPr>
        <p:spPr>
          <a:xfrm>
            <a:off x="7772400" y="5138928"/>
            <a:ext cx="3657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BBBBCC"/>
                </a:solidFill>
                <a:latin typeface="Calibri"/>
                <a:ea typeface="Calibri"/>
                <a:cs typeface="Calibri"/>
                <a:sym typeface="Calibri"/>
              </a:rPr>
              <a:t>Google Trends (5 search terms)</a:t>
            </a:r>
            <a:endParaRPr/>
          </a:p>
        </p:txBody>
      </p:sp>
      <p:sp>
        <p:nvSpPr>
          <p:cNvPr id="382" name="Google Shape;382;p19"/>
          <p:cNvSpPr/>
          <p:nvPr/>
        </p:nvSpPr>
        <p:spPr>
          <a:xfrm>
            <a:off x="6492240" y="5413248"/>
            <a:ext cx="1188720" cy="256032"/>
          </a:xfrm>
          <a:prstGeom prst="roundRect">
            <a:avLst>
              <a:gd fmla="val 16667" name="adj"/>
            </a:avLst>
          </a:prstGeom>
          <a:solidFill>
            <a:srgbClr val="2D2D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19"/>
          <p:cNvSpPr txBox="1"/>
          <p:nvPr/>
        </p:nvSpPr>
        <p:spPr>
          <a:xfrm>
            <a:off x="6492240" y="5413248"/>
            <a:ext cx="11887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00" u="none" cap="none" strike="noStrike">
                <a:solidFill>
                  <a:srgbClr val="00D4AA"/>
                </a:solidFill>
                <a:latin typeface="Calibri"/>
                <a:ea typeface="Calibri"/>
                <a:cs typeface="Calibri"/>
                <a:sym typeface="Calibri"/>
              </a:rPr>
              <a:t>PRICE ACTION</a:t>
            </a:r>
            <a:endParaRPr/>
          </a:p>
        </p:txBody>
      </p:sp>
      <p:sp>
        <p:nvSpPr>
          <p:cNvPr id="384" name="Google Shape;384;p19"/>
          <p:cNvSpPr txBox="1"/>
          <p:nvPr/>
        </p:nvSpPr>
        <p:spPr>
          <a:xfrm>
            <a:off x="7772400" y="5440680"/>
            <a:ext cx="3657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BBBBCC"/>
                </a:solidFill>
                <a:latin typeface="Calibri"/>
                <a:ea typeface="Calibri"/>
                <a:cs typeface="Calibri"/>
                <a:sym typeface="Calibri"/>
              </a:rPr>
              <a:t>Momentum, RSI, MACD, Bollinger, ATR, Volume</a:t>
            </a:r>
            <a:endParaRPr/>
          </a:p>
        </p:txBody>
      </p:sp>
      <p:sp>
        <p:nvSpPr>
          <p:cNvPr id="385" name="Google Shape;385;p19"/>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390" name="Shape 390"/>
        <p:cNvGrpSpPr/>
        <p:nvPr/>
      </p:nvGrpSpPr>
      <p:grpSpPr>
        <a:xfrm>
          <a:off x="0" y="0"/>
          <a:ext cx="0" cy="0"/>
          <a:chOff x="0" y="0"/>
          <a:chExt cx="0" cy="0"/>
        </a:xfrm>
      </p:grpSpPr>
      <p:sp>
        <p:nvSpPr>
          <p:cNvPr id="391" name="Google Shape;391;p20"/>
          <p:cNvSpPr txBox="1"/>
          <p:nvPr/>
        </p:nvSpPr>
        <p:spPr>
          <a:xfrm>
            <a:off x="457200" y="274320"/>
            <a:ext cx="914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7068C"/>
                </a:solidFill>
                <a:latin typeface="Calibri"/>
                <a:ea typeface="Calibri"/>
                <a:cs typeface="Calibri"/>
                <a:sym typeface="Calibri"/>
              </a:rPr>
              <a:t>NYU</a:t>
            </a:r>
            <a:endParaRPr/>
          </a:p>
        </p:txBody>
      </p:sp>
      <p:sp>
        <p:nvSpPr>
          <p:cNvPr id="392" name="Google Shape;392;p20"/>
          <p:cNvSpPr txBox="1"/>
          <p:nvPr/>
        </p:nvSpPr>
        <p:spPr>
          <a:xfrm>
            <a:off x="457200" y="548640"/>
            <a:ext cx="914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Dataset Details — Features &amp; What They Provide</a:t>
            </a:r>
            <a:endParaRPr/>
          </a:p>
        </p:txBody>
      </p:sp>
      <p:sp>
        <p:nvSpPr>
          <p:cNvPr id="393" name="Google Shape;393;p20"/>
          <p:cNvSpPr/>
          <p:nvPr/>
        </p:nvSpPr>
        <p:spPr>
          <a:xfrm>
            <a:off x="457200" y="960120"/>
            <a:ext cx="1828800" cy="38100"/>
          </a:xfrm>
          <a:prstGeom prst="rect">
            <a:avLst/>
          </a:prstGeom>
          <a:solidFill>
            <a:srgbClr val="5706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94" name="Google Shape;394;p20"/>
          <p:cNvGraphicFramePr/>
          <p:nvPr/>
        </p:nvGraphicFramePr>
        <p:xfrm>
          <a:off x="274320" y="1097280"/>
          <a:ext cx="3000000" cy="3000000"/>
        </p:xfrm>
        <a:graphic>
          <a:graphicData uri="http://schemas.openxmlformats.org/drawingml/2006/table">
            <a:tbl>
              <a:tblPr bandRow="1" firstRow="1">
                <a:noFill/>
                <a:tableStyleId>{F3C23961-D168-414B-9536-515FB59A542D}</a:tableStyleId>
              </a:tblPr>
              <a:tblGrid>
                <a:gridCol w="2194550"/>
                <a:gridCol w="3474725"/>
                <a:gridCol w="5943600"/>
              </a:tblGrid>
              <a:tr h="391875">
                <a:tc>
                  <a:txBody>
                    <a:bodyPr/>
                    <a:lstStyle/>
                    <a:p>
                      <a:pPr indent="0" lvl="0" marL="0" marR="0" rtl="0" algn="ctr">
                        <a:spcBef>
                          <a:spcPts val="0"/>
                        </a:spcBef>
                        <a:spcAft>
                          <a:spcPts val="0"/>
                        </a:spcAft>
                        <a:buNone/>
                      </a:pPr>
                      <a:r>
                        <a:rPr lang="en-US" sz="1300" u="none" cap="none" strike="noStrike">
                          <a:solidFill>
                            <a:srgbClr val="FFFFFF"/>
                          </a:solidFill>
                        </a:rPr>
                        <a:t>Data Source</a:t>
                      </a:r>
                      <a:endParaRPr sz="1800"/>
                    </a:p>
                  </a:txBody>
                  <a:tcPr marT="45725" marB="45725" marR="91450" marL="91450">
                    <a:solidFill>
                      <a:srgbClr val="57068C"/>
                    </a:solidFill>
                  </a:tcPr>
                </a:tc>
                <a:tc>
                  <a:txBody>
                    <a:bodyPr/>
                    <a:lstStyle/>
                    <a:p>
                      <a:pPr indent="0" lvl="0" marL="0" marR="0" rtl="0" algn="ctr">
                        <a:spcBef>
                          <a:spcPts val="0"/>
                        </a:spcBef>
                        <a:spcAft>
                          <a:spcPts val="0"/>
                        </a:spcAft>
                        <a:buNone/>
                      </a:pPr>
                      <a:r>
                        <a:rPr lang="en-US" sz="1300" u="none" cap="none" strike="noStrike">
                          <a:solidFill>
                            <a:srgbClr val="FFFFFF"/>
                          </a:solidFill>
                        </a:rPr>
                        <a:t>Features Used</a:t>
                      </a:r>
                      <a:endParaRPr sz="1800"/>
                    </a:p>
                  </a:txBody>
                  <a:tcPr marT="45725" marB="45725" marR="91450" marL="91450">
                    <a:solidFill>
                      <a:srgbClr val="57068C"/>
                    </a:solidFill>
                  </a:tcPr>
                </a:tc>
                <a:tc>
                  <a:txBody>
                    <a:bodyPr/>
                    <a:lstStyle/>
                    <a:p>
                      <a:pPr indent="0" lvl="0" marL="0" marR="0" rtl="0" algn="ctr">
                        <a:spcBef>
                          <a:spcPts val="0"/>
                        </a:spcBef>
                        <a:spcAft>
                          <a:spcPts val="0"/>
                        </a:spcAft>
                        <a:buNone/>
                      </a:pPr>
                      <a:r>
                        <a:rPr lang="en-US" sz="1300" u="none" cap="none" strike="noStrike">
                          <a:solidFill>
                            <a:srgbClr val="FFFFFF"/>
                          </a:solidFill>
                        </a:rPr>
                        <a:t>What It Provides</a:t>
                      </a:r>
                      <a:endParaRPr sz="1800"/>
                    </a:p>
                  </a:txBody>
                  <a:tcPr marT="45725" marB="45725" marR="91450" marL="91450">
                    <a:solidFill>
                      <a:srgbClr val="57068C"/>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CFTC COT</a:t>
                      </a:r>
                      <a:endParaRPr sz="1800"/>
                    </a:p>
                    <a:p>
                      <a:pPr indent="0" lvl="0" marL="0" marR="0" rtl="0" algn="l">
                        <a:spcBef>
                          <a:spcPts val="0"/>
                        </a:spcBef>
                        <a:spcAft>
                          <a:spcPts val="0"/>
                        </a:spcAft>
                        <a:buNone/>
                      </a:pPr>
                      <a:r>
                        <a:rPr b="1" lang="en-US" sz="1100" u="none" cap="none" strike="noStrike">
                          <a:solidFill>
                            <a:srgbClr val="00D4AA"/>
                          </a:solidFill>
                        </a:rPr>
                        <a:t>cftc.gov | Weekly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hedge_pr, spec_se, pos_chg,</a:t>
                      </a:r>
                      <a:endParaRPr sz="1800"/>
                    </a:p>
                    <a:p>
                      <a:pPr indent="0" lvl="0" marL="0" marR="0" rtl="0" algn="l">
                        <a:spcBef>
                          <a:spcPts val="0"/>
                        </a:spcBef>
                        <a:spcAft>
                          <a:spcPts val="0"/>
                        </a:spcAft>
                        <a:buNone/>
                      </a:pPr>
                      <a:r>
                        <a:rPr lang="en-US" sz="1050" u="none" cap="none" strike="noStrike">
                          <a:solidFill>
                            <a:srgbClr val="FF9F43"/>
                          </a:solidFill>
                        </a:rPr>
                        <a:t>spec_z, oi_lev</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WHO is betting on wheat — hedge fund vs farmer</a:t>
                      </a:r>
                      <a:endParaRPr sz="1800"/>
                    </a:p>
                    <a:p>
                      <a:pPr indent="0" lvl="0" marL="0" marR="0" rtl="0" algn="l">
                        <a:spcBef>
                          <a:spcPts val="0"/>
                        </a:spcBef>
                        <a:spcAft>
                          <a:spcPts val="0"/>
                        </a:spcAft>
                        <a:buNone/>
                      </a:pPr>
                      <a:r>
                        <a:rPr lang="en-US" sz="1100" u="none" cap="none" strike="noStrike">
                          <a:solidFill>
                            <a:srgbClr val="BBBBCC"/>
                          </a:solidFill>
                        </a:rPr>
                        <a:t>positioning. Extreme positions signal reversals.</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Corn Futures</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corn_cl, wc_rat, wc_m20,</a:t>
                      </a:r>
                      <a:endParaRPr sz="1800"/>
                    </a:p>
                    <a:p>
                      <a:pPr indent="0" lvl="0" marL="0" marR="0" rtl="0" algn="l">
                        <a:spcBef>
                          <a:spcPts val="0"/>
                        </a:spcBef>
                        <a:spcAft>
                          <a:spcPts val="0"/>
                        </a:spcAft>
                        <a:buNone/>
                      </a:pPr>
                      <a:r>
                        <a:rPr lang="en-US" sz="1050" u="none" cap="none" strike="noStrike">
                          <a:solidFill>
                            <a:srgbClr val="FF9F43"/>
                          </a:solidFill>
                        </a:rPr>
                        <a:t>rel_cn</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Feed substitution pressure — when wheat is expensive</a:t>
                      </a:r>
                      <a:endParaRPr sz="1800"/>
                    </a:p>
                    <a:p>
                      <a:pPr indent="0" lvl="0" marL="0" marR="0" rtl="0" algn="l">
                        <a:spcBef>
                          <a:spcPts val="0"/>
                        </a:spcBef>
                        <a:spcAft>
                          <a:spcPts val="0"/>
                        </a:spcAft>
                        <a:buNone/>
                      </a:pPr>
                      <a:r>
                        <a:rPr lang="en-US" sz="1100" u="none" cap="none" strike="noStrike">
                          <a:solidFill>
                            <a:srgbClr val="BBBBCC"/>
                          </a:solidFill>
                        </a:rPr>
                        <a:t>relative to corn, demand shifts to corn.</a:t>
                      </a:r>
                      <a:endParaRPr sz="1800"/>
                    </a:p>
                  </a:txBody>
                  <a:tcPr marT="45725" marB="45725" marR="91450" marL="91450">
                    <a:solidFill>
                      <a:srgbClr val="2D2D4A"/>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Soybean Futures</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soy_cl, ws_rat, ws_m20</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Acreage competition — farmers choose between planting</a:t>
                      </a:r>
                      <a:endParaRPr sz="1800"/>
                    </a:p>
                    <a:p>
                      <a:pPr indent="0" lvl="0" marL="0" marR="0" rtl="0" algn="l">
                        <a:spcBef>
                          <a:spcPts val="0"/>
                        </a:spcBef>
                        <a:spcAft>
                          <a:spcPts val="0"/>
                        </a:spcAft>
                        <a:buNone/>
                      </a:pPr>
                      <a:r>
                        <a:rPr lang="en-US" sz="1100" u="none" cap="none" strike="noStrike">
                          <a:solidFill>
                            <a:srgbClr val="BBBBCC"/>
                          </a:solidFill>
                        </a:rPr>
                        <a:t>wheat or soybeans based on relative price.</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Crude Oil (WTI)</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oil_cl, rel_ol</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Input cost for farming — fertilizer, transportation,</a:t>
                      </a:r>
                      <a:endParaRPr sz="1800"/>
                    </a:p>
                    <a:p>
                      <a:pPr indent="0" lvl="0" marL="0" marR="0" rtl="0" algn="l">
                        <a:spcBef>
                          <a:spcPts val="0"/>
                        </a:spcBef>
                        <a:spcAft>
                          <a:spcPts val="0"/>
                        </a:spcAft>
                        <a:buNone/>
                      </a:pPr>
                      <a:r>
                        <a:rPr lang="en-US" sz="1100" u="none" cap="none" strike="noStrike">
                          <a:solidFill>
                            <a:srgbClr val="BBBBCC"/>
                          </a:solidFill>
                        </a:rPr>
                        <a:t>and grain drying are all oil-dependent.</a:t>
                      </a:r>
                      <a:endParaRPr sz="1800"/>
                    </a:p>
                  </a:txBody>
                  <a:tcPr marT="45725" marB="45725" marR="91450" marL="91450">
                    <a:solidFill>
                      <a:srgbClr val="2D2D4A"/>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USD Index</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usd_cl, usd_c10</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Wheat is traded globally in USD. Strong dollar makes</a:t>
                      </a:r>
                      <a:endParaRPr sz="1800"/>
                    </a:p>
                    <a:p>
                      <a:pPr indent="0" lvl="0" marL="0" marR="0" rtl="0" algn="l">
                        <a:spcBef>
                          <a:spcPts val="0"/>
                        </a:spcBef>
                        <a:spcAft>
                          <a:spcPts val="0"/>
                        </a:spcAft>
                        <a:buNone/>
                      </a:pPr>
                      <a:r>
                        <a:rPr lang="en-US" sz="1100" u="none" cap="none" strike="noStrike">
                          <a:solidFill>
                            <a:srgbClr val="BBBBCC"/>
                          </a:solidFill>
                        </a:rPr>
                        <a:t>wheat expensive for foreign buyers -&gt; less demand.</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Gold Futures</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gold_cl, gld_c10</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Inflation / safe-haven proxy. Gold and commodities</a:t>
                      </a:r>
                      <a:endParaRPr sz="1800"/>
                    </a:p>
                    <a:p>
                      <a:pPr indent="0" lvl="0" marL="0" marR="0" rtl="0" algn="l">
                        <a:spcBef>
                          <a:spcPts val="0"/>
                        </a:spcBef>
                        <a:spcAft>
                          <a:spcPts val="0"/>
                        </a:spcAft>
                        <a:buNone/>
                      </a:pPr>
                      <a:r>
                        <a:rPr lang="en-US" sz="1100" u="none" cap="none" strike="noStrike">
                          <a:solidFill>
                            <a:srgbClr val="BBBBCC"/>
                          </a:solidFill>
                        </a:rPr>
                        <a:t>move together during inflation fear periods.</a:t>
                      </a:r>
                      <a:endParaRPr sz="1800"/>
                    </a:p>
                  </a:txBody>
                  <a:tcPr marT="45725" marB="45725" marR="91450" marL="91450">
                    <a:solidFill>
                      <a:srgbClr val="2D2D4A"/>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Google Trends</a:t>
                      </a:r>
                      <a:endParaRPr sz="1800"/>
                    </a:p>
                    <a:p>
                      <a:pPr indent="0" lvl="0" marL="0" marR="0" rtl="0" algn="l">
                        <a:spcBef>
                          <a:spcPts val="0"/>
                        </a:spcBef>
                        <a:spcAft>
                          <a:spcPts val="0"/>
                        </a:spcAft>
                        <a:buNone/>
                      </a:pPr>
                      <a:r>
                        <a:rPr b="1" lang="en-US" sz="1100" u="none" cap="none" strike="noStrike">
                          <a:solidFill>
                            <a:srgbClr val="00D4AA"/>
                          </a:solidFill>
                        </a:rPr>
                        <a:t>trends.google.com | Weekly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wheat_price, wheat_futures,</a:t>
                      </a:r>
                      <a:endParaRPr sz="1800"/>
                    </a:p>
                    <a:p>
                      <a:pPr indent="0" lvl="0" marL="0" marR="0" rtl="0" algn="l">
                        <a:spcBef>
                          <a:spcPts val="0"/>
                        </a:spcBef>
                        <a:spcAft>
                          <a:spcPts val="0"/>
                        </a:spcAft>
                        <a:buNone/>
                      </a:pPr>
                      <a:r>
                        <a:rPr lang="en-US" sz="1050" u="none" cap="none" strike="noStrike">
                          <a:solidFill>
                            <a:srgbClr val="FF9F43"/>
                          </a:solidFill>
                        </a:rPr>
                        <a:t>drought, crop_failure, USDA_report</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Public attention — search spikes for 'drought' or</a:t>
                      </a:r>
                      <a:endParaRPr sz="1800"/>
                    </a:p>
                    <a:p>
                      <a:pPr indent="0" lvl="0" marL="0" marR="0" rtl="0" algn="l">
                        <a:spcBef>
                          <a:spcPts val="0"/>
                        </a:spcBef>
                        <a:spcAft>
                          <a:spcPts val="0"/>
                        </a:spcAft>
                        <a:buNone/>
                      </a:pPr>
                      <a:r>
                        <a:rPr lang="en-US" sz="1100" u="none" cap="none" strike="noStrike">
                          <a:solidFill>
                            <a:srgbClr val="BBBBCC"/>
                          </a:solidFill>
                        </a:rPr>
                        <a:t>'wheat price' precede actual price moves.</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Weather — Kansas</a:t>
                      </a:r>
                      <a:endParaRPr sz="1800"/>
                    </a:p>
                    <a:p>
                      <a:pPr indent="0" lvl="0" marL="0" marR="0" rtl="0" algn="l">
                        <a:spcBef>
                          <a:spcPts val="0"/>
                        </a:spcBef>
                        <a:spcAft>
                          <a:spcPts val="0"/>
                        </a:spcAft>
                        <a:buNone/>
                      </a:pPr>
                      <a:r>
                        <a:rPr b="1" lang="en-US" sz="1100" u="none" cap="none" strike="noStrike">
                          <a:solidFill>
                            <a:srgbClr val="00D4AA"/>
                          </a:solidFill>
                        </a:rPr>
                        <a:t>Open-Meteo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temp_max, temp_min, precip,</a:t>
                      </a:r>
                      <a:endParaRPr sz="1800"/>
                    </a:p>
                    <a:p>
                      <a:pPr indent="0" lvl="0" marL="0" marR="0" rtl="0" algn="l">
                        <a:spcBef>
                          <a:spcPts val="0"/>
                        </a:spcBef>
                        <a:spcAft>
                          <a:spcPts val="0"/>
                        </a:spcAft>
                        <a:buNone/>
                      </a:pPr>
                      <a:r>
                        <a:rPr lang="en-US" sz="1050" u="none" cap="none" strike="noStrike">
                          <a:solidFill>
                            <a:srgbClr val="FF9F43"/>
                          </a:solidFill>
                        </a:rPr>
                        <a:t>rain, snowfall, wind_speed</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Growing conditions in top US wheat state.</a:t>
                      </a:r>
                      <a:endParaRPr sz="1800"/>
                    </a:p>
                    <a:p>
                      <a:pPr indent="0" lvl="0" marL="0" marR="0" rtl="0" algn="l">
                        <a:spcBef>
                          <a:spcPts val="0"/>
                        </a:spcBef>
                        <a:spcAft>
                          <a:spcPts val="0"/>
                        </a:spcAft>
                        <a:buNone/>
                      </a:pPr>
                      <a:r>
                        <a:rPr lang="en-US" sz="1100" u="none" cap="none" strike="noStrike">
                          <a:solidFill>
                            <a:srgbClr val="BBBBCC"/>
                          </a:solidFill>
                        </a:rPr>
                        <a:t>Drought/frost = supply shock -&gt; price up.</a:t>
                      </a:r>
                      <a:endParaRPr sz="1800"/>
                    </a:p>
                  </a:txBody>
                  <a:tcPr marT="45725" marB="45725" marR="91450" marL="91450">
                    <a:solidFill>
                      <a:srgbClr val="2D2D4A"/>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Weather — N. Dakota</a:t>
                      </a:r>
                      <a:endParaRPr sz="1800"/>
                    </a:p>
                    <a:p>
                      <a:pPr indent="0" lvl="0" marL="0" marR="0" rtl="0" algn="l">
                        <a:spcBef>
                          <a:spcPts val="0"/>
                        </a:spcBef>
                        <a:spcAft>
                          <a:spcPts val="0"/>
                        </a:spcAft>
                        <a:buNone/>
                      </a:pPr>
                      <a:r>
                        <a:rPr b="1" lang="en-US" sz="1100" u="none" cap="none" strike="noStrike">
                          <a:solidFill>
                            <a:srgbClr val="00D4AA"/>
                          </a:solidFill>
                        </a:rPr>
                        <a:t>Open-Meteo | Daily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temp_max, temp_min, precip,</a:t>
                      </a:r>
                      <a:endParaRPr sz="1800"/>
                    </a:p>
                    <a:p>
                      <a:pPr indent="0" lvl="0" marL="0" marR="0" rtl="0" algn="l">
                        <a:spcBef>
                          <a:spcPts val="0"/>
                        </a:spcBef>
                        <a:spcAft>
                          <a:spcPts val="0"/>
                        </a:spcAft>
                        <a:buNone/>
                      </a:pPr>
                      <a:r>
                        <a:rPr lang="en-US" sz="1050" u="none" cap="none" strike="noStrike">
                          <a:solidFill>
                            <a:srgbClr val="FF9F43"/>
                          </a:solidFill>
                        </a:rPr>
                        <a:t>rain, snowfall, wind_speed</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Second major wheat state. Spring wheat variety.</a:t>
                      </a:r>
                      <a:endParaRPr sz="1800"/>
                    </a:p>
                    <a:p>
                      <a:pPr indent="0" lvl="0" marL="0" marR="0" rtl="0" algn="l">
                        <a:spcBef>
                          <a:spcPts val="0"/>
                        </a:spcBef>
                        <a:spcAft>
                          <a:spcPts val="0"/>
                        </a:spcAft>
                        <a:buNone/>
                      </a:pPr>
                      <a:r>
                        <a:rPr lang="en-US" sz="1100" u="none" cap="none" strike="noStrike">
                          <a:solidFill>
                            <a:srgbClr val="BBBBCC"/>
                          </a:solidFill>
                        </a:rPr>
                        <a:t>Different climate risk than Kansas winter wheat.</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VIX</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vix_close</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Market-wide fear index. VIX spikes trigger</a:t>
                      </a:r>
                      <a:endParaRPr sz="1800"/>
                    </a:p>
                    <a:p>
                      <a:pPr indent="0" lvl="0" marL="0" marR="0" rtl="0" algn="l">
                        <a:spcBef>
                          <a:spcPts val="0"/>
                        </a:spcBef>
                        <a:spcAft>
                          <a:spcPts val="0"/>
                        </a:spcAft>
                        <a:buNone/>
                      </a:pPr>
                      <a:r>
                        <a:rPr lang="en-US" sz="1100" u="none" cap="none" strike="noStrike">
                          <a:solidFill>
                            <a:srgbClr val="BBBBCC"/>
                          </a:solidFill>
                        </a:rPr>
                        <a:t>cross-asset de-risking including commodities.</a:t>
                      </a:r>
                      <a:endParaRPr sz="1800"/>
                    </a:p>
                  </a:txBody>
                  <a:tcPr marT="45725" marB="45725" marR="91450" marL="91450">
                    <a:solidFill>
                      <a:srgbClr val="2D2D4A"/>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OVX</a:t>
                      </a:r>
                      <a:endParaRPr sz="1800"/>
                    </a:p>
                    <a:p>
                      <a:pPr indent="0" lvl="0" marL="0" marR="0" rtl="0" algn="l">
                        <a:spcBef>
                          <a:spcPts val="0"/>
                        </a:spcBef>
                        <a:spcAft>
                          <a:spcPts val="0"/>
                        </a:spcAft>
                        <a:buNone/>
                      </a:pPr>
                      <a:r>
                        <a:rPr b="1" lang="en-US" sz="1100" u="none" cap="none" strike="noStrike">
                          <a:solidFill>
                            <a:srgbClr val="00D4AA"/>
                          </a:solidFill>
                        </a:rPr>
                        <a:t>Yahoo Finance | Daily</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ovx_close</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Oil-specific volatility. High OVX = uncertainty</a:t>
                      </a:r>
                      <a:endParaRPr sz="1800"/>
                    </a:p>
                    <a:p>
                      <a:pPr indent="0" lvl="0" marL="0" marR="0" rtl="0" algn="l">
                        <a:spcBef>
                          <a:spcPts val="0"/>
                        </a:spcBef>
                        <a:spcAft>
                          <a:spcPts val="0"/>
                        </a:spcAft>
                        <a:buNone/>
                      </a:pPr>
                      <a:r>
                        <a:rPr lang="en-US" sz="1100" u="none" cap="none" strike="noStrike">
                          <a:solidFill>
                            <a:srgbClr val="BBBBCC"/>
                          </a:solidFill>
                        </a:rPr>
                        <a:t>in energy costs that feed into ag input prices.</a:t>
                      </a:r>
                      <a:endParaRPr sz="1800"/>
                    </a:p>
                  </a:txBody>
                  <a:tcPr marT="45725" marB="45725" marR="91450" marL="91450">
                    <a:solidFill>
                      <a:srgbClr val="24243E"/>
                    </a:solidFill>
                  </a:tcPr>
                </a:tc>
              </a:tr>
              <a:tr h="391875">
                <a:tc>
                  <a:txBody>
                    <a:bodyPr/>
                    <a:lstStyle/>
                    <a:p>
                      <a:pPr indent="0" lvl="0" marL="0" marR="0" rtl="0" algn="l">
                        <a:spcBef>
                          <a:spcPts val="0"/>
                        </a:spcBef>
                        <a:spcAft>
                          <a:spcPts val="0"/>
                        </a:spcAft>
                        <a:buNone/>
                      </a:pPr>
                      <a:r>
                        <a:rPr b="1" lang="en-US" sz="1100" u="none" cap="none" strike="noStrike">
                          <a:solidFill>
                            <a:srgbClr val="00D4AA"/>
                          </a:solidFill>
                        </a:rPr>
                        <a:t>NASA POWER</a:t>
                      </a:r>
                      <a:endParaRPr sz="1800"/>
                    </a:p>
                    <a:p>
                      <a:pPr indent="0" lvl="0" marL="0" marR="0" rtl="0" algn="l">
                        <a:spcBef>
                          <a:spcPts val="0"/>
                        </a:spcBef>
                        <a:spcAft>
                          <a:spcPts val="0"/>
                        </a:spcAft>
                        <a:buNone/>
                      </a:pPr>
                      <a:r>
                        <a:rPr b="1" lang="en-US" sz="1100" u="none" cap="none" strike="noStrike">
                          <a:solidFill>
                            <a:srgbClr val="00D4AA"/>
                          </a:solidFill>
                        </a:rPr>
                        <a:t>power.larc.nasa.gov | Daily</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050" u="none" cap="none" strike="noStrike">
                          <a:solidFill>
                            <a:srgbClr val="FF9F43"/>
                          </a:solidFill>
                        </a:rPr>
                        <a:t>nasa_t2m, nasa_prectotcorr,</a:t>
                      </a:r>
                      <a:endParaRPr sz="1800"/>
                    </a:p>
                    <a:p>
                      <a:pPr indent="0" lvl="0" marL="0" marR="0" rtl="0" algn="l">
                        <a:spcBef>
                          <a:spcPts val="0"/>
                        </a:spcBef>
                        <a:spcAft>
                          <a:spcPts val="0"/>
                        </a:spcAft>
                        <a:buNone/>
                      </a:pPr>
                      <a:r>
                        <a:rPr lang="en-US" sz="1050" u="none" cap="none" strike="noStrike">
                          <a:solidFill>
                            <a:srgbClr val="FF9F43"/>
                          </a:solidFill>
                        </a:rPr>
                        <a:t>nasa_allsky_sfc_sw_dwn, nasa_rh2m,</a:t>
                      </a:r>
                      <a:endParaRPr sz="1800"/>
                    </a:p>
                    <a:p>
                      <a:pPr indent="0" lvl="0" marL="0" marR="0" rtl="0" algn="l">
                        <a:spcBef>
                          <a:spcPts val="0"/>
                        </a:spcBef>
                        <a:spcAft>
                          <a:spcPts val="0"/>
                        </a:spcAft>
                        <a:buNone/>
                      </a:pPr>
                      <a:r>
                        <a:rPr lang="en-US" sz="1050" u="none" cap="none" strike="noStrike">
                          <a:solidFill>
                            <a:srgbClr val="FF9F43"/>
                          </a:solidFill>
                        </a:rPr>
                        <a:t>nasa_ws2m</a:t>
                      </a:r>
                      <a:endParaRPr sz="1800"/>
                    </a:p>
                  </a:txBody>
                  <a:tcPr marT="45725" marB="45725" marR="91450" marL="91450">
                    <a:solidFill>
                      <a:srgbClr val="2D2D4A"/>
                    </a:solidFill>
                  </a:tcPr>
                </a:tc>
                <a:tc>
                  <a:txBody>
                    <a:bodyPr/>
                    <a:lstStyle/>
                    <a:p>
                      <a:pPr indent="0" lvl="0" marL="0" marR="0" rtl="0" algn="l">
                        <a:spcBef>
                          <a:spcPts val="0"/>
                        </a:spcBef>
                        <a:spcAft>
                          <a:spcPts val="0"/>
                        </a:spcAft>
                        <a:buNone/>
                      </a:pPr>
                      <a:r>
                        <a:rPr lang="en-US" sz="1100" u="none" cap="none" strike="noStrike">
                          <a:solidFill>
                            <a:srgbClr val="BBBBCC"/>
                          </a:solidFill>
                        </a:rPr>
                        <a:t>Vegetation / growing condition proxy. Solar radiation</a:t>
                      </a:r>
                      <a:endParaRPr sz="1800"/>
                    </a:p>
                    <a:p>
                      <a:pPr indent="0" lvl="0" marL="0" marR="0" rtl="0" algn="l">
                        <a:spcBef>
                          <a:spcPts val="0"/>
                        </a:spcBef>
                        <a:spcAft>
                          <a:spcPts val="0"/>
                        </a:spcAft>
                        <a:buNone/>
                      </a:pPr>
                      <a:r>
                        <a:rPr lang="en-US" sz="1100" u="none" cap="none" strike="noStrike">
                          <a:solidFill>
                            <a:srgbClr val="BBBBCC"/>
                          </a:solidFill>
                        </a:rPr>
                        <a:t>and humidity directly affect crop health.</a:t>
                      </a:r>
                      <a:endParaRPr sz="1800"/>
                    </a:p>
                  </a:txBody>
                  <a:tcPr marT="45725" marB="45725" marR="91450" marL="91450">
                    <a:solidFill>
                      <a:srgbClr val="2D2D4A"/>
                    </a:solidFill>
                  </a:tcPr>
                </a:tc>
              </a:tr>
              <a:tr h="391900">
                <a:tc>
                  <a:txBody>
                    <a:bodyPr/>
                    <a:lstStyle/>
                    <a:p>
                      <a:pPr indent="0" lvl="0" marL="0" marR="0" rtl="0" algn="l">
                        <a:spcBef>
                          <a:spcPts val="0"/>
                        </a:spcBef>
                        <a:spcAft>
                          <a:spcPts val="0"/>
                        </a:spcAft>
                        <a:buNone/>
                      </a:pPr>
                      <a:r>
                        <a:rPr b="1" lang="en-US" sz="1100" u="none" cap="none" strike="noStrike">
                          <a:solidFill>
                            <a:srgbClr val="00D4AA"/>
                          </a:solidFill>
                        </a:rPr>
                        <a:t>Technical Indicators</a:t>
                      </a:r>
                      <a:endParaRPr sz="1800"/>
                    </a:p>
                    <a:p>
                      <a:pPr indent="0" lvl="0" marL="0" marR="0" rtl="0" algn="l">
                        <a:spcBef>
                          <a:spcPts val="0"/>
                        </a:spcBef>
                        <a:spcAft>
                          <a:spcPts val="0"/>
                        </a:spcAft>
                        <a:buNone/>
                      </a:pPr>
                      <a:r>
                        <a:rPr b="1" lang="en-US" sz="1100" u="none" cap="none" strike="noStrike">
                          <a:solidFill>
                            <a:srgbClr val="00D4AA"/>
                          </a:solidFill>
                        </a:rPr>
                        <a:t>Computed from OHLCV</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050" u="none" cap="none" strike="noStrike">
                          <a:solidFill>
                            <a:srgbClr val="FF9F43"/>
                          </a:solidFill>
                        </a:rPr>
                        <a:t>mom_5d, mom_10d, mom_20d,</a:t>
                      </a:r>
                      <a:endParaRPr sz="1800"/>
                    </a:p>
                    <a:p>
                      <a:pPr indent="0" lvl="0" marL="0" marR="0" rtl="0" algn="l">
                        <a:spcBef>
                          <a:spcPts val="0"/>
                        </a:spcBef>
                        <a:spcAft>
                          <a:spcPts val="0"/>
                        </a:spcAft>
                        <a:buNone/>
                      </a:pPr>
                      <a:r>
                        <a:rPr lang="en-US" sz="1050" u="none" cap="none" strike="noStrike">
                          <a:solidFill>
                            <a:srgbClr val="FF9F43"/>
                          </a:solidFill>
                        </a:rPr>
                        <a:t>rsi, macd, macd_hist,</a:t>
                      </a:r>
                      <a:endParaRPr sz="1800"/>
                    </a:p>
                    <a:p>
                      <a:pPr indent="0" lvl="0" marL="0" marR="0" rtl="0" algn="l">
                        <a:spcBef>
                          <a:spcPts val="0"/>
                        </a:spcBef>
                        <a:spcAft>
                          <a:spcPts val="0"/>
                        </a:spcAft>
                        <a:buNone/>
                      </a:pPr>
                      <a:r>
                        <a:rPr lang="en-US" sz="1050" u="none" cap="none" strike="noStrike">
                          <a:solidFill>
                            <a:srgbClr val="FF9F43"/>
                          </a:solidFill>
                        </a:rPr>
                        <a:t>bb_pctb, atr, vol_sma</a:t>
                      </a:r>
                      <a:endParaRPr sz="1800"/>
                    </a:p>
                  </a:txBody>
                  <a:tcPr marT="45725" marB="45725" marR="91450" marL="91450">
                    <a:solidFill>
                      <a:srgbClr val="24243E"/>
                    </a:solidFill>
                  </a:tcPr>
                </a:tc>
                <a:tc>
                  <a:txBody>
                    <a:bodyPr/>
                    <a:lstStyle/>
                    <a:p>
                      <a:pPr indent="0" lvl="0" marL="0" marR="0" rtl="0" algn="l">
                        <a:spcBef>
                          <a:spcPts val="0"/>
                        </a:spcBef>
                        <a:spcAft>
                          <a:spcPts val="0"/>
                        </a:spcAft>
                        <a:buNone/>
                      </a:pPr>
                      <a:r>
                        <a:rPr lang="en-US" sz="1100" u="none" cap="none" strike="noStrike">
                          <a:solidFill>
                            <a:srgbClr val="BBBBCC"/>
                          </a:solidFill>
                        </a:rPr>
                        <a:t>Price microstructure — momentum, overbought/oversold,</a:t>
                      </a:r>
                      <a:endParaRPr sz="1800"/>
                    </a:p>
                    <a:p>
                      <a:pPr indent="0" lvl="0" marL="0" marR="0" rtl="0" algn="l">
                        <a:spcBef>
                          <a:spcPts val="0"/>
                        </a:spcBef>
                        <a:spcAft>
                          <a:spcPts val="0"/>
                        </a:spcAft>
                        <a:buNone/>
                      </a:pPr>
                      <a:r>
                        <a:rPr lang="en-US" sz="1100" u="none" cap="none" strike="noStrike">
                          <a:solidFill>
                            <a:srgbClr val="BBBBCC"/>
                          </a:solidFill>
                        </a:rPr>
                        <a:t>trend strength, volatility regime.</a:t>
                      </a:r>
                      <a:endParaRPr sz="1800"/>
                    </a:p>
                  </a:txBody>
                  <a:tcPr marT="45725" marB="45725" marR="91450" marL="91450">
                    <a:solidFill>
                      <a:srgbClr val="24243E"/>
                    </a:solidFill>
                  </a:tcPr>
                </a:tc>
              </a:tr>
            </a:tbl>
          </a:graphicData>
        </a:graphic>
      </p:graphicFrame>
      <p:sp>
        <p:nvSpPr>
          <p:cNvPr id="395" name="Google Shape;395;p20"/>
          <p:cNvSpPr txBox="1"/>
          <p:nvPr/>
        </p:nvSpPr>
        <p:spPr>
          <a:xfrm>
            <a:off x="45720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9999AA"/>
                </a:solidFill>
                <a:latin typeface="Calibri"/>
                <a:ea typeface="Calibri"/>
                <a:cs typeface="Calibri"/>
                <a:sym typeface="Calibri"/>
              </a:rPr>
              <a:t>VIP Agriculture — Wheat Futures Classification   |   NYU Tandon School of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