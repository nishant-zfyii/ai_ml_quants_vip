
<file path=[Content_Types].xml><?xml version="1.0" encoding="utf-8"?>
<Types xmlns="http://schemas.openxmlformats.org/package/2006/content-types">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tableStyles+xml" PartName="/ppt/tableStyles.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5.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0" r:id="rId4"/>
  </p:sldMasterIdLst>
  <p:notesMasterIdLst>
    <p:notesMasterId r:id="rId5"/>
  </p:notesMasterIdLst>
  <p:sldIdLst>
    <p:sldId id="256" r:id="rId6"/>
    <p:sldId id="257" r:id="rId7"/>
    <p:sldId id="258" r:id="rId8"/>
    <p:sldId id="259" r:id="rId9"/>
    <p:sldId id="260" r:id="rId10"/>
    <p:sldId id="261" r:id="rId11"/>
  </p:sldIdLst>
  <p:sldSz cy="5143500" cx="9144000"/>
  <p:notesSz cx="51435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4310F7AD-64F9-490E-80AE-7DB1637BC63A}">
  <a:tblStyle styleId="{4310F7AD-64F9-490E-80AE-7DB1637BC63A}" styleName="Table_0">
    <a:wholeTbl>
      <a:tcTxStyle b="off" i="off">
        <a:font>
          <a:latin typeface="Calibri"/>
          <a:ea typeface="Calibri"/>
          <a:cs typeface="Calibri"/>
        </a:font>
        <a:srgbClr val="000000"/>
      </a:tcTxStyle>
      <a:tcStyle>
        <a:tcBdr>
          <a:left>
            <a:ln cap="flat" cmpd="sng" w="12700">
              <a:solidFill>
                <a:srgbClr val="FFFFFF"/>
              </a:solidFill>
              <a:prstDash val="solid"/>
              <a:round/>
              <a:headEnd len="sm" w="sm" type="none"/>
              <a:tailEnd len="sm" w="sm" type="none"/>
            </a:ln>
          </a:left>
          <a:right>
            <a:ln cap="flat" cmpd="sng" w="12700">
              <a:solidFill>
                <a:srgbClr val="FFFFFF"/>
              </a:solidFill>
              <a:prstDash val="solid"/>
              <a:round/>
              <a:headEnd len="sm" w="sm" type="none"/>
              <a:tailEnd len="sm" w="sm" type="none"/>
            </a:ln>
          </a:right>
          <a:top>
            <a:ln cap="flat" cmpd="sng" w="12700">
              <a:solidFill>
                <a:srgbClr val="FFFFFF"/>
              </a:solidFill>
              <a:prstDash val="solid"/>
              <a:round/>
              <a:headEnd len="sm" w="sm" type="none"/>
              <a:tailEnd len="sm" w="sm" type="none"/>
            </a:ln>
          </a:top>
          <a:bottom>
            <a:ln cap="flat" cmpd="sng" w="12700">
              <a:solidFill>
                <a:srgbClr val="FFFFFF"/>
              </a:solidFill>
              <a:prstDash val="solid"/>
              <a:round/>
              <a:headEnd len="sm" w="sm" type="none"/>
              <a:tailEnd len="sm" w="sm" type="none"/>
            </a:ln>
          </a:bottom>
          <a:insideH>
            <a:ln cap="flat" cmpd="sng" w="12700">
              <a:solidFill>
                <a:srgbClr val="FFFFFF"/>
              </a:solidFill>
              <a:prstDash val="solid"/>
              <a:round/>
              <a:headEnd len="sm" w="sm" type="none"/>
              <a:tailEnd len="sm" w="sm" type="none"/>
            </a:ln>
          </a:insideH>
          <a:insideV>
            <a:ln cap="flat" cmpd="sng" w="12700">
              <a:solidFill>
                <a:srgbClr val="FFFFFF"/>
              </a:solidFill>
              <a:prstDash val="solid"/>
              <a:round/>
              <a:headEnd len="sm" w="sm" type="none"/>
              <a:tailEnd len="sm" w="sm" type="none"/>
            </a:ln>
          </a:insideV>
        </a:tcBdr>
        <a:fill>
          <a:solidFill>
            <a:srgbClr val="E8ECF4"/>
          </a:solidFill>
        </a:fill>
      </a:tcStyle>
    </a:wholeTbl>
    <a:band1H>
      <a:tcTxStyle/>
      <a:tcStyle>
        <a:fill>
          <a:solidFill>
            <a:srgbClr val="CFD7E7"/>
          </a:solidFill>
        </a:fill>
      </a:tcStyle>
    </a:band1H>
    <a:band2H>
      <a:tcTxStyle/>
    </a:band2H>
    <a:band1V>
      <a:tcTxStyle/>
      <a:tcStyle>
        <a:fill>
          <a:solidFill>
            <a:srgbClr val="CFD7E7"/>
          </a:solidFill>
        </a:fill>
      </a:tcStyle>
    </a:band1V>
    <a:band2V>
      <a:tcTxStyle/>
    </a:band2V>
    <a:lastCol>
      <a:tcTxStyle b="on" i="off">
        <a:font>
          <a:latin typeface="Calibri"/>
          <a:ea typeface="Calibri"/>
          <a:cs typeface="Calibri"/>
        </a:font>
        <a:srgbClr val="FFFFFF"/>
      </a:tcTxStyle>
      <a:tcStyle>
        <a:fill>
          <a:solidFill>
            <a:srgbClr val="4F81BD"/>
          </a:solidFill>
        </a:fill>
      </a:tcStyle>
    </a:lastCol>
    <a:firstCol>
      <a:tcTxStyle b="on" i="off">
        <a:font>
          <a:latin typeface="Calibri"/>
          <a:ea typeface="Calibri"/>
          <a:cs typeface="Calibri"/>
        </a:font>
        <a:srgbClr val="FFFFFF"/>
      </a:tcTxStyle>
      <a:tcStyle>
        <a:fill>
          <a:solidFill>
            <a:srgbClr val="4F81BD"/>
          </a:solidFill>
        </a:fill>
      </a:tcStyle>
    </a:firstCol>
    <a:lastRow>
      <a:tcTxStyle b="on" i="off">
        <a:font>
          <a:latin typeface="Calibri"/>
          <a:ea typeface="Calibri"/>
          <a:cs typeface="Calibri"/>
        </a:font>
        <a:srgbClr val="FFFFFF"/>
      </a:tcTxStyle>
      <a:tcStyle>
        <a:tcBdr>
          <a:top>
            <a:ln cap="flat" cmpd="sng" w="38100">
              <a:solidFill>
                <a:srgbClr val="FFFFFF"/>
              </a:solidFill>
              <a:prstDash val="solid"/>
              <a:round/>
              <a:headEnd len="sm" w="sm" type="none"/>
              <a:tailEnd len="sm" w="sm" type="none"/>
            </a:ln>
          </a:top>
        </a:tcBdr>
        <a:fill>
          <a:solidFill>
            <a:srgbClr val="4F81BD"/>
          </a:solidFill>
        </a:fill>
      </a:tcStyle>
    </a:lastRow>
    <a:seCell>
      <a:tcTxStyle/>
    </a:seCell>
    <a:swCell>
      <a:tcTxStyle/>
    </a:swCell>
    <a:firstRow>
      <a:tcTxStyle b="on" i="off">
        <a:font>
          <a:latin typeface="Calibri"/>
          <a:ea typeface="Calibri"/>
          <a:cs typeface="Calibri"/>
        </a:font>
        <a:srgbClr val="FFFFFF"/>
      </a:tcTxStyle>
      <a:tcStyle>
        <a:tcBdr>
          <a:bottom>
            <a:ln cap="flat" cmpd="sng" w="38100">
              <a:solidFill>
                <a:srgbClr val="FFFFFF"/>
              </a:solidFill>
              <a:prstDash val="solid"/>
              <a:round/>
              <a:headEnd len="sm" w="sm" type="none"/>
              <a:tailEnd len="sm" w="sm" type="none"/>
            </a:ln>
          </a:bottom>
        </a:tcBdr>
        <a:fill>
          <a:solidFill>
            <a:srgbClr val="4F81BD"/>
          </a:solidFill>
        </a:fill>
      </a:tcStyle>
    </a:firstRow>
    <a:neCell>
      <a:tcTxStyle/>
    </a:neCell>
    <a:nwCell>
      <a:tcTxStyle/>
    </a:nwCell>
  </a:tblStyle>
</a:tblStyleLst>
</file>

<file path=ppt/_rels/presentation.xml.rels><?xml version="1.0" encoding="UTF-8" standalone="yes"?><Relationships xmlns="http://schemas.openxmlformats.org/package/2006/relationships"><Relationship Id="rId11" Type="http://schemas.openxmlformats.org/officeDocument/2006/relationships/slide" Target="slides/slide6.xml"/><Relationship Id="rId10" Type="http://schemas.openxmlformats.org/officeDocument/2006/relationships/slide" Target="slides/slide5.xml"/><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4.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 name="Shape 16"/>
        <p:cNvGrpSpPr/>
        <p:nvPr/>
      </p:nvGrpSpPr>
      <p:grpSpPr>
        <a:xfrm>
          <a:off x="0" y="0"/>
          <a:ext cx="0" cy="0"/>
          <a:chOff x="0" y="0"/>
          <a:chExt cx="0" cy="0"/>
        </a:xfrm>
      </p:grpSpPr>
      <p:sp>
        <p:nvSpPr>
          <p:cNvPr id="17" name="Google Shape;17;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8" name="Google Shape;18;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SPEAKER NOTES — Title Slide</a:t>
            </a:r>
            <a:br>
              <a:rPr lang="en-US"/>
            </a:br>
            <a:br>
              <a:rPr lang="en-US"/>
            </a:br>
            <a:r>
              <a:rPr lang="en-US"/>
              <a:t>Good morning/afternoon everyone. I'm Nishant Pushparaju. Over the past four weeks, our team has been building and evaluating a series of models for wheat futures price forecasting.</a:t>
            </a:r>
            <a:br>
              <a:rPr lang="en-US"/>
            </a:br>
            <a:br>
              <a:rPr lang="en-US"/>
            </a:br>
            <a:r>
              <a:rPr lang="en-US"/>
              <a:t>Today I'll walk through four models in sequence — starting with the classical econometric baseline ARX, then three progressively more complex deep learning approaches: Bidirectional RNN with Attention, BiRNN with Skip Connections, and Bidirectional GRU.</a:t>
            </a:r>
            <a:br>
              <a:rPr lang="en-US"/>
            </a:br>
            <a:br>
              <a:rPr lang="en-US"/>
            </a:br>
            <a:r>
              <a:rPr lang="en-US"/>
              <a:t>The goal is to understand what each architectural choice contributes, and to be honest about where the models succeed and where the naive persistence baseline is genuinely hard to beat.</a:t>
            </a:r>
            <a:endParaRPr/>
          </a:p>
        </p:txBody>
      </p:sp>
      <p:sp>
        <p:nvSpPr>
          <p:cNvPr id="19" name="Google Shape;19;p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 name="Shape 32"/>
        <p:cNvGrpSpPr/>
        <p:nvPr/>
      </p:nvGrpSpPr>
      <p:grpSpPr>
        <a:xfrm>
          <a:off x="0" y="0"/>
          <a:ext cx="0" cy="0"/>
          <a:chOff x="0" y="0"/>
          <a:chExt cx="0" cy="0"/>
        </a:xfrm>
      </p:grpSpPr>
      <p:sp>
        <p:nvSpPr>
          <p:cNvPr id="33" name="Google Shape;33;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4" name="Google Shape;34;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SPEAKER NOTES — Slide 2: ARX</a:t>
            </a:r>
            <a:br>
              <a:rPr lang="en-US"/>
            </a:br>
            <a:br>
              <a:rPr lang="en-US"/>
            </a:br>
            <a:r>
              <a:rPr lang="en-US"/>
              <a:t>ARX is the classical econometric baseline implemented in Week 1. It predicts tomorrow's wheat price using two components: its own past prices (the AR part, up to 3 lags) and 31 macroeconomic features from FRED-MD (the exogenous part).</a:t>
            </a:r>
            <a:br>
              <a:rPr lang="en-US"/>
            </a:br>
            <a:br>
              <a:rPr lang="en-US"/>
            </a:br>
            <a:r>
              <a:rPr lang="en-US"/>
              <a:t>Fitting is done in closed form using Ridge OLS — no iterative training, no learning rate issues. Alpha=5 applies mild L2 regularisation to handle the multicollinearity across 31 correlated macro features.</a:t>
            </a:r>
            <a:br>
              <a:rPr lang="en-US"/>
            </a:br>
            <a:br>
              <a:rPr lang="en-US"/>
            </a:br>
            <a:r>
              <a:rPr lang="en-US"/>
              <a:t>Grid search over ar_lags, exog_lags, and alpha found the best configuration is ar_lags=3, exog_lags=1, alpha=5. This tells us that only the most recent few days of price history matter, and only the current month's macro reading (not lagged) adds value.</a:t>
            </a:r>
            <a:br>
              <a:rPr lang="en-US"/>
            </a:br>
            <a:br>
              <a:rPr lang="en-US"/>
            </a:br>
            <a:r>
              <a:rPr lang="en-US"/>
              <a:t>Test R²=0.983, essentially identical to the naive persistence baseline at 0.984. This is expected — wheat futures prices are highly autocorrelated day-to-day, and the AR-3 coefficient of 0.88 means the model is mostly saying "tomorrow ≈ today." The exogenous features add only marginal correction.</a:t>
            </a:r>
            <a:br>
              <a:rPr lang="en-US"/>
            </a:br>
            <a:br>
              <a:rPr lang="en-US"/>
            </a:br>
            <a:r>
              <a:rPr lang="en-US"/>
              <a:t>The test plot (right) shows the model tracks the 2022 Ukraine war spike and the subsequent decline. The fit looks good visually, but the RMSE of 20.99 vs naive 20.37 tells us the linear model is not adding value over simple persistence.</a:t>
            </a:r>
            <a:br>
              <a:rPr lang="en-US"/>
            </a:br>
            <a:br>
              <a:rPr lang="en-US"/>
            </a:br>
            <a:r>
              <a:rPr lang="en-US"/>
              <a:t>This sets the baseline. Any neural model that can't beat ARX isn't worth deploying.</a:t>
            </a:r>
            <a:endParaRPr/>
          </a:p>
        </p:txBody>
      </p:sp>
      <p:sp>
        <p:nvSpPr>
          <p:cNvPr id="35" name="Google Shape;35;p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 name="Shape 48"/>
        <p:cNvGrpSpPr/>
        <p:nvPr/>
      </p:nvGrpSpPr>
      <p:grpSpPr>
        <a:xfrm>
          <a:off x="0" y="0"/>
          <a:ext cx="0" cy="0"/>
          <a:chOff x="0" y="0"/>
          <a:chExt cx="0" cy="0"/>
        </a:xfrm>
      </p:grpSpPr>
      <p:sp>
        <p:nvSpPr>
          <p:cNvPr id="49" name="Google Shape;49;g396c2336dab_0_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0" name="Google Shape;50;g396c2336dab_0_14: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SPEAKER NOTES — Slide 2: ARX</a:t>
            </a:r>
            <a:br>
              <a:rPr lang="en-US"/>
            </a:br>
            <a:br>
              <a:rPr lang="en-US"/>
            </a:br>
            <a:r>
              <a:rPr lang="en-US"/>
              <a:t>ARX is the classical econometric baseline implemented in Week 1. It predicts tomorrow's wheat price using two components: its own past prices (the AR part, up to 3 lags) and 31 macroeconomic features from FRED-MD (the exogenous part).</a:t>
            </a:r>
            <a:br>
              <a:rPr lang="en-US"/>
            </a:br>
            <a:br>
              <a:rPr lang="en-US"/>
            </a:br>
            <a:r>
              <a:rPr lang="en-US"/>
              <a:t>Fitting is done in closed form using Ridge OLS — no iterative training, no learning rate issues. Alpha=5 applies mild L2 regularisation to handle the multicollinearity across 31 correlated macro features.</a:t>
            </a:r>
            <a:br>
              <a:rPr lang="en-US"/>
            </a:br>
            <a:br>
              <a:rPr lang="en-US"/>
            </a:br>
            <a:r>
              <a:rPr lang="en-US"/>
              <a:t>Grid search over ar_lags, exog_lags, and alpha found the best configuration is ar_lags=3, exog_lags=1, alpha=5. This tells us that only the most recent few days of price history matter, and only the current month's macro reading (not lagged) adds value.</a:t>
            </a:r>
            <a:br>
              <a:rPr lang="en-US"/>
            </a:br>
            <a:br>
              <a:rPr lang="en-US"/>
            </a:br>
            <a:r>
              <a:rPr lang="en-US"/>
              <a:t>Test R²=0.983, essentially identical to the naive persistence baseline at 0.984. This is expected — wheat futures prices are highly autocorrelated day-to-day, and the AR-3 coefficient of 0.88 means the model is mostly saying "tomorrow ≈ today." The exogenous features add only marginal correction.</a:t>
            </a:r>
            <a:br>
              <a:rPr lang="en-US"/>
            </a:br>
            <a:br>
              <a:rPr lang="en-US"/>
            </a:br>
            <a:r>
              <a:rPr lang="en-US"/>
              <a:t>The test plot (right) shows the model tracks the 2022 Ukraine war spike and the subsequent decline. The fit looks good visually, but the RMSE of 20.99 vs naive 20.37 tells us the linear model is not adding value over simple persistence.</a:t>
            </a:r>
            <a:br>
              <a:rPr lang="en-US"/>
            </a:br>
            <a:br>
              <a:rPr lang="en-US"/>
            </a:br>
            <a:r>
              <a:rPr lang="en-US"/>
              <a:t>This sets the baseline. Any neural model that can't beat ARX isn't worth deploying.</a:t>
            </a:r>
            <a:endParaRPr/>
          </a:p>
        </p:txBody>
      </p:sp>
      <p:sp>
        <p:nvSpPr>
          <p:cNvPr id="51" name="Google Shape;51;g396c2336dab_0_14: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 name="Shape 64"/>
        <p:cNvGrpSpPr/>
        <p:nvPr/>
      </p:nvGrpSpPr>
      <p:grpSpPr>
        <a:xfrm>
          <a:off x="0" y="0"/>
          <a:ext cx="0" cy="0"/>
          <a:chOff x="0" y="0"/>
          <a:chExt cx="0" cy="0"/>
        </a:xfrm>
      </p:grpSpPr>
      <p:sp>
        <p:nvSpPr>
          <p:cNvPr id="65" name="Google Shape;65;g396c2336dab_0_3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6" name="Google Shape;66;g396c2336dab_0_38: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SPEAKER NOTES — Slide 2: ARX</a:t>
            </a:r>
            <a:br>
              <a:rPr lang="en-US"/>
            </a:br>
            <a:br>
              <a:rPr lang="en-US"/>
            </a:br>
            <a:r>
              <a:rPr lang="en-US"/>
              <a:t>ARX is the classical econometric baseline implemented in Week 1. It predicts tomorrow's wheat price using two components: its own past prices (the AR part, up to 3 lags) and 31 macroeconomic features from FRED-MD (the exogenous part).</a:t>
            </a:r>
            <a:br>
              <a:rPr lang="en-US"/>
            </a:br>
            <a:br>
              <a:rPr lang="en-US"/>
            </a:br>
            <a:r>
              <a:rPr lang="en-US"/>
              <a:t>Fitting is done in closed form using Ridge OLS — no iterative training, no learning rate issues. Alpha=5 applies mild L2 regularisation to handle the multicollinearity across 31 correlated macro features.</a:t>
            </a:r>
            <a:br>
              <a:rPr lang="en-US"/>
            </a:br>
            <a:br>
              <a:rPr lang="en-US"/>
            </a:br>
            <a:r>
              <a:rPr lang="en-US"/>
              <a:t>Grid search over ar_lags, exog_lags, and alpha found the best configuration is ar_lags=3, exog_lags=1, alpha=5. This tells us that only the most recent few days of price history matter, and only the current month's macro reading (not lagged) adds value.</a:t>
            </a:r>
            <a:br>
              <a:rPr lang="en-US"/>
            </a:br>
            <a:br>
              <a:rPr lang="en-US"/>
            </a:br>
            <a:r>
              <a:rPr lang="en-US"/>
              <a:t>Test R²=0.983, essentially identical to the naive persistence baseline at 0.984. This is expected — wheat futures prices are highly autocorrelated day-to-day, and the AR-3 coefficient of 0.88 means the model is mostly saying "tomorrow ≈ today." The exogenous features add only marginal correction.</a:t>
            </a:r>
            <a:br>
              <a:rPr lang="en-US"/>
            </a:br>
            <a:br>
              <a:rPr lang="en-US"/>
            </a:br>
            <a:r>
              <a:rPr lang="en-US"/>
              <a:t>The test plot (right) shows the model tracks the 2022 Ukraine war spike and the subsequent decline. The fit looks good visually, but the RMSE of 20.99 vs naive 20.37 tells us the linear model is not adding value over simple persistence.</a:t>
            </a:r>
            <a:br>
              <a:rPr lang="en-US"/>
            </a:br>
            <a:br>
              <a:rPr lang="en-US"/>
            </a:br>
            <a:r>
              <a:rPr lang="en-US"/>
              <a:t>This sets the baseline. Any neural model that can't beat ARX isn't worth deploying.</a:t>
            </a:r>
            <a:endParaRPr/>
          </a:p>
        </p:txBody>
      </p:sp>
      <p:sp>
        <p:nvSpPr>
          <p:cNvPr id="67" name="Google Shape;67;g396c2336dab_0_38: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 name="Shape 92"/>
        <p:cNvGrpSpPr/>
        <p:nvPr/>
      </p:nvGrpSpPr>
      <p:grpSpPr>
        <a:xfrm>
          <a:off x="0" y="0"/>
          <a:ext cx="0" cy="0"/>
          <a:chOff x="0" y="0"/>
          <a:chExt cx="0" cy="0"/>
        </a:xfrm>
      </p:grpSpPr>
      <p:sp>
        <p:nvSpPr>
          <p:cNvPr id="93" name="Google Shape;93;g396c2336dab_1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4" name="Google Shape;94;g396c2336dab_1_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100"/>
              <a:buFont typeface="Arial"/>
              <a:buNone/>
            </a:pPr>
            <a:r>
              <a:rPr lang="en-US"/>
              <a:t>⏺ Here's the clean grouping — 8 papers, each responsible for specific datasets:</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en-US"/>
              <a:t>  ---</a:t>
            </a:r>
            <a:endParaRPr/>
          </a:p>
          <a:p>
            <a:pPr indent="0" lvl="0" marL="0" rtl="0" algn="l">
              <a:spcBef>
                <a:spcPts val="0"/>
              </a:spcBef>
              <a:spcAft>
                <a:spcPts val="0"/>
              </a:spcAft>
              <a:buClr>
                <a:schemeClr val="dk1"/>
              </a:buClr>
              <a:buSzPts val="1100"/>
              <a:buFont typeface="Arial"/>
              <a:buNone/>
            </a:pPr>
            <a:r>
              <a:rPr lang="en-US"/>
              <a:t>  Paper 1: Wang &amp; Zhang (2024), J. Futures Markets</a:t>
            </a:r>
            <a:endParaRPr/>
          </a:p>
          <a:p>
            <a:pPr indent="0" lvl="0" marL="0" rtl="0" algn="l">
              <a:spcBef>
                <a:spcPts val="0"/>
              </a:spcBef>
              <a:spcAft>
                <a:spcPts val="0"/>
              </a:spcAft>
              <a:buClr>
                <a:schemeClr val="dk1"/>
              </a:buClr>
              <a:buSzPts val="1100"/>
              <a:buFont typeface="Arial"/>
              <a:buNone/>
            </a:pPr>
            <a:r>
              <a:rPr lang="en-US"/>
              <a:t>  "Predictability of Commodity Futures Returns with Machine Learning Models"</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en-US"/>
              <a:t>  Why we chose this paper: Only study we found that directly combines COT positioning data with ML for commodity futures. Tested on 22 commodities with</a:t>
            </a:r>
            <a:endParaRPr/>
          </a:p>
          <a:p>
            <a:pPr indent="0" lvl="0" marL="0" rtl="0" algn="l">
              <a:spcBef>
                <a:spcPts val="0"/>
              </a:spcBef>
              <a:spcAft>
                <a:spcPts val="0"/>
              </a:spcAft>
              <a:buClr>
                <a:schemeClr val="dk1"/>
              </a:buClr>
              <a:buSzPts val="1100"/>
              <a:buFont typeface="Arial"/>
              <a:buNone/>
            </a:pPr>
            <a:r>
              <a:rPr lang="en-US"/>
              <a:t>  rigorous out-of-sample evaluation. Sharpe 2.07 is an exceptional result.</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en-US"/>
              <a:t>  What it told us to collect:</a:t>
            </a:r>
            <a:endParaRPr/>
          </a:p>
          <a:p>
            <a:pPr indent="0" lvl="0" marL="0" rtl="0" algn="l">
              <a:spcBef>
                <a:spcPts val="0"/>
              </a:spcBef>
              <a:spcAft>
                <a:spcPts val="0"/>
              </a:spcAft>
              <a:buClr>
                <a:schemeClr val="dk1"/>
              </a:buClr>
              <a:buSzPts val="1100"/>
              <a:buFont typeface="Arial"/>
              <a:buNone/>
            </a:pPr>
            <a:r>
              <a:rPr lang="en-US"/>
              <a:t>  - CFTC Commitment of Traders (hedge fund vs commercial positioning)</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en-US"/>
              <a:t>  Their key finding: Hedging pressure (from COT) ranked as a top feature via Shapley analysis. LightGBM outperformed all linear models.</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en-US"/>
              <a:t>  ---</a:t>
            </a:r>
            <a:endParaRPr/>
          </a:p>
          <a:p>
            <a:pPr indent="0" lvl="0" marL="0" rtl="0" algn="l">
              <a:spcBef>
                <a:spcPts val="0"/>
              </a:spcBef>
              <a:spcAft>
                <a:spcPts val="0"/>
              </a:spcAft>
              <a:buClr>
                <a:schemeClr val="dk1"/>
              </a:buClr>
              <a:buSzPts val="1100"/>
              <a:buFont typeface="Arial"/>
              <a:buNone/>
            </a:pPr>
            <a:r>
              <a:rPr lang="en-US"/>
              <a:t>  Paper 2: Manogna et al. (2025), Scientific Reports</a:t>
            </a:r>
            <a:endParaRPr/>
          </a:p>
          <a:p>
            <a:pPr indent="0" lvl="0" marL="0" rtl="0" algn="l">
              <a:spcBef>
                <a:spcPts val="0"/>
              </a:spcBef>
              <a:spcAft>
                <a:spcPts val="0"/>
              </a:spcAft>
              <a:buClr>
                <a:schemeClr val="dk1"/>
              </a:buClr>
              <a:buSzPts val="1100"/>
              <a:buFont typeface="Arial"/>
              <a:buNone/>
            </a:pPr>
            <a:r>
              <a:rPr lang="en-US"/>
              <a:t>  "Enhancing agricultural commodity price forecasting with deep learning"</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en-US"/>
              <a:t>  Why we chose this paper: Largest-scale ag commodity study we found — 23 commodities, daily data, 2010-2024. Directly relevant to our wheat task. Showed</a:t>
            </a:r>
            <a:endParaRPr/>
          </a:p>
          <a:p>
            <a:pPr indent="0" lvl="0" marL="0" rtl="0" algn="l">
              <a:spcBef>
                <a:spcPts val="0"/>
              </a:spcBef>
              <a:spcAft>
                <a:spcPts val="0"/>
              </a:spcAft>
              <a:buClr>
                <a:schemeClr val="dk1"/>
              </a:buClr>
              <a:buSzPts val="1100"/>
              <a:buFont typeface="Arial"/>
              <a:buNone/>
            </a:pPr>
            <a:r>
              <a:rPr lang="en-US"/>
              <a:t>  that models perform best when they can see related commodities, not just the target.</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en-US"/>
              <a:t>  What it told us to collect:</a:t>
            </a:r>
            <a:endParaRPr/>
          </a:p>
          <a:p>
            <a:pPr indent="0" lvl="0" marL="0" rtl="0" algn="l">
              <a:spcBef>
                <a:spcPts val="0"/>
              </a:spcBef>
              <a:spcAft>
                <a:spcPts val="0"/>
              </a:spcAft>
              <a:buClr>
                <a:schemeClr val="dk1"/>
              </a:buClr>
              <a:buSzPts val="1100"/>
              <a:buFont typeface="Arial"/>
              <a:buNone/>
            </a:pPr>
            <a:r>
              <a:rPr lang="en-US"/>
              <a:t>  - Corn Futures (feed substitution with wheat)</a:t>
            </a:r>
            <a:endParaRPr/>
          </a:p>
          <a:p>
            <a:pPr indent="0" lvl="0" marL="0" rtl="0" algn="l">
              <a:spcBef>
                <a:spcPts val="0"/>
              </a:spcBef>
              <a:spcAft>
                <a:spcPts val="0"/>
              </a:spcAft>
              <a:buClr>
                <a:schemeClr val="dk1"/>
              </a:buClr>
              <a:buSzPts val="1100"/>
              <a:buFont typeface="Arial"/>
              <a:buNone/>
            </a:pPr>
            <a:r>
              <a:rPr lang="en-US"/>
              <a:t>  - Soybean Futures (competing crop for acreage)</a:t>
            </a:r>
            <a:endParaRPr/>
          </a:p>
          <a:p>
            <a:pPr indent="0" lvl="0" marL="0" rtl="0" algn="l">
              <a:spcBef>
                <a:spcPts val="0"/>
              </a:spcBef>
              <a:spcAft>
                <a:spcPts val="0"/>
              </a:spcAft>
              <a:buClr>
                <a:schemeClr val="dk1"/>
              </a:buClr>
              <a:buSzPts val="1100"/>
              <a:buFont typeface="Arial"/>
              <a:buNone/>
            </a:pPr>
            <a:r>
              <a:rPr lang="en-US"/>
              <a:t>  - Crude Oil (input cost — fertilizer, transport)</a:t>
            </a:r>
            <a:endParaRPr/>
          </a:p>
          <a:p>
            <a:pPr indent="0" lvl="0" marL="0" rtl="0" algn="l">
              <a:spcBef>
                <a:spcPts val="0"/>
              </a:spcBef>
              <a:spcAft>
                <a:spcPts val="0"/>
              </a:spcAft>
              <a:buClr>
                <a:schemeClr val="dk1"/>
              </a:buClr>
              <a:buSzPts val="1100"/>
              <a:buFont typeface="Arial"/>
              <a:buNone/>
            </a:pPr>
            <a:r>
              <a:rPr lang="en-US"/>
              <a:t>  - US Dollar Index (wheat traded globally in USD)</a:t>
            </a:r>
            <a:endParaRPr/>
          </a:p>
          <a:p>
            <a:pPr indent="0" lvl="0" marL="0" rtl="0" algn="l">
              <a:spcBef>
                <a:spcPts val="0"/>
              </a:spcBef>
              <a:spcAft>
                <a:spcPts val="0"/>
              </a:spcAft>
              <a:buClr>
                <a:schemeClr val="dk1"/>
              </a:buClr>
              <a:buSzPts val="1100"/>
              <a:buFont typeface="Arial"/>
              <a:buNone/>
            </a:pPr>
            <a:r>
              <a:rPr lang="en-US"/>
              <a:t>  - Gold Futures (inflation/safe-haven proxy)</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en-US"/>
              <a:t>  Their key finding: GRU best overall for ag commodities. XGBoost competitive for moderate-volatility grains like wheat. Cross-commodity features</a:t>
            </a:r>
            <a:endParaRPr/>
          </a:p>
          <a:p>
            <a:pPr indent="0" lvl="0" marL="0" rtl="0" algn="l">
              <a:spcBef>
                <a:spcPts val="0"/>
              </a:spcBef>
              <a:spcAft>
                <a:spcPts val="0"/>
              </a:spcAft>
              <a:buClr>
                <a:schemeClr val="dk1"/>
              </a:buClr>
              <a:buSzPts val="1100"/>
              <a:buFont typeface="Arial"/>
              <a:buNone/>
            </a:pPr>
            <a:r>
              <a:rPr lang="en-US"/>
              <a:t>  significantly improved predictions.</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en-US"/>
              <a:t>  ---</a:t>
            </a:r>
            <a:endParaRPr/>
          </a:p>
          <a:p>
            <a:pPr indent="0" lvl="0" marL="0" rtl="0" algn="l">
              <a:spcBef>
                <a:spcPts val="0"/>
              </a:spcBef>
              <a:spcAft>
                <a:spcPts val="0"/>
              </a:spcAft>
              <a:buClr>
                <a:schemeClr val="dk1"/>
              </a:buClr>
              <a:buSzPts val="1100"/>
              <a:buFont typeface="Arial"/>
              <a:buNone/>
            </a:pPr>
            <a:r>
              <a:rPr lang="en-US"/>
              <a:t>  Paper 3: Gutierrez &amp; Taieb (2021), Economics of Agriculture</a:t>
            </a:r>
            <a:endParaRPr/>
          </a:p>
          <a:p>
            <a:pPr indent="0" lvl="0" marL="0" rtl="0" algn="l">
              <a:spcBef>
                <a:spcPts val="0"/>
              </a:spcBef>
              <a:spcAft>
                <a:spcPts val="0"/>
              </a:spcAft>
              <a:buClr>
                <a:schemeClr val="dk1"/>
              </a:buClr>
              <a:buSzPts val="1100"/>
              <a:buFont typeface="Arial"/>
              <a:buNone/>
            </a:pPr>
            <a:r>
              <a:rPr lang="en-US"/>
              <a:t>  "Google Trends and commodity prices"</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en-US"/>
              <a:t>  Why we chose this paper: Only paper we found that formally tests Granger causality between search data and agricultural commodity prices. They didn't</a:t>
            </a:r>
            <a:endParaRPr/>
          </a:p>
          <a:p>
            <a:pPr indent="0" lvl="0" marL="0" rtl="0" algn="l">
              <a:spcBef>
                <a:spcPts val="0"/>
              </a:spcBef>
              <a:spcAft>
                <a:spcPts val="0"/>
              </a:spcAft>
              <a:buClr>
                <a:schemeClr val="dk1"/>
              </a:buClr>
              <a:buSzPts val="1100"/>
              <a:buFont typeface="Arial"/>
              <a:buNone/>
            </a:pPr>
            <a:r>
              <a:rPr lang="en-US"/>
              <a:t>  just correlate — they proved directional causality and built a profitable system.</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en-US"/>
              <a:t>  What it told us to collect:</a:t>
            </a:r>
            <a:endParaRPr/>
          </a:p>
          <a:p>
            <a:pPr indent="0" lvl="0" marL="0" rtl="0" algn="l">
              <a:spcBef>
                <a:spcPts val="0"/>
              </a:spcBef>
              <a:spcAft>
                <a:spcPts val="0"/>
              </a:spcAft>
              <a:buClr>
                <a:schemeClr val="dk1"/>
              </a:buClr>
              <a:buSzPts val="1100"/>
              <a:buFont typeface="Arial"/>
              <a:buNone/>
            </a:pPr>
            <a:r>
              <a:rPr lang="en-US"/>
              <a:t>  - Google Trends (search volume for "wheat price", "drought", "crop failure", "USDA report")</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en-US"/>
              <a:t>  Their key finding: Granger causality confirmed from search volume to corn/wheat prices. Search spikes precede price moves — public attention is a leading</a:t>
            </a:r>
            <a:endParaRPr/>
          </a:p>
          <a:p>
            <a:pPr indent="0" lvl="0" marL="0" rtl="0" algn="l">
              <a:spcBef>
                <a:spcPts val="0"/>
              </a:spcBef>
              <a:spcAft>
                <a:spcPts val="0"/>
              </a:spcAft>
              <a:buClr>
                <a:schemeClr val="dk1"/>
              </a:buClr>
              <a:buSzPts val="1100"/>
              <a:buFont typeface="Arial"/>
              <a:buNone/>
            </a:pPr>
            <a:r>
              <a:rPr lang="en-US"/>
              <a:t>   indicator.</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en-US"/>
              <a:t>  ---</a:t>
            </a:r>
            <a:endParaRPr/>
          </a:p>
          <a:p>
            <a:pPr indent="0" lvl="0" marL="0" rtl="0" algn="l">
              <a:spcBef>
                <a:spcPts val="0"/>
              </a:spcBef>
              <a:spcAft>
                <a:spcPts val="0"/>
              </a:spcAft>
              <a:buClr>
                <a:schemeClr val="dk1"/>
              </a:buClr>
              <a:buSzPts val="1100"/>
              <a:buFont typeface="Arial"/>
              <a:buNone/>
            </a:pPr>
            <a:r>
              <a:rPr lang="en-US"/>
              <a:t>  Paper 4: Wang et al. (2023), J. Sustainable Agriculture &amp; Environment</a:t>
            </a:r>
            <a:endParaRPr/>
          </a:p>
          <a:p>
            <a:pPr indent="0" lvl="0" marL="0" rtl="0" algn="l">
              <a:spcBef>
                <a:spcPts val="0"/>
              </a:spcBef>
              <a:spcAft>
                <a:spcPts val="0"/>
              </a:spcAft>
              <a:buClr>
                <a:schemeClr val="dk1"/>
              </a:buClr>
              <a:buSzPts val="1100"/>
              <a:buFont typeface="Arial"/>
              <a:buNone/>
            </a:pPr>
            <a:r>
              <a:rPr lang="en-US"/>
              <a:t>  "Climate and Environmental Data Contribute to the Prediction of Grain Commodity Prices"</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en-US"/>
              <a:t>  Why we chose this paper: First study to use Snow Water Equivalent for grain price prediction. Proved that weather data adds signal beyond what macro</a:t>
            </a:r>
            <a:endParaRPr/>
          </a:p>
          <a:p>
            <a:pPr indent="0" lvl="0" marL="0" rtl="0" algn="l">
              <a:spcBef>
                <a:spcPts val="0"/>
              </a:spcBef>
              <a:spcAft>
                <a:spcPts val="0"/>
              </a:spcAft>
              <a:buClr>
                <a:schemeClr val="dk1"/>
              </a:buClr>
              <a:buSzPts val="1100"/>
              <a:buFont typeface="Arial"/>
              <a:buNone/>
            </a:pPr>
            <a:r>
              <a:rPr lang="en-US"/>
              <a:t>  indicators capture, specifically for wheat, corn, oats, and soybeans.</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en-US"/>
              <a:t>  What it told us to collect:</a:t>
            </a:r>
            <a:endParaRPr/>
          </a:p>
          <a:p>
            <a:pPr indent="0" lvl="0" marL="0" rtl="0" algn="l">
              <a:spcBef>
                <a:spcPts val="0"/>
              </a:spcBef>
              <a:spcAft>
                <a:spcPts val="0"/>
              </a:spcAft>
              <a:buClr>
                <a:schemeClr val="dk1"/>
              </a:buClr>
              <a:buSzPts val="1100"/>
              <a:buFont typeface="Arial"/>
              <a:buNone/>
            </a:pPr>
            <a:r>
              <a:rPr lang="en-US"/>
              <a:t>  - Weather data for Kansas (top wheat state)</a:t>
            </a:r>
            <a:endParaRPr/>
          </a:p>
          <a:p>
            <a:pPr indent="0" lvl="0" marL="0" rtl="0" algn="l">
              <a:spcBef>
                <a:spcPts val="0"/>
              </a:spcBef>
              <a:spcAft>
                <a:spcPts val="0"/>
              </a:spcAft>
              <a:buClr>
                <a:schemeClr val="dk1"/>
              </a:buClr>
              <a:buSzPts val="1100"/>
              <a:buFont typeface="Arial"/>
              <a:buNone/>
            </a:pPr>
            <a:r>
              <a:rPr lang="en-US"/>
              <a:t>  - Weather data for North Dakota (second major wheat state)</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en-US"/>
              <a:t>  Their key finding: Snow Water Equivalent ranked 3rd-7th in feature importance — 7-8 places ABOVE precipitation. Weather captures supply shocks that macro</a:t>
            </a:r>
            <a:endParaRPr/>
          </a:p>
          <a:p>
            <a:pPr indent="0" lvl="0" marL="0" rtl="0" algn="l">
              <a:spcBef>
                <a:spcPts val="0"/>
              </a:spcBef>
              <a:spcAft>
                <a:spcPts val="0"/>
              </a:spcAft>
              <a:buClr>
                <a:schemeClr val="dk1"/>
              </a:buClr>
              <a:buSzPts val="1100"/>
              <a:buFont typeface="Arial"/>
              <a:buNone/>
            </a:pPr>
            <a:r>
              <a:rPr lang="en-US"/>
              <a:t>   data misses entirely.</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en-US"/>
              <a:t>  ---</a:t>
            </a:r>
            <a:endParaRPr/>
          </a:p>
          <a:p>
            <a:pPr indent="0" lvl="0" marL="0" rtl="0" algn="l">
              <a:spcBef>
                <a:spcPts val="0"/>
              </a:spcBef>
              <a:spcAft>
                <a:spcPts val="0"/>
              </a:spcAft>
              <a:buClr>
                <a:schemeClr val="dk1"/>
              </a:buClr>
              <a:buSzPts val="1100"/>
              <a:buFont typeface="Arial"/>
              <a:buNone/>
            </a:pPr>
            <a:r>
              <a:rPr lang="en-US"/>
              <a:t>  Paper 5: Teste (2025), PhD Thesis</a:t>
            </a:r>
            <a:endParaRPr/>
          </a:p>
          <a:p>
            <a:pPr indent="0" lvl="0" marL="0" rtl="0" algn="l">
              <a:spcBef>
                <a:spcPts val="0"/>
              </a:spcBef>
              <a:spcAft>
                <a:spcPts val="0"/>
              </a:spcAft>
              <a:buClr>
                <a:schemeClr val="dk1"/>
              </a:buClr>
              <a:buSzPts val="1100"/>
              <a:buFont typeface="Arial"/>
              <a:buNone/>
            </a:pPr>
            <a:r>
              <a:rPr lang="en-US"/>
              <a:t>  "Forecasting Agricultural Commodity Prices from Satellite"</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en-US"/>
              <a:t>  Why we chose this paper: Only study that directly uses satellite/remote sensing data to generate wheat futures trading signals. The 24% return result is</a:t>
            </a:r>
            <a:endParaRPr/>
          </a:p>
          <a:p>
            <a:pPr indent="0" lvl="0" marL="0" rtl="0" algn="l">
              <a:spcBef>
                <a:spcPts val="0"/>
              </a:spcBef>
              <a:spcAft>
                <a:spcPts val="0"/>
              </a:spcAft>
              <a:buClr>
                <a:schemeClr val="dk1"/>
              </a:buClr>
              <a:buSzPts val="1100"/>
              <a:buFont typeface="Arial"/>
              <a:buNone/>
            </a:pPr>
            <a:r>
              <a:rPr lang="en-US"/>
              <a:t>  compelling and the methodology is sound (20-day-ahead prediction).</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en-US"/>
              <a:t>  What it told us to collect:</a:t>
            </a:r>
            <a:endParaRPr/>
          </a:p>
          <a:p>
            <a:pPr indent="0" lvl="0" marL="0" rtl="0" algn="l">
              <a:spcBef>
                <a:spcPts val="0"/>
              </a:spcBef>
              <a:spcAft>
                <a:spcPts val="0"/>
              </a:spcAft>
              <a:buClr>
                <a:schemeClr val="dk1"/>
              </a:buClr>
              <a:buSzPts val="1100"/>
              <a:buFont typeface="Arial"/>
              <a:buNone/>
            </a:pPr>
            <a:r>
              <a:rPr lang="en-US"/>
              <a:t>  - NASA POWER agricultural parameters (solar radiation, humidity, wind — as vegetation/growing condition proxy)</a:t>
            </a:r>
            <a:endParaRPr/>
          </a:p>
          <a:p>
            <a:pPr indent="0" lvl="0" marL="0" rtl="0" algn="l">
              <a:spcBef>
                <a:spcPts val="0"/>
              </a:spcBef>
              <a:spcAft>
                <a:spcPts val="0"/>
              </a:spcAft>
              <a:buClr>
                <a:schemeClr val="dk1"/>
              </a:buClr>
              <a:buSzPts val="1100"/>
              <a:buFont typeface="Arial"/>
              <a:buNone/>
            </a:pPr>
            <a:r>
              <a:rPr lang="en-US"/>
              <a:t>  - Satellite NDVI (needs Google Earth Engine auth — identified but not yet implemented)</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en-US"/>
              <a:t>  Their key finding: CNN on satellite imagery for wheat → 24.12% annual return unleveraged. MODIS data yielded better results than AVHRR-NDVI.</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en-US"/>
              <a:t>  ---</a:t>
            </a:r>
            <a:endParaRPr/>
          </a:p>
          <a:p>
            <a:pPr indent="0" lvl="0" marL="0" rtl="0" algn="l">
              <a:spcBef>
                <a:spcPts val="0"/>
              </a:spcBef>
              <a:spcAft>
                <a:spcPts val="0"/>
              </a:spcAft>
              <a:buClr>
                <a:schemeClr val="dk1"/>
              </a:buClr>
              <a:buSzPts val="1100"/>
              <a:buFont typeface="Arial"/>
              <a:buNone/>
            </a:pPr>
            <a:r>
              <a:rPr lang="en-US"/>
              <a:t>  Paper 6: Ghali et al. (2024), arXiv</a:t>
            </a:r>
            <a:endParaRPr/>
          </a:p>
          <a:p>
            <a:pPr indent="0" lvl="0" marL="0" rtl="0" algn="l">
              <a:spcBef>
                <a:spcPts val="0"/>
              </a:spcBef>
              <a:spcAft>
                <a:spcPts val="0"/>
              </a:spcAft>
              <a:buClr>
                <a:schemeClr val="dk1"/>
              </a:buClr>
              <a:buSzPts val="1100"/>
              <a:buFont typeface="Arial"/>
              <a:buNone/>
            </a:pPr>
            <a:r>
              <a:rPr lang="en-US"/>
              <a:t>  "Forecasting Commodity Price Shocks Using Temporal and Semantic Fusion"</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en-US"/>
              <a:t>  Why we chose this paper: Most dramatic ablation result in all the literature we reviewed. Removing a single feature type (news) collapsed AUC from 0.94</a:t>
            </a:r>
            <a:endParaRPr/>
          </a:p>
          <a:p>
            <a:pPr indent="0" lvl="0" marL="0" rtl="0" algn="l">
              <a:spcBef>
                <a:spcPts val="0"/>
              </a:spcBef>
              <a:spcAft>
                <a:spcPts val="0"/>
              </a:spcAft>
              <a:buClr>
                <a:schemeClr val="dk1"/>
              </a:buClr>
              <a:buSzPts val="1100"/>
              <a:buFont typeface="Arial"/>
              <a:buNone/>
            </a:pPr>
            <a:r>
              <a:rPr lang="en-US"/>
              <a:t>  to 0.46. No other paper showed a single data source with this much impact.</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en-US"/>
              <a:t>  What it told us to collect:</a:t>
            </a:r>
            <a:endParaRPr/>
          </a:p>
          <a:p>
            <a:pPr indent="0" lvl="0" marL="0" rtl="0" algn="l">
              <a:spcBef>
                <a:spcPts val="0"/>
              </a:spcBef>
              <a:spcAft>
                <a:spcPts val="0"/>
              </a:spcAft>
              <a:buClr>
                <a:schemeClr val="dk1"/>
              </a:buClr>
              <a:buSzPts val="1100"/>
              <a:buFont typeface="Arial"/>
              <a:buNone/>
            </a:pPr>
            <a:r>
              <a:rPr lang="en-US"/>
              <a:t>  - News Sentiment via GDELT + FinBERT (planned — GDELT rate-limited during collection)</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en-US"/>
              <a:t>  Their key finding: News is not just another feature — it IS the dominant signal. Without it, the model is worse than random. With it, AUC reaches 0.94.</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en-US"/>
              <a:t>  ---</a:t>
            </a:r>
            <a:endParaRPr/>
          </a:p>
          <a:p>
            <a:pPr indent="0" lvl="0" marL="0" rtl="0" algn="l">
              <a:spcBef>
                <a:spcPts val="0"/>
              </a:spcBef>
              <a:spcAft>
                <a:spcPts val="0"/>
              </a:spcAft>
              <a:buClr>
                <a:schemeClr val="dk1"/>
              </a:buClr>
              <a:buSzPts val="1100"/>
              <a:buFont typeface="Arial"/>
              <a:buNone/>
            </a:pPr>
            <a:r>
              <a:rPr lang="en-US"/>
              <a:t>  Paper 7: Isengildina-Massa et al. (2023)</a:t>
            </a:r>
            <a:endParaRPr/>
          </a:p>
          <a:p>
            <a:pPr indent="0" lvl="0" marL="0" rtl="0" algn="l">
              <a:spcBef>
                <a:spcPts val="0"/>
              </a:spcBef>
              <a:spcAft>
                <a:spcPts val="0"/>
              </a:spcAft>
              <a:buClr>
                <a:schemeClr val="dk1"/>
              </a:buClr>
              <a:buSzPts val="1100"/>
              <a:buFont typeface="Arial"/>
              <a:buNone/>
            </a:pPr>
            <a:r>
              <a:rPr lang="en-US"/>
              <a:t>  "What Do We Know About the Accuracy and Impact of USDA Reports?"</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en-US"/>
              <a:t>  Why we chose this paper: Directly quantifies how much USDA crop reports move wheat futures prices. The &gt;70% variance explained figure is striking — it</a:t>
            </a:r>
            <a:endParaRPr/>
          </a:p>
          <a:p>
            <a:pPr indent="0" lvl="0" marL="0" rtl="0" algn="l">
              <a:spcBef>
                <a:spcPts val="0"/>
              </a:spcBef>
              <a:spcAft>
                <a:spcPts val="0"/>
              </a:spcAft>
              <a:buClr>
                <a:schemeClr val="dk1"/>
              </a:buClr>
              <a:buSzPts val="1100"/>
              <a:buFont typeface="Arial"/>
              <a:buNone/>
            </a:pPr>
            <a:r>
              <a:rPr lang="en-US"/>
              <a:t>  means one monthly report drives most of the price action.</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en-US"/>
              <a:t>  What it told us to collect:</a:t>
            </a:r>
            <a:endParaRPr/>
          </a:p>
          <a:p>
            <a:pPr indent="0" lvl="0" marL="0" rtl="0" algn="l">
              <a:spcBef>
                <a:spcPts val="0"/>
              </a:spcBef>
              <a:spcAft>
                <a:spcPts val="0"/>
              </a:spcAft>
              <a:buClr>
                <a:schemeClr val="dk1"/>
              </a:buClr>
              <a:buSzPts val="1100"/>
              <a:buFont typeface="Arial"/>
              <a:buNone/>
            </a:pPr>
            <a:r>
              <a:rPr lang="en-US"/>
              <a:t>  - USDA Crop Progress &amp; Condition (needs API key registration — identified but not yet implemented)</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en-US"/>
              <a:t>  Their key finding: ML-corrected crop report surprise explains &gt;70% of futures price variance. WASDE + futures forecast combination reduces errors by</a:t>
            </a:r>
            <a:endParaRPr/>
          </a:p>
          <a:p>
            <a:pPr indent="0" lvl="0" marL="0" rtl="0" algn="l">
              <a:spcBef>
                <a:spcPts val="0"/>
              </a:spcBef>
              <a:spcAft>
                <a:spcPts val="0"/>
              </a:spcAft>
              <a:buClr>
                <a:schemeClr val="dk1"/>
              </a:buClr>
              <a:buSzPts val="1100"/>
              <a:buFont typeface="Arial"/>
              <a:buNone/>
            </a:pPr>
            <a:r>
              <a:rPr lang="en-US"/>
              <a:t>  12-16%.</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en-US"/>
              <a:t>  ---</a:t>
            </a:r>
            <a:endParaRPr/>
          </a:p>
          <a:p>
            <a:pPr indent="0" lvl="0" marL="0" rtl="0" algn="l">
              <a:spcBef>
                <a:spcPts val="0"/>
              </a:spcBef>
              <a:spcAft>
                <a:spcPts val="0"/>
              </a:spcAft>
              <a:buClr>
                <a:schemeClr val="dk1"/>
              </a:buClr>
              <a:buSzPts val="1100"/>
              <a:buFont typeface="Arial"/>
              <a:buNone/>
            </a:pPr>
            <a:r>
              <a:rPr lang="en-US"/>
              <a:t>  Paper 8: Market microstructure literature (multiple sources)</a:t>
            </a:r>
            <a:endParaRPr/>
          </a:p>
          <a:p>
            <a:pPr indent="0" lvl="0" marL="0" rtl="0" algn="l">
              <a:spcBef>
                <a:spcPts val="0"/>
              </a:spcBef>
              <a:spcAft>
                <a:spcPts val="0"/>
              </a:spcAft>
              <a:buClr>
                <a:schemeClr val="dk1"/>
              </a:buClr>
              <a:buSzPts val="1100"/>
              <a:buFont typeface="Arial"/>
              <a:buNone/>
            </a:pPr>
            <a:r>
              <a:rPr lang="en-US"/>
              <a:t>  General finance — VIX as fear gauge</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en-US"/>
              <a:t>  Why we included this: VIX is the most widely used measure of market fear in quantitative finance. Not from a single paper but from established market</a:t>
            </a:r>
            <a:endParaRPr/>
          </a:p>
          <a:p>
            <a:pPr indent="0" lvl="0" marL="0" rtl="0" algn="l">
              <a:spcBef>
                <a:spcPts val="0"/>
              </a:spcBef>
              <a:spcAft>
                <a:spcPts val="0"/>
              </a:spcAft>
              <a:buClr>
                <a:schemeClr val="dk1"/>
              </a:buClr>
              <a:buSzPts val="1100"/>
              <a:buFont typeface="Arial"/>
              <a:buNone/>
            </a:pPr>
            <a:r>
              <a:rPr lang="en-US"/>
              <a:t>  microstructure understanding that volatility spikes precede commodity de-risking.</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en-US"/>
              <a:t>  What it told us to collect:</a:t>
            </a:r>
            <a:endParaRPr/>
          </a:p>
          <a:p>
            <a:pPr indent="0" lvl="0" marL="0" rtl="0" algn="l">
              <a:spcBef>
                <a:spcPts val="0"/>
              </a:spcBef>
              <a:spcAft>
                <a:spcPts val="0"/>
              </a:spcAft>
              <a:buClr>
                <a:schemeClr val="dk1"/>
              </a:buClr>
              <a:buSzPts val="1100"/>
              <a:buFont typeface="Arial"/>
              <a:buNone/>
            </a:pPr>
            <a:r>
              <a:rPr lang="en-US"/>
              <a:t>  - VIX (CBOE Volatility Index)</a:t>
            </a:r>
            <a:endParaRPr/>
          </a:p>
          <a:p>
            <a:pPr indent="0" lvl="0" marL="0" rtl="0" algn="l">
              <a:spcBef>
                <a:spcPts val="0"/>
              </a:spcBef>
              <a:spcAft>
                <a:spcPts val="0"/>
              </a:spcAft>
              <a:buClr>
                <a:schemeClr val="dk1"/>
              </a:buClr>
              <a:buSzPts val="1100"/>
              <a:buFont typeface="Arial"/>
              <a:buNone/>
            </a:pPr>
            <a:r>
              <a:rPr lang="en-US"/>
              <a:t>  - OVX (Oil Volatility Index)</a:t>
            </a:r>
            <a:endParaRPr/>
          </a:p>
          <a:p>
            <a:pPr indent="0" lvl="0" marL="0" rtl="0" algn="l">
              <a:spcBef>
                <a:spcPts val="0"/>
              </a:spcBef>
              <a:spcAft>
                <a:spcPts val="0"/>
              </a:spcAft>
              <a:buNone/>
            </a:pPr>
            <a:r>
              <a:t/>
            </a:r>
            <a:endParaRPr/>
          </a:p>
        </p:txBody>
      </p:sp>
      <p:sp>
        <p:nvSpPr>
          <p:cNvPr id="95" name="Google Shape;95;g396c2336dab_1_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 name="Shape 103"/>
        <p:cNvGrpSpPr/>
        <p:nvPr/>
      </p:nvGrpSpPr>
      <p:grpSpPr>
        <a:xfrm>
          <a:off x="0" y="0"/>
          <a:ext cx="0" cy="0"/>
          <a:chOff x="0" y="0"/>
          <a:chExt cx="0" cy="0"/>
        </a:xfrm>
      </p:grpSpPr>
      <p:sp>
        <p:nvSpPr>
          <p:cNvPr id="104" name="Google Shape;104;g396c2336dab_1_2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5" name="Google Shape;105;g396c2336dab_1_28: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SPEAKER NOTES — Slide 2: ARX</a:t>
            </a:r>
            <a:br>
              <a:rPr lang="en-US"/>
            </a:br>
            <a:br>
              <a:rPr lang="en-US"/>
            </a:br>
            <a:r>
              <a:rPr lang="en-US"/>
              <a:t>ARX is the classical econometric baseline implemented in Week 1. It predicts tomorrow's wheat price using two components: its own past prices (the AR part, up to 3 lags) and 31 macroeconomic features from FRED-MD (the exogenous part).</a:t>
            </a:r>
            <a:br>
              <a:rPr lang="en-US"/>
            </a:br>
            <a:br>
              <a:rPr lang="en-US"/>
            </a:br>
            <a:r>
              <a:rPr lang="en-US"/>
              <a:t>Fitting is done in closed form using Ridge OLS — no iterative training, no learning rate issues. Alpha=5 applies mild L2 regularisation to handle the multicollinearity across 31 correlated macro features.</a:t>
            </a:r>
            <a:br>
              <a:rPr lang="en-US"/>
            </a:br>
            <a:br>
              <a:rPr lang="en-US"/>
            </a:br>
            <a:r>
              <a:rPr lang="en-US"/>
              <a:t>Grid search over ar_lags, exog_lags, and alpha found the best configuration is ar_lags=3, exog_lags=1, alpha=5. This tells us that only the most recent few days of price history matter, and only the current month's macro reading (not lagged) adds value.</a:t>
            </a:r>
            <a:br>
              <a:rPr lang="en-US"/>
            </a:br>
            <a:br>
              <a:rPr lang="en-US"/>
            </a:br>
            <a:r>
              <a:rPr lang="en-US"/>
              <a:t>Test R²=0.983, essentially identical to the naive persistence baseline at 0.984. This is expected — wheat futures prices are highly autocorrelated day-to-day, and the AR-3 coefficient of 0.88 means the model is mostly saying "tomorrow ≈ today." The exogenous features add only marginal correction.</a:t>
            </a:r>
            <a:br>
              <a:rPr lang="en-US"/>
            </a:br>
            <a:br>
              <a:rPr lang="en-US"/>
            </a:br>
            <a:r>
              <a:rPr lang="en-US"/>
              <a:t>The test plot (right) shows the model tracks the 2022 Ukraine war spike and the subsequent decline. The fit looks good visually, but the RMSE of 20.99 vs naive 20.37 tells us the linear model is not adding value over simple persistence.</a:t>
            </a:r>
            <a:br>
              <a:rPr lang="en-US"/>
            </a:br>
            <a:br>
              <a:rPr lang="en-US"/>
            </a:br>
            <a:r>
              <a:rPr lang="en-US"/>
              <a:t>This sets the baseline. Any neural model that can't beat ARX isn't worth deploying.</a:t>
            </a:r>
            <a:endParaRPr/>
          </a:p>
        </p:txBody>
      </p:sp>
      <p:sp>
        <p:nvSpPr>
          <p:cNvPr id="106" name="Google Shape;106;g396c2336dab_1_28: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10" name="Shape 10"/>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11" name="Shape 11"/>
        <p:cNvGrpSpPr/>
        <p:nvPr/>
      </p:nvGrpSpPr>
      <p:grpSpPr>
        <a:xfrm>
          <a:off x="0" y="0"/>
          <a:ext cx="0" cy="0"/>
          <a:chOff x="0" y="0"/>
          <a:chExt cx="0" cy="0"/>
        </a:xfrm>
      </p:grpSpPr>
      <p:sp>
        <p:nvSpPr>
          <p:cNvPr id="12" name="Google Shape;12;p3"/>
          <p:cNvSpPr txBox="1"/>
          <p:nvPr>
            <p:ph type="title"/>
          </p:nvPr>
        </p:nvSpPr>
        <p:spPr>
          <a:xfrm>
            <a:off x="628650" y="273844"/>
            <a:ext cx="7886700" cy="994200"/>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13" name="Google Shape;13;p3"/>
          <p:cNvSpPr txBox="1"/>
          <p:nvPr>
            <p:ph idx="10" type="dt"/>
          </p:nvPr>
        </p:nvSpPr>
        <p:spPr>
          <a:xfrm>
            <a:off x="628650" y="4767263"/>
            <a:ext cx="2057400" cy="273900"/>
          </a:xfrm>
          <a:prstGeom prst="rect">
            <a:avLst/>
          </a:prstGeom>
          <a:noFill/>
          <a:ln>
            <a:noFill/>
          </a:ln>
        </p:spPr>
        <p:txBody>
          <a:bodyPr anchorCtr="0" anchor="ctr" bIns="34275" lIns="68575" spcFirstLastPara="1" rIns="68575" wrap="square" tIns="34275">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14" name="Google Shape;14;p3"/>
          <p:cNvSpPr txBox="1"/>
          <p:nvPr>
            <p:ph idx="11" type="ftr"/>
          </p:nvPr>
        </p:nvSpPr>
        <p:spPr>
          <a:xfrm>
            <a:off x="3028950" y="4767263"/>
            <a:ext cx="3086100" cy="273900"/>
          </a:xfrm>
          <a:prstGeom prst="rect">
            <a:avLst/>
          </a:prstGeom>
          <a:noFill/>
          <a:ln>
            <a:noFill/>
          </a:ln>
        </p:spPr>
        <p:txBody>
          <a:bodyPr anchorCtr="0" anchor="ctr" bIns="34275" lIns="68575" spcFirstLastPara="1" rIns="68575" wrap="square" tIns="34275">
            <a:noAutofit/>
          </a:bodyPr>
          <a:lstStyle>
            <a:lvl1pPr lvl="0" algn="ctr">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15" name="Google Shape;15;p3"/>
          <p:cNvSpPr txBox="1"/>
          <p:nvPr>
            <p:ph idx="12" type="sldNum"/>
          </p:nvPr>
        </p:nvSpPr>
        <p:spPr>
          <a:xfrm>
            <a:off x="6457950" y="4767263"/>
            <a:ext cx="2057400" cy="273900"/>
          </a:xfrm>
          <a:prstGeom prst="rect">
            <a:avLst/>
          </a:prstGeom>
          <a:noFill/>
          <a:ln>
            <a:noFill/>
          </a:ln>
        </p:spPr>
        <p:txBody>
          <a:bodyPr anchorCtr="0" anchor="ctr" bIns="34275" lIns="68575" spcFirstLastPara="1" rIns="68575" wrap="square" tIns="34275">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 name="Shape 9"/>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48" r:id="rId1"/>
    <p:sldLayoutId id="2147483649" r:id="rId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2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13.png"/><Relationship Id="rId4" Type="http://schemas.openxmlformats.org/officeDocument/2006/relationships/image" Target="../media/image3.png"/><Relationship Id="rId5" Type="http://schemas.openxmlformats.org/officeDocument/2006/relationships/image" Target="../media/image8.png"/><Relationship Id="rId6" Type="http://schemas.openxmlformats.org/officeDocument/2006/relationships/image" Target="../media/image5.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10.png"/><Relationship Id="rId4" Type="http://schemas.openxmlformats.org/officeDocument/2006/relationships/image" Target="../media/image5.png"/><Relationship Id="rId5" Type="http://schemas.openxmlformats.org/officeDocument/2006/relationships/image" Target="../media/image2.png"/><Relationship Id="rId6" Type="http://schemas.openxmlformats.org/officeDocument/2006/relationships/image" Target="../media/image14.png"/></Relationships>
</file>

<file path=ppt/slides/_rels/slide4.xml.rels><?xml version="1.0" encoding="UTF-8" standalone="yes"?><Relationships xmlns="http://schemas.openxmlformats.org/package/2006/relationships"><Relationship Id="rId20" Type="http://schemas.openxmlformats.org/officeDocument/2006/relationships/image" Target="../media/image6.png"/><Relationship Id="rId11" Type="http://schemas.openxmlformats.org/officeDocument/2006/relationships/image" Target="../media/image12.png"/><Relationship Id="rId10" Type="http://schemas.openxmlformats.org/officeDocument/2006/relationships/hyperlink" Target="https://aaec.vt.edu/content/dam/aaec_vt_edu/faculty-research/NCGA%20Report_Final.pdf" TargetMode="External"/><Relationship Id="rId13" Type="http://schemas.openxmlformats.org/officeDocument/2006/relationships/image" Target="../media/image17.png"/><Relationship Id="rId12" Type="http://schemas.openxmlformats.org/officeDocument/2006/relationships/image" Target="../media/image18.png"/><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11.png"/><Relationship Id="rId4" Type="http://schemas.openxmlformats.org/officeDocument/2006/relationships/hyperlink" Target="https://doi.org/10.1002/fut.22471" TargetMode="External"/><Relationship Id="rId9" Type="http://schemas.openxmlformats.org/officeDocument/2006/relationships/hyperlink" Target="https://doi.org/10.48550/arXiv.2508.06497" TargetMode="External"/><Relationship Id="rId15" Type="http://schemas.openxmlformats.org/officeDocument/2006/relationships/image" Target="../media/image9.png"/><Relationship Id="rId14" Type="http://schemas.openxmlformats.org/officeDocument/2006/relationships/image" Target="../media/image15.png"/><Relationship Id="rId17" Type="http://schemas.openxmlformats.org/officeDocument/2006/relationships/image" Target="../media/image4.png"/><Relationship Id="rId16" Type="http://schemas.openxmlformats.org/officeDocument/2006/relationships/image" Target="../media/image22.png"/><Relationship Id="rId5" Type="http://schemas.openxmlformats.org/officeDocument/2006/relationships/hyperlink" Target="https://doi.org/10.1038/s41598-025-05103-z" TargetMode="External"/><Relationship Id="rId19" Type="http://schemas.openxmlformats.org/officeDocument/2006/relationships/image" Target="../media/image7.png"/><Relationship Id="rId6" Type="http://schemas.openxmlformats.org/officeDocument/2006/relationships/hyperlink" Target="https://doi.org/10.5937/ekoPolj2101203G" TargetMode="External"/><Relationship Id="rId18" Type="http://schemas.openxmlformats.org/officeDocument/2006/relationships/image" Target="../media/image16.png"/><Relationship Id="rId7" Type="http://schemas.openxmlformats.org/officeDocument/2006/relationships/hyperlink" Target="https://doi.org/10.1002/sae2.12041" TargetMode="External"/><Relationship Id="rId8" Type="http://schemas.openxmlformats.org/officeDocument/2006/relationships/hyperlink" Target="https://agris.fao.org/search/ar/records/67dacf50677d8be0233befe7" TargetMode="Externa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20.png"/><Relationship Id="rId4" Type="http://schemas.openxmlformats.org/officeDocument/2006/relationships/image" Target="../media/image19.png"/><Relationship Id="rId5" Type="http://schemas.openxmlformats.org/officeDocument/2006/relationships/hyperlink" Target="https://drive.google.com/file/d/1xzkaJaKBteETVQV_qxAeOeQ79a900dpO/view?usp=sharing" TargetMode="Externa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0030"/>
        </a:solidFill>
      </p:bgPr>
    </p:bg>
    <p:spTree>
      <p:nvGrpSpPr>
        <p:cNvPr id="20" name="Shape 20"/>
        <p:cNvGrpSpPr/>
        <p:nvPr/>
      </p:nvGrpSpPr>
      <p:grpSpPr>
        <a:xfrm>
          <a:off x="0" y="0"/>
          <a:ext cx="0" cy="0"/>
          <a:chOff x="0" y="0"/>
          <a:chExt cx="0" cy="0"/>
        </a:xfrm>
      </p:grpSpPr>
      <p:sp>
        <p:nvSpPr>
          <p:cNvPr id="21" name="Google Shape;21;p4"/>
          <p:cNvSpPr/>
          <p:nvPr/>
        </p:nvSpPr>
        <p:spPr>
          <a:xfrm>
            <a:off x="164600" y="347475"/>
            <a:ext cx="8900100" cy="50670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57068C"/>
              </a:buClr>
              <a:buSzPts val="28000"/>
              <a:buFont typeface="Calibri"/>
              <a:buNone/>
            </a:pPr>
            <a:r>
              <a:t/>
            </a:r>
            <a:endParaRPr b="0" i="0" sz="35000" u="none" cap="none" strike="noStrike">
              <a:solidFill>
                <a:srgbClr val="E1D4EA"/>
              </a:solidFill>
              <a:latin typeface="Calibri"/>
              <a:ea typeface="Calibri"/>
              <a:cs typeface="Calibri"/>
              <a:sym typeface="Calibri"/>
            </a:endParaRPr>
          </a:p>
        </p:txBody>
      </p:sp>
      <p:sp>
        <p:nvSpPr>
          <p:cNvPr id="22" name="Google Shape;22;p4"/>
          <p:cNvSpPr/>
          <p:nvPr/>
        </p:nvSpPr>
        <p:spPr>
          <a:xfrm>
            <a:off x="0" y="0"/>
            <a:ext cx="164592" cy="5143500"/>
          </a:xfrm>
          <a:prstGeom prst="rect">
            <a:avLst/>
          </a:prstGeom>
          <a:solidFill>
            <a:srgbClr val="57068C"/>
          </a:solidFill>
          <a:ln cap="flat" cmpd="sng" w="12700">
            <a:solidFill>
              <a:srgbClr val="57068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 name="Google Shape;23;p4"/>
          <p:cNvSpPr/>
          <p:nvPr/>
        </p:nvSpPr>
        <p:spPr>
          <a:xfrm>
            <a:off x="365760" y="274320"/>
            <a:ext cx="548640" cy="329184"/>
          </a:xfrm>
          <a:prstGeom prst="rect">
            <a:avLst/>
          </a:prstGeom>
          <a:solidFill>
            <a:srgbClr val="57068C"/>
          </a:solidFill>
          <a:ln cap="flat" cmpd="sng" w="12700">
            <a:solidFill>
              <a:srgbClr val="57068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 name="Google Shape;24;p4"/>
          <p:cNvSpPr/>
          <p:nvPr/>
        </p:nvSpPr>
        <p:spPr>
          <a:xfrm>
            <a:off x="365760" y="274320"/>
            <a:ext cx="548640" cy="32918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300"/>
              <a:buFont typeface="Calibri"/>
              <a:buNone/>
            </a:pPr>
            <a:r>
              <a:rPr b="1" i="0" lang="en-US" sz="1300" u="none" cap="none" strike="noStrike">
                <a:solidFill>
                  <a:srgbClr val="FFFFFF"/>
                </a:solidFill>
                <a:latin typeface="Calibri"/>
                <a:ea typeface="Calibri"/>
                <a:cs typeface="Calibri"/>
                <a:sym typeface="Calibri"/>
              </a:rPr>
              <a:t>NYU</a:t>
            </a:r>
            <a:endParaRPr b="0" i="0" sz="1300" u="none" cap="none" strike="noStrike">
              <a:solidFill>
                <a:schemeClr val="dk1"/>
              </a:solidFill>
              <a:latin typeface="Calibri"/>
              <a:ea typeface="Calibri"/>
              <a:cs typeface="Calibri"/>
              <a:sym typeface="Calibri"/>
            </a:endParaRPr>
          </a:p>
        </p:txBody>
      </p:sp>
      <p:sp>
        <p:nvSpPr>
          <p:cNvPr id="25" name="Google Shape;25;p4"/>
          <p:cNvSpPr/>
          <p:nvPr/>
        </p:nvSpPr>
        <p:spPr>
          <a:xfrm>
            <a:off x="1051560" y="347472"/>
            <a:ext cx="640080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BB88DD"/>
              </a:buClr>
              <a:buSzPts val="900"/>
              <a:buFont typeface="Calibri"/>
              <a:buNone/>
            </a:pPr>
            <a:r>
              <a:rPr b="0" i="1" lang="en-US" sz="900" u="none" cap="none" strike="noStrike">
                <a:solidFill>
                  <a:srgbClr val="BB88DD"/>
                </a:solidFill>
                <a:latin typeface="Calibri"/>
                <a:ea typeface="Calibri"/>
                <a:cs typeface="Calibri"/>
                <a:sym typeface="Calibri"/>
              </a:rPr>
              <a:t>Vertically Integrated Projects  |  Agriculture Commodity Forecasting</a:t>
            </a:r>
            <a:endParaRPr b="0" i="0" sz="900" u="none" cap="none" strike="noStrike">
              <a:solidFill>
                <a:schemeClr val="dk1"/>
              </a:solidFill>
              <a:latin typeface="Calibri"/>
              <a:ea typeface="Calibri"/>
              <a:cs typeface="Calibri"/>
              <a:sym typeface="Calibri"/>
            </a:endParaRPr>
          </a:p>
        </p:txBody>
      </p:sp>
      <p:sp>
        <p:nvSpPr>
          <p:cNvPr id="26" name="Google Shape;26;p4"/>
          <p:cNvSpPr/>
          <p:nvPr/>
        </p:nvSpPr>
        <p:spPr>
          <a:xfrm>
            <a:off x="365755" y="859550"/>
            <a:ext cx="4263300" cy="822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5200"/>
              <a:buFont typeface="Calibri"/>
              <a:buNone/>
            </a:pPr>
            <a:r>
              <a:rPr b="1" i="0" lang="en-US" sz="5200" u="none" cap="none" strike="noStrike">
                <a:solidFill>
                  <a:srgbClr val="FFFFFF"/>
                </a:solidFill>
                <a:latin typeface="Calibri"/>
                <a:ea typeface="Calibri"/>
                <a:cs typeface="Calibri"/>
                <a:sym typeface="Calibri"/>
              </a:rPr>
              <a:t>Wheat Futures</a:t>
            </a:r>
            <a:endParaRPr b="0" i="0" sz="5200" u="none" cap="none" strike="noStrike">
              <a:solidFill>
                <a:schemeClr val="dk1"/>
              </a:solidFill>
              <a:latin typeface="Calibri"/>
              <a:ea typeface="Calibri"/>
              <a:cs typeface="Calibri"/>
              <a:sym typeface="Calibri"/>
            </a:endParaRPr>
          </a:p>
        </p:txBody>
      </p:sp>
      <p:sp>
        <p:nvSpPr>
          <p:cNvPr id="27" name="Google Shape;27;p4"/>
          <p:cNvSpPr/>
          <p:nvPr/>
        </p:nvSpPr>
        <p:spPr>
          <a:xfrm>
            <a:off x="368449" y="1710075"/>
            <a:ext cx="8492400" cy="822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900E1"/>
              </a:buClr>
              <a:buSzPts val="5200"/>
              <a:buFont typeface="Calibri"/>
              <a:buNone/>
            </a:pPr>
            <a:r>
              <a:rPr b="1" i="0" lang="en-US" sz="5100" u="none" cap="none" strike="noStrike">
                <a:solidFill>
                  <a:srgbClr val="8900E1"/>
                </a:solidFill>
                <a:latin typeface="Calibri"/>
                <a:ea typeface="Calibri"/>
                <a:cs typeface="Calibri"/>
                <a:sym typeface="Calibri"/>
              </a:rPr>
              <a:t>Price Forecasting</a:t>
            </a:r>
            <a:r>
              <a:rPr b="1" lang="en-US" sz="5100">
                <a:solidFill>
                  <a:srgbClr val="8900E1"/>
                </a:solidFill>
                <a:latin typeface="Calibri"/>
                <a:ea typeface="Calibri"/>
                <a:cs typeface="Calibri"/>
                <a:sym typeface="Calibri"/>
              </a:rPr>
              <a:t> </a:t>
            </a:r>
            <a:r>
              <a:rPr b="1" i="0" lang="en-US" sz="5100" u="none" cap="none" strike="noStrike">
                <a:solidFill>
                  <a:srgbClr val="8900E1"/>
                </a:solidFill>
                <a:latin typeface="Calibri"/>
                <a:ea typeface="Calibri"/>
                <a:cs typeface="Calibri"/>
                <a:sym typeface="Calibri"/>
              </a:rPr>
              <a:t>Classification</a:t>
            </a:r>
            <a:endParaRPr b="0" i="0" sz="5100" u="none" cap="none" strike="noStrike">
              <a:solidFill>
                <a:schemeClr val="dk1"/>
              </a:solidFill>
              <a:latin typeface="Calibri"/>
              <a:ea typeface="Calibri"/>
              <a:cs typeface="Calibri"/>
              <a:sym typeface="Calibri"/>
            </a:endParaRPr>
          </a:p>
        </p:txBody>
      </p:sp>
      <p:sp>
        <p:nvSpPr>
          <p:cNvPr id="28" name="Google Shape;28;p4"/>
          <p:cNvSpPr/>
          <p:nvPr/>
        </p:nvSpPr>
        <p:spPr>
          <a:xfrm>
            <a:off x="365760" y="4297680"/>
            <a:ext cx="822960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100"/>
              <a:buFont typeface="Calibri"/>
              <a:buNone/>
            </a:pPr>
            <a:r>
              <a:rPr b="1" i="0" lang="en-US" sz="1100" u="none" cap="none" strike="noStrike">
                <a:solidFill>
                  <a:srgbClr val="FFFFFF"/>
                </a:solidFill>
                <a:latin typeface="Calibri"/>
                <a:ea typeface="Calibri"/>
                <a:cs typeface="Calibri"/>
                <a:sym typeface="Calibri"/>
              </a:rPr>
              <a:t>Nishant Pushparaju</a:t>
            </a:r>
            <a:r>
              <a:rPr b="0" i="0" lang="en-US" sz="1100" u="none" cap="none" strike="noStrike">
                <a:solidFill>
                  <a:srgbClr val="AA88CC"/>
                </a:solidFill>
                <a:latin typeface="Calibri"/>
                <a:ea typeface="Calibri"/>
                <a:cs typeface="Calibri"/>
                <a:sym typeface="Calibri"/>
              </a:rPr>
              <a:t>   |   N11677724   |   </a:t>
            </a:r>
            <a:r>
              <a:rPr lang="en-US" sz="1100">
                <a:solidFill>
                  <a:srgbClr val="AA88CC"/>
                </a:solidFill>
                <a:latin typeface="Calibri"/>
                <a:ea typeface="Calibri"/>
                <a:cs typeface="Calibri"/>
                <a:sym typeface="Calibri"/>
              </a:rPr>
              <a:t>April</a:t>
            </a:r>
            <a:r>
              <a:rPr b="0" i="0" lang="en-US" sz="1100" u="none" cap="none" strike="noStrike">
                <a:solidFill>
                  <a:srgbClr val="AA88CC"/>
                </a:solidFill>
                <a:latin typeface="Calibri"/>
                <a:ea typeface="Calibri"/>
                <a:cs typeface="Calibri"/>
                <a:sym typeface="Calibri"/>
              </a:rPr>
              <a:t> </a:t>
            </a:r>
            <a:r>
              <a:rPr lang="en-US" sz="1100">
                <a:solidFill>
                  <a:srgbClr val="AA88CC"/>
                </a:solidFill>
                <a:latin typeface="Calibri"/>
                <a:ea typeface="Calibri"/>
                <a:cs typeface="Calibri"/>
                <a:sym typeface="Calibri"/>
              </a:rPr>
              <a:t>01</a:t>
            </a:r>
            <a:r>
              <a:rPr b="0" i="0" lang="en-US" sz="1100" u="none" cap="none" strike="noStrike">
                <a:solidFill>
                  <a:srgbClr val="AA88CC"/>
                </a:solidFill>
                <a:latin typeface="Calibri"/>
                <a:ea typeface="Calibri"/>
                <a:cs typeface="Calibri"/>
                <a:sym typeface="Calibri"/>
              </a:rPr>
              <a:t>, 2026</a:t>
            </a:r>
            <a:endParaRPr b="0" i="0" sz="1100" u="none" cap="none" strike="noStrike">
              <a:solidFill>
                <a:schemeClr val="dk1"/>
              </a:solidFill>
              <a:latin typeface="Calibri"/>
              <a:ea typeface="Calibri"/>
              <a:cs typeface="Calibri"/>
              <a:sym typeface="Calibri"/>
            </a:endParaRPr>
          </a:p>
        </p:txBody>
      </p:sp>
      <p:sp>
        <p:nvSpPr>
          <p:cNvPr id="29" name="Google Shape;29;p4"/>
          <p:cNvSpPr/>
          <p:nvPr/>
        </p:nvSpPr>
        <p:spPr>
          <a:xfrm>
            <a:off x="0" y="4846320"/>
            <a:ext cx="9144000" cy="297180"/>
          </a:xfrm>
          <a:prstGeom prst="rect">
            <a:avLst/>
          </a:prstGeom>
          <a:solidFill>
            <a:srgbClr val="57068C"/>
          </a:solidFill>
          <a:ln cap="flat" cmpd="sng" w="12700">
            <a:solidFill>
              <a:srgbClr val="57068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 name="Google Shape;30;p4"/>
          <p:cNvSpPr/>
          <p:nvPr/>
        </p:nvSpPr>
        <p:spPr>
          <a:xfrm>
            <a:off x="365760" y="4846320"/>
            <a:ext cx="8412480" cy="2971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850"/>
              <a:buFont typeface="Calibri"/>
              <a:buNone/>
            </a:pPr>
            <a:r>
              <a:rPr b="0" i="0" lang="en-US" sz="850" u="none" cap="none" strike="noStrike">
                <a:solidFill>
                  <a:srgbClr val="FFFFFF"/>
                </a:solidFill>
                <a:latin typeface="Calibri"/>
                <a:ea typeface="Calibri"/>
                <a:cs typeface="Calibri"/>
                <a:sym typeface="Calibri"/>
              </a:rPr>
              <a:t>VIP Agriculture — Wheat Futures Price Forecasting   |   NYU Tandon School of Engineering</a:t>
            </a:r>
            <a:endParaRPr b="0" i="0" sz="850" u="none" cap="none" strike="noStrike">
              <a:solidFill>
                <a:schemeClr val="dk1"/>
              </a:solidFill>
              <a:latin typeface="Calibri"/>
              <a:ea typeface="Calibri"/>
              <a:cs typeface="Calibri"/>
              <a:sym typeface="Calibri"/>
            </a:endParaRPr>
          </a:p>
        </p:txBody>
      </p:sp>
      <p:pic>
        <p:nvPicPr>
          <p:cNvPr id="31" name="Google Shape;31;p4"/>
          <p:cNvPicPr preferRelativeResize="0"/>
          <p:nvPr/>
        </p:nvPicPr>
        <p:blipFill>
          <a:blip r:embed="rId3">
            <a:alphaModFix/>
          </a:blip>
          <a:stretch>
            <a:fillRect/>
          </a:stretch>
        </p:blipFill>
        <p:spPr>
          <a:xfrm>
            <a:off x="365750" y="2637725"/>
            <a:ext cx="8229602" cy="15552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1"/>
                                        </p:tgtEl>
                                        <p:attrNameLst>
                                          <p:attrName>style.visibility</p:attrName>
                                        </p:attrNameLst>
                                      </p:cBhvr>
                                      <p:to>
                                        <p:strVal val="visible"/>
                                      </p:to>
                                    </p:set>
                                    <p:animEffect filter="fade" transition="in">
                                      <p:cBhvr>
                                        <p:cTn dur="1000"/>
                                        <p:tgtEl>
                                          <p:spTgt spid="31"/>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6" name="Shape 36"/>
        <p:cNvGrpSpPr/>
        <p:nvPr/>
      </p:nvGrpSpPr>
      <p:grpSpPr>
        <a:xfrm>
          <a:off x="0" y="0"/>
          <a:ext cx="0" cy="0"/>
          <a:chOff x="0" y="0"/>
          <a:chExt cx="0" cy="0"/>
        </a:xfrm>
      </p:grpSpPr>
      <p:sp>
        <p:nvSpPr>
          <p:cNvPr id="37" name="Google Shape;37;p5"/>
          <p:cNvSpPr/>
          <p:nvPr/>
        </p:nvSpPr>
        <p:spPr>
          <a:xfrm>
            <a:off x="0" y="0"/>
            <a:ext cx="9144000" cy="777240"/>
          </a:xfrm>
          <a:prstGeom prst="rect">
            <a:avLst/>
          </a:prstGeom>
          <a:solidFill>
            <a:srgbClr val="57068C"/>
          </a:solidFill>
          <a:ln cap="flat" cmpd="sng" w="12700">
            <a:solidFill>
              <a:srgbClr val="57068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 name="Google Shape;38;p5"/>
          <p:cNvSpPr/>
          <p:nvPr/>
        </p:nvSpPr>
        <p:spPr>
          <a:xfrm>
            <a:off x="228600" y="256032"/>
            <a:ext cx="411480" cy="256032"/>
          </a:xfrm>
          <a:prstGeom prst="rect">
            <a:avLst/>
          </a:prstGeom>
          <a:solidFill>
            <a:srgbClr val="57068C"/>
          </a:solidFill>
          <a:ln cap="flat" cmpd="sng" w="12700">
            <a:solidFill>
              <a:srgbClr val="57068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 name="Google Shape;39;p5"/>
          <p:cNvSpPr/>
          <p:nvPr/>
        </p:nvSpPr>
        <p:spPr>
          <a:xfrm>
            <a:off x="228600" y="256032"/>
            <a:ext cx="411480" cy="25603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000"/>
              <a:buFont typeface="Calibri"/>
              <a:buNone/>
            </a:pPr>
            <a:r>
              <a:rPr b="1" i="0" lang="en-US" sz="1000" u="none" cap="none" strike="noStrike">
                <a:solidFill>
                  <a:srgbClr val="FFFFFF"/>
                </a:solidFill>
                <a:latin typeface="Calibri"/>
                <a:ea typeface="Calibri"/>
                <a:cs typeface="Calibri"/>
                <a:sym typeface="Calibri"/>
              </a:rPr>
              <a:t>NYU</a:t>
            </a:r>
            <a:endParaRPr b="0" i="0" sz="1000" u="none" cap="none" strike="noStrike">
              <a:solidFill>
                <a:schemeClr val="dk1"/>
              </a:solidFill>
              <a:latin typeface="Calibri"/>
              <a:ea typeface="Calibri"/>
              <a:cs typeface="Calibri"/>
              <a:sym typeface="Calibri"/>
            </a:endParaRPr>
          </a:p>
        </p:txBody>
      </p:sp>
      <p:sp>
        <p:nvSpPr>
          <p:cNvPr id="40" name="Google Shape;40;p5"/>
          <p:cNvSpPr/>
          <p:nvPr/>
        </p:nvSpPr>
        <p:spPr>
          <a:xfrm>
            <a:off x="749808" y="91440"/>
            <a:ext cx="137160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C99FF"/>
              </a:buClr>
              <a:buSzPts val="900"/>
              <a:buFont typeface="Calibri"/>
              <a:buNone/>
            </a:pPr>
            <a:r>
              <a:rPr b="1" i="0" lang="en-US" sz="900" u="none" cap="none" strike="noStrike">
                <a:solidFill>
                  <a:srgbClr val="CC99FF"/>
                </a:solidFill>
                <a:latin typeface="Calibri"/>
                <a:ea typeface="Calibri"/>
                <a:cs typeface="Calibri"/>
                <a:sym typeface="Calibri"/>
              </a:rPr>
              <a:t>Week 1</a:t>
            </a:r>
            <a:endParaRPr b="0" i="0" sz="900" u="none" cap="none" strike="noStrike">
              <a:solidFill>
                <a:schemeClr val="dk1"/>
              </a:solidFill>
              <a:latin typeface="Calibri"/>
              <a:ea typeface="Calibri"/>
              <a:cs typeface="Calibri"/>
              <a:sym typeface="Calibri"/>
            </a:endParaRPr>
          </a:p>
        </p:txBody>
      </p:sp>
      <p:sp>
        <p:nvSpPr>
          <p:cNvPr id="41" name="Google Shape;41;p5"/>
          <p:cNvSpPr/>
          <p:nvPr/>
        </p:nvSpPr>
        <p:spPr>
          <a:xfrm>
            <a:off x="749808" y="384048"/>
            <a:ext cx="7772400" cy="32918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700"/>
              <a:buFont typeface="Calibri"/>
              <a:buNone/>
            </a:pPr>
            <a:r>
              <a:rPr b="1" lang="en-US" sz="1700">
                <a:solidFill>
                  <a:srgbClr val="FFFFFF"/>
                </a:solidFill>
                <a:latin typeface="Calibri"/>
                <a:ea typeface="Calibri"/>
                <a:cs typeface="Calibri"/>
                <a:sym typeface="Calibri"/>
              </a:rPr>
              <a:t>Classification Models </a:t>
            </a:r>
            <a:r>
              <a:rPr b="1" lang="en-US" sz="1700">
                <a:solidFill>
                  <a:srgbClr val="FFFFFF"/>
                </a:solidFill>
                <a:latin typeface="Calibri"/>
                <a:ea typeface="Calibri"/>
                <a:cs typeface="Calibri"/>
                <a:sym typeface="Calibri"/>
              </a:rPr>
              <a:t>Comparison</a:t>
            </a:r>
            <a:r>
              <a:rPr b="1" lang="en-US" sz="1700">
                <a:solidFill>
                  <a:srgbClr val="FFFFFF"/>
                </a:solidFill>
                <a:latin typeface="Calibri"/>
                <a:ea typeface="Calibri"/>
                <a:cs typeface="Calibri"/>
                <a:sym typeface="Calibri"/>
              </a:rPr>
              <a:t> - 1</a:t>
            </a:r>
            <a:endParaRPr b="0" i="0" sz="1700" u="none" cap="none" strike="noStrike">
              <a:solidFill>
                <a:schemeClr val="dk1"/>
              </a:solidFill>
              <a:latin typeface="Calibri"/>
              <a:ea typeface="Calibri"/>
              <a:cs typeface="Calibri"/>
              <a:sym typeface="Calibri"/>
            </a:endParaRPr>
          </a:p>
        </p:txBody>
      </p:sp>
      <p:pic>
        <p:nvPicPr>
          <p:cNvPr id="42" name="Google Shape;42;p5"/>
          <p:cNvPicPr preferRelativeResize="0"/>
          <p:nvPr/>
        </p:nvPicPr>
        <p:blipFill rotWithShape="1">
          <a:blip r:embed="rId3">
            <a:alphaModFix/>
          </a:blip>
          <a:srcRect b="0" l="0" r="51052" t="0"/>
          <a:stretch/>
        </p:blipFill>
        <p:spPr>
          <a:xfrm>
            <a:off x="348350" y="1166400"/>
            <a:ext cx="3268424" cy="2391350"/>
          </a:xfrm>
          <a:prstGeom prst="rect">
            <a:avLst/>
          </a:prstGeom>
          <a:noFill/>
          <a:ln>
            <a:noFill/>
          </a:ln>
        </p:spPr>
      </p:pic>
      <p:pic>
        <p:nvPicPr>
          <p:cNvPr id="43" name="Google Shape;43;p5"/>
          <p:cNvPicPr preferRelativeResize="0"/>
          <p:nvPr/>
        </p:nvPicPr>
        <p:blipFill>
          <a:blip r:embed="rId4">
            <a:alphaModFix/>
          </a:blip>
          <a:stretch>
            <a:fillRect/>
          </a:stretch>
        </p:blipFill>
        <p:spPr>
          <a:xfrm>
            <a:off x="242888" y="3697800"/>
            <a:ext cx="3479351" cy="1087825"/>
          </a:xfrm>
          <a:prstGeom prst="rect">
            <a:avLst/>
          </a:prstGeom>
          <a:noFill/>
          <a:ln>
            <a:noFill/>
          </a:ln>
        </p:spPr>
      </p:pic>
      <p:sp>
        <p:nvSpPr>
          <p:cNvPr id="44" name="Google Shape;44;p5"/>
          <p:cNvSpPr txBox="1"/>
          <p:nvPr/>
        </p:nvSpPr>
        <p:spPr>
          <a:xfrm>
            <a:off x="408225" y="889900"/>
            <a:ext cx="3151500" cy="2562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US"/>
              <a:t>ARX Classifier (Logistic Regression)</a:t>
            </a:r>
            <a:endParaRPr/>
          </a:p>
        </p:txBody>
      </p:sp>
      <p:pic>
        <p:nvPicPr>
          <p:cNvPr id="45" name="Google Shape;45;p5"/>
          <p:cNvPicPr preferRelativeResize="0"/>
          <p:nvPr/>
        </p:nvPicPr>
        <p:blipFill rotWithShape="1">
          <a:blip r:embed="rId5">
            <a:alphaModFix/>
          </a:blip>
          <a:srcRect b="0" l="0" r="51172" t="0"/>
          <a:stretch/>
        </p:blipFill>
        <p:spPr>
          <a:xfrm>
            <a:off x="5391838" y="1163463"/>
            <a:ext cx="3268424" cy="2397221"/>
          </a:xfrm>
          <a:prstGeom prst="rect">
            <a:avLst/>
          </a:prstGeom>
          <a:noFill/>
          <a:ln>
            <a:noFill/>
          </a:ln>
        </p:spPr>
      </p:pic>
      <p:pic>
        <p:nvPicPr>
          <p:cNvPr id="46" name="Google Shape;46;p5"/>
          <p:cNvPicPr preferRelativeResize="0"/>
          <p:nvPr/>
        </p:nvPicPr>
        <p:blipFill>
          <a:blip r:embed="rId6">
            <a:alphaModFix/>
          </a:blip>
          <a:stretch>
            <a:fillRect/>
          </a:stretch>
        </p:blipFill>
        <p:spPr>
          <a:xfrm>
            <a:off x="5286374" y="3699100"/>
            <a:ext cx="3479349" cy="1085224"/>
          </a:xfrm>
          <a:prstGeom prst="rect">
            <a:avLst/>
          </a:prstGeom>
          <a:noFill/>
          <a:ln>
            <a:noFill/>
          </a:ln>
        </p:spPr>
      </p:pic>
      <p:sp>
        <p:nvSpPr>
          <p:cNvPr id="47" name="Google Shape;47;p5"/>
          <p:cNvSpPr txBox="1"/>
          <p:nvPr/>
        </p:nvSpPr>
        <p:spPr>
          <a:xfrm>
            <a:off x="5450300" y="889900"/>
            <a:ext cx="3151500" cy="2562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US"/>
              <a:t>Bidirectional RNN + Self-Attention</a:t>
            </a:r>
            <a:endParaRPr/>
          </a:p>
        </p:txBody>
      </p:sp>
    </p:spTree>
  </p:cSld>
  <p:clrMapOvr>
    <a:masterClrMapping/>
  </p:clrMapOvr>
  <mc:AlternateContent>
    <mc:Choice Requires="p14">
      <p:transition spd="med">
        <p14:flip dir="l"/>
      </p:transition>
    </mc:Choice>
    <mc:Fallback>
      <p:transition spd="med">
        <p:fade/>
      </p:transition>
    </mc:Fallback>
  </mc:AlternateContent>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4"/>
                                        </p:tgtEl>
                                        <p:attrNameLst>
                                          <p:attrName>style.visibility</p:attrName>
                                        </p:attrNameLst>
                                      </p:cBhvr>
                                      <p:to>
                                        <p:strVal val="visible"/>
                                      </p:to>
                                    </p:set>
                                    <p:animEffect filter="fade" transition="in">
                                      <p:cBhvr>
                                        <p:cTn dur="1000"/>
                                        <p:tgtEl>
                                          <p:spTgt spid="4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2"/>
                                        </p:tgtEl>
                                        <p:attrNameLst>
                                          <p:attrName>style.visibility</p:attrName>
                                        </p:attrNameLst>
                                      </p:cBhvr>
                                      <p:to>
                                        <p:strVal val="visible"/>
                                      </p:to>
                                    </p:set>
                                    <p:animEffect filter="fade" transition="in">
                                      <p:cBhvr>
                                        <p:cTn dur="1000"/>
                                        <p:tgtEl>
                                          <p:spTgt spid="4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43"/>
                                        </p:tgtEl>
                                        <p:attrNameLst>
                                          <p:attrName>style.visibility</p:attrName>
                                        </p:attrNameLst>
                                      </p:cBhvr>
                                      <p:to>
                                        <p:strVal val="visible"/>
                                      </p:to>
                                    </p:set>
                                    <p:anim calcmode="lin" valueType="num">
                                      <p:cBhvr additive="base">
                                        <p:cTn dur="1000"/>
                                        <p:tgtEl>
                                          <p:spTgt spid="43"/>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7"/>
                                        </p:tgtEl>
                                        <p:attrNameLst>
                                          <p:attrName>style.visibility</p:attrName>
                                        </p:attrNameLst>
                                      </p:cBhvr>
                                      <p:to>
                                        <p:strVal val="visible"/>
                                      </p:to>
                                    </p:set>
                                    <p:animEffect filter="fade" transition="in">
                                      <p:cBhvr>
                                        <p:cTn dur="1000"/>
                                        <p:tgtEl>
                                          <p:spTgt spid="4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5"/>
                                        </p:tgtEl>
                                        <p:attrNameLst>
                                          <p:attrName>style.visibility</p:attrName>
                                        </p:attrNameLst>
                                      </p:cBhvr>
                                      <p:to>
                                        <p:strVal val="visible"/>
                                      </p:to>
                                    </p:set>
                                    <p:animEffect filter="fade" transition="in">
                                      <p:cBhvr>
                                        <p:cTn dur="1000"/>
                                        <p:tgtEl>
                                          <p:spTgt spid="4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2">
                                  <p:stCondLst>
                                    <p:cond delay="0"/>
                                  </p:stCondLst>
                                  <p:childTnLst>
                                    <p:set>
                                      <p:cBhvr>
                                        <p:cTn dur="1" fill="hold">
                                          <p:stCondLst>
                                            <p:cond delay="0"/>
                                          </p:stCondLst>
                                        </p:cTn>
                                        <p:tgtEl>
                                          <p:spTgt spid="46"/>
                                        </p:tgtEl>
                                        <p:attrNameLst>
                                          <p:attrName>style.visibility</p:attrName>
                                        </p:attrNameLst>
                                      </p:cBhvr>
                                      <p:to>
                                        <p:strVal val="visible"/>
                                      </p:to>
                                    </p:set>
                                    <p:anim calcmode="lin" valueType="num">
                                      <p:cBhvr additive="base">
                                        <p:cTn dur="1000"/>
                                        <p:tgtEl>
                                          <p:spTgt spid="46"/>
                                        </p:tgtEl>
                                        <p:attrNameLst>
                                          <p:attrName>ppt_x</p:attrName>
                                        </p:attrNameLst>
                                      </p:cBhvr>
                                      <p:tavLst>
                                        <p:tav fmla="" tm="0">
                                          <p:val>
                                            <p:strVal val="#ppt_x+1"/>
                                          </p:val>
                                        </p:tav>
                                        <p:tav fmla="" tm="100000">
                                          <p:val>
                                            <p:strVal val="#ppt_x"/>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2" name="Shape 52"/>
        <p:cNvGrpSpPr/>
        <p:nvPr/>
      </p:nvGrpSpPr>
      <p:grpSpPr>
        <a:xfrm>
          <a:off x="0" y="0"/>
          <a:ext cx="0" cy="0"/>
          <a:chOff x="0" y="0"/>
          <a:chExt cx="0" cy="0"/>
        </a:xfrm>
      </p:grpSpPr>
      <p:sp>
        <p:nvSpPr>
          <p:cNvPr id="53" name="Google Shape;53;p6"/>
          <p:cNvSpPr/>
          <p:nvPr/>
        </p:nvSpPr>
        <p:spPr>
          <a:xfrm>
            <a:off x="0" y="0"/>
            <a:ext cx="9144000" cy="777300"/>
          </a:xfrm>
          <a:prstGeom prst="rect">
            <a:avLst/>
          </a:prstGeom>
          <a:solidFill>
            <a:srgbClr val="57068C"/>
          </a:solidFill>
          <a:ln cap="flat" cmpd="sng" w="12700">
            <a:solidFill>
              <a:srgbClr val="57068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 name="Google Shape;54;p6"/>
          <p:cNvSpPr/>
          <p:nvPr/>
        </p:nvSpPr>
        <p:spPr>
          <a:xfrm>
            <a:off x="228600" y="256032"/>
            <a:ext cx="411600" cy="255900"/>
          </a:xfrm>
          <a:prstGeom prst="rect">
            <a:avLst/>
          </a:prstGeom>
          <a:solidFill>
            <a:srgbClr val="57068C"/>
          </a:solidFill>
          <a:ln cap="flat" cmpd="sng" w="12700">
            <a:solidFill>
              <a:srgbClr val="57068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 name="Google Shape;55;p6"/>
          <p:cNvSpPr/>
          <p:nvPr/>
        </p:nvSpPr>
        <p:spPr>
          <a:xfrm>
            <a:off x="228600" y="256032"/>
            <a:ext cx="411600" cy="2559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000"/>
              <a:buFont typeface="Calibri"/>
              <a:buNone/>
            </a:pPr>
            <a:r>
              <a:rPr b="1" i="0" lang="en-US" sz="1000" u="none" cap="none" strike="noStrike">
                <a:solidFill>
                  <a:srgbClr val="FFFFFF"/>
                </a:solidFill>
                <a:latin typeface="Calibri"/>
                <a:ea typeface="Calibri"/>
                <a:cs typeface="Calibri"/>
                <a:sym typeface="Calibri"/>
              </a:rPr>
              <a:t>NYU</a:t>
            </a:r>
            <a:endParaRPr b="0" i="0" sz="1000" u="none" cap="none" strike="noStrike">
              <a:solidFill>
                <a:schemeClr val="dk1"/>
              </a:solidFill>
              <a:latin typeface="Calibri"/>
              <a:ea typeface="Calibri"/>
              <a:cs typeface="Calibri"/>
              <a:sym typeface="Calibri"/>
            </a:endParaRPr>
          </a:p>
        </p:txBody>
      </p:sp>
      <p:sp>
        <p:nvSpPr>
          <p:cNvPr id="56" name="Google Shape;56;p6"/>
          <p:cNvSpPr/>
          <p:nvPr/>
        </p:nvSpPr>
        <p:spPr>
          <a:xfrm>
            <a:off x="749808" y="91440"/>
            <a:ext cx="1371600" cy="320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C99FF"/>
              </a:buClr>
              <a:buSzPts val="900"/>
              <a:buFont typeface="Calibri"/>
              <a:buNone/>
            </a:pPr>
            <a:r>
              <a:rPr b="1" i="0" lang="en-US" sz="900" u="none" cap="none" strike="noStrike">
                <a:solidFill>
                  <a:srgbClr val="CC99FF"/>
                </a:solidFill>
                <a:latin typeface="Calibri"/>
                <a:ea typeface="Calibri"/>
                <a:cs typeface="Calibri"/>
                <a:sym typeface="Calibri"/>
              </a:rPr>
              <a:t>Week 1</a:t>
            </a:r>
            <a:endParaRPr b="0" i="0" sz="900" u="none" cap="none" strike="noStrike">
              <a:solidFill>
                <a:schemeClr val="dk1"/>
              </a:solidFill>
              <a:latin typeface="Calibri"/>
              <a:ea typeface="Calibri"/>
              <a:cs typeface="Calibri"/>
              <a:sym typeface="Calibri"/>
            </a:endParaRPr>
          </a:p>
        </p:txBody>
      </p:sp>
      <p:sp>
        <p:nvSpPr>
          <p:cNvPr id="57" name="Google Shape;57;p6"/>
          <p:cNvSpPr/>
          <p:nvPr/>
        </p:nvSpPr>
        <p:spPr>
          <a:xfrm>
            <a:off x="749808" y="384048"/>
            <a:ext cx="7772400" cy="329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700"/>
              <a:buFont typeface="Calibri"/>
              <a:buNone/>
            </a:pPr>
            <a:r>
              <a:rPr b="1" lang="en-US" sz="1700">
                <a:solidFill>
                  <a:srgbClr val="FFFFFF"/>
                </a:solidFill>
                <a:latin typeface="Calibri"/>
                <a:ea typeface="Calibri"/>
                <a:cs typeface="Calibri"/>
                <a:sym typeface="Calibri"/>
              </a:rPr>
              <a:t>Classification Models Comparison - 2</a:t>
            </a:r>
            <a:endParaRPr b="0" i="0" sz="1700" u="none" cap="none" strike="noStrike">
              <a:solidFill>
                <a:schemeClr val="dk1"/>
              </a:solidFill>
              <a:latin typeface="Calibri"/>
              <a:ea typeface="Calibri"/>
              <a:cs typeface="Calibri"/>
              <a:sym typeface="Calibri"/>
            </a:endParaRPr>
          </a:p>
        </p:txBody>
      </p:sp>
      <p:sp>
        <p:nvSpPr>
          <p:cNvPr id="58" name="Google Shape;58;p6"/>
          <p:cNvSpPr txBox="1"/>
          <p:nvPr/>
        </p:nvSpPr>
        <p:spPr>
          <a:xfrm>
            <a:off x="408225" y="889900"/>
            <a:ext cx="3151500" cy="2562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US"/>
              <a:t>Bidirectional RNN + Self-Attention</a:t>
            </a:r>
            <a:endParaRPr/>
          </a:p>
        </p:txBody>
      </p:sp>
      <p:sp>
        <p:nvSpPr>
          <p:cNvPr id="59" name="Google Shape;59;p6"/>
          <p:cNvSpPr txBox="1"/>
          <p:nvPr/>
        </p:nvSpPr>
        <p:spPr>
          <a:xfrm>
            <a:off x="5450300" y="889900"/>
            <a:ext cx="3151500" cy="2562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US"/>
              <a:t>Bidirectional RNN + Self-Attention</a:t>
            </a:r>
            <a:endParaRPr/>
          </a:p>
        </p:txBody>
      </p:sp>
      <p:pic>
        <p:nvPicPr>
          <p:cNvPr id="60" name="Google Shape;60;p6"/>
          <p:cNvPicPr preferRelativeResize="0"/>
          <p:nvPr/>
        </p:nvPicPr>
        <p:blipFill rotWithShape="1">
          <a:blip r:embed="rId3">
            <a:alphaModFix/>
          </a:blip>
          <a:srcRect b="0" l="0" r="50997" t="0"/>
          <a:stretch/>
        </p:blipFill>
        <p:spPr>
          <a:xfrm>
            <a:off x="348375" y="1167775"/>
            <a:ext cx="3268399" cy="2388604"/>
          </a:xfrm>
          <a:prstGeom prst="rect">
            <a:avLst/>
          </a:prstGeom>
          <a:noFill/>
          <a:ln>
            <a:noFill/>
          </a:ln>
        </p:spPr>
      </p:pic>
      <p:pic>
        <p:nvPicPr>
          <p:cNvPr id="61" name="Google Shape;61;p6"/>
          <p:cNvPicPr preferRelativeResize="0"/>
          <p:nvPr/>
        </p:nvPicPr>
        <p:blipFill>
          <a:blip r:embed="rId4">
            <a:alphaModFix/>
          </a:blip>
          <a:stretch>
            <a:fillRect/>
          </a:stretch>
        </p:blipFill>
        <p:spPr>
          <a:xfrm>
            <a:off x="235945" y="3699105"/>
            <a:ext cx="3479349" cy="1085218"/>
          </a:xfrm>
          <a:prstGeom prst="rect">
            <a:avLst/>
          </a:prstGeom>
          <a:noFill/>
          <a:ln>
            <a:noFill/>
          </a:ln>
        </p:spPr>
      </p:pic>
      <p:pic>
        <p:nvPicPr>
          <p:cNvPr id="62" name="Google Shape;62;p6"/>
          <p:cNvPicPr preferRelativeResize="0"/>
          <p:nvPr/>
        </p:nvPicPr>
        <p:blipFill rotWithShape="1">
          <a:blip r:embed="rId5">
            <a:alphaModFix/>
          </a:blip>
          <a:srcRect b="0" l="0" r="51639" t="0"/>
          <a:stretch/>
        </p:blipFill>
        <p:spPr>
          <a:xfrm>
            <a:off x="5450300" y="1195125"/>
            <a:ext cx="3151501" cy="2333895"/>
          </a:xfrm>
          <a:prstGeom prst="rect">
            <a:avLst/>
          </a:prstGeom>
          <a:noFill/>
          <a:ln>
            <a:noFill/>
          </a:ln>
        </p:spPr>
      </p:pic>
      <p:pic>
        <p:nvPicPr>
          <p:cNvPr id="63" name="Google Shape;63;p6"/>
          <p:cNvPicPr preferRelativeResize="0"/>
          <p:nvPr/>
        </p:nvPicPr>
        <p:blipFill>
          <a:blip r:embed="rId6">
            <a:alphaModFix/>
          </a:blip>
          <a:stretch>
            <a:fillRect/>
          </a:stretch>
        </p:blipFill>
        <p:spPr>
          <a:xfrm>
            <a:off x="5391850" y="3732000"/>
            <a:ext cx="3268400" cy="1085225"/>
          </a:xfrm>
          <a:prstGeom prst="rect">
            <a:avLst/>
          </a:prstGeom>
          <a:noFill/>
          <a:ln>
            <a:noFill/>
          </a:ln>
        </p:spPr>
      </p:pic>
    </p:spTree>
  </p:cSld>
  <p:clrMapOvr>
    <a:masterClrMapping/>
  </p:clrMapOvr>
  <mc:AlternateContent>
    <mc:Choice Requires="p14">
      <p:transition spd="med">
        <p14:flip dir="l"/>
      </p:transition>
    </mc:Choice>
    <mc:Fallback>
      <p:transition spd="med">
        <p:fade/>
      </p:transition>
    </mc:Fallback>
  </mc:AlternateContent>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8"/>
                                        </p:tgtEl>
                                        <p:attrNameLst>
                                          <p:attrName>style.visibility</p:attrName>
                                        </p:attrNameLst>
                                      </p:cBhvr>
                                      <p:to>
                                        <p:strVal val="visible"/>
                                      </p:to>
                                    </p:set>
                                    <p:animEffect filter="fade" transition="in">
                                      <p:cBhvr>
                                        <p:cTn dur="1000"/>
                                        <p:tgtEl>
                                          <p:spTgt spid="5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60"/>
                                        </p:tgtEl>
                                        <p:attrNameLst>
                                          <p:attrName>style.visibility</p:attrName>
                                        </p:attrNameLst>
                                      </p:cBhvr>
                                      <p:to>
                                        <p:strVal val="visible"/>
                                      </p:to>
                                    </p:set>
                                    <p:anim calcmode="lin" valueType="num">
                                      <p:cBhvr additive="base">
                                        <p:cTn dur="1000"/>
                                        <p:tgtEl>
                                          <p:spTgt spid="60"/>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61"/>
                                        </p:tgtEl>
                                        <p:attrNameLst>
                                          <p:attrName>style.visibility</p:attrName>
                                        </p:attrNameLst>
                                      </p:cBhvr>
                                      <p:to>
                                        <p:strVal val="visible"/>
                                      </p:to>
                                    </p:set>
                                    <p:anim calcmode="lin" valueType="num">
                                      <p:cBhvr additive="base">
                                        <p:cTn dur="1000"/>
                                        <p:tgtEl>
                                          <p:spTgt spid="61"/>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9"/>
                                        </p:tgtEl>
                                        <p:attrNameLst>
                                          <p:attrName>style.visibility</p:attrName>
                                        </p:attrNameLst>
                                      </p:cBhvr>
                                      <p:to>
                                        <p:strVal val="visible"/>
                                      </p:to>
                                    </p:set>
                                    <p:animEffect filter="fade" transition="in">
                                      <p:cBhvr>
                                        <p:cTn dur="1000"/>
                                        <p:tgtEl>
                                          <p:spTgt spid="5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1">
                                  <p:stCondLst>
                                    <p:cond delay="0"/>
                                  </p:stCondLst>
                                  <p:childTnLst>
                                    <p:set>
                                      <p:cBhvr>
                                        <p:cTn dur="1" fill="hold">
                                          <p:stCondLst>
                                            <p:cond delay="0"/>
                                          </p:stCondLst>
                                        </p:cTn>
                                        <p:tgtEl>
                                          <p:spTgt spid="62"/>
                                        </p:tgtEl>
                                        <p:attrNameLst>
                                          <p:attrName>style.visibility</p:attrName>
                                        </p:attrNameLst>
                                      </p:cBhvr>
                                      <p:to>
                                        <p:strVal val="visible"/>
                                      </p:to>
                                    </p:set>
                                    <p:anim calcmode="lin" valueType="num">
                                      <p:cBhvr additive="base">
                                        <p:cTn dur="1000"/>
                                        <p:tgtEl>
                                          <p:spTgt spid="62"/>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2">
                                  <p:stCondLst>
                                    <p:cond delay="0"/>
                                  </p:stCondLst>
                                  <p:childTnLst>
                                    <p:set>
                                      <p:cBhvr>
                                        <p:cTn dur="1" fill="hold">
                                          <p:stCondLst>
                                            <p:cond delay="0"/>
                                          </p:stCondLst>
                                        </p:cTn>
                                        <p:tgtEl>
                                          <p:spTgt spid="63"/>
                                        </p:tgtEl>
                                        <p:attrNameLst>
                                          <p:attrName>style.visibility</p:attrName>
                                        </p:attrNameLst>
                                      </p:cBhvr>
                                      <p:to>
                                        <p:strVal val="visible"/>
                                      </p:to>
                                    </p:set>
                                    <p:anim calcmode="lin" valueType="num">
                                      <p:cBhvr additive="base">
                                        <p:cTn dur="1000"/>
                                        <p:tgtEl>
                                          <p:spTgt spid="63"/>
                                        </p:tgtEl>
                                        <p:attrNameLst>
                                          <p:attrName>ppt_x</p:attrName>
                                        </p:attrNameLst>
                                      </p:cBhvr>
                                      <p:tavLst>
                                        <p:tav fmla="" tm="0">
                                          <p:val>
                                            <p:strVal val="#ppt_x+1"/>
                                          </p:val>
                                        </p:tav>
                                        <p:tav fmla="" tm="100000">
                                          <p:val>
                                            <p:strVal val="#ppt_x"/>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68" name="Shape 68"/>
        <p:cNvGrpSpPr/>
        <p:nvPr/>
      </p:nvGrpSpPr>
      <p:grpSpPr>
        <a:xfrm>
          <a:off x="0" y="0"/>
          <a:ext cx="0" cy="0"/>
          <a:chOff x="0" y="0"/>
          <a:chExt cx="0" cy="0"/>
        </a:xfrm>
      </p:grpSpPr>
      <p:sp>
        <p:nvSpPr>
          <p:cNvPr id="69" name="Google Shape;69;p7"/>
          <p:cNvSpPr/>
          <p:nvPr/>
        </p:nvSpPr>
        <p:spPr>
          <a:xfrm>
            <a:off x="0" y="0"/>
            <a:ext cx="9144000" cy="628800"/>
          </a:xfrm>
          <a:prstGeom prst="rect">
            <a:avLst/>
          </a:prstGeom>
          <a:solidFill>
            <a:srgbClr val="57068C"/>
          </a:solidFill>
          <a:ln cap="flat" cmpd="sng" w="12700">
            <a:solidFill>
              <a:srgbClr val="57068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 name="Google Shape;70;p7"/>
          <p:cNvSpPr/>
          <p:nvPr/>
        </p:nvSpPr>
        <p:spPr>
          <a:xfrm>
            <a:off x="228600" y="256032"/>
            <a:ext cx="411600" cy="255900"/>
          </a:xfrm>
          <a:prstGeom prst="rect">
            <a:avLst/>
          </a:prstGeom>
          <a:solidFill>
            <a:srgbClr val="57068C"/>
          </a:solidFill>
          <a:ln cap="flat" cmpd="sng" w="12700">
            <a:solidFill>
              <a:srgbClr val="57068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 name="Google Shape;71;p7"/>
          <p:cNvSpPr/>
          <p:nvPr/>
        </p:nvSpPr>
        <p:spPr>
          <a:xfrm>
            <a:off x="228600" y="256032"/>
            <a:ext cx="411600" cy="2559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000"/>
              <a:buFont typeface="Calibri"/>
              <a:buNone/>
            </a:pPr>
            <a:r>
              <a:rPr b="1" i="0" lang="en-US" sz="1000" u="none" cap="none" strike="noStrike">
                <a:solidFill>
                  <a:srgbClr val="FFFFFF"/>
                </a:solidFill>
                <a:latin typeface="Calibri"/>
                <a:ea typeface="Calibri"/>
                <a:cs typeface="Calibri"/>
                <a:sym typeface="Calibri"/>
              </a:rPr>
              <a:t>NYU</a:t>
            </a:r>
            <a:endParaRPr b="0" i="0" sz="1000" u="none" cap="none" strike="noStrike">
              <a:solidFill>
                <a:schemeClr val="dk1"/>
              </a:solidFill>
              <a:latin typeface="Calibri"/>
              <a:ea typeface="Calibri"/>
              <a:cs typeface="Calibri"/>
              <a:sym typeface="Calibri"/>
            </a:endParaRPr>
          </a:p>
        </p:txBody>
      </p:sp>
      <p:sp>
        <p:nvSpPr>
          <p:cNvPr id="72" name="Google Shape;72;p7"/>
          <p:cNvSpPr/>
          <p:nvPr/>
        </p:nvSpPr>
        <p:spPr>
          <a:xfrm>
            <a:off x="749800" y="91449"/>
            <a:ext cx="1371600" cy="276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C99FF"/>
              </a:buClr>
              <a:buSzPts val="900"/>
              <a:buFont typeface="Calibri"/>
              <a:buNone/>
            </a:pPr>
            <a:r>
              <a:rPr b="1" i="0" lang="en-US" sz="900" u="none" cap="none" strike="noStrike">
                <a:solidFill>
                  <a:srgbClr val="CC99FF"/>
                </a:solidFill>
                <a:latin typeface="Calibri"/>
                <a:ea typeface="Calibri"/>
                <a:cs typeface="Calibri"/>
                <a:sym typeface="Calibri"/>
              </a:rPr>
              <a:t>Week 1</a:t>
            </a:r>
            <a:endParaRPr b="0" i="0" sz="900" u="none" cap="none" strike="noStrike">
              <a:solidFill>
                <a:schemeClr val="dk1"/>
              </a:solidFill>
              <a:latin typeface="Calibri"/>
              <a:ea typeface="Calibri"/>
              <a:cs typeface="Calibri"/>
              <a:sym typeface="Calibri"/>
            </a:endParaRPr>
          </a:p>
        </p:txBody>
      </p:sp>
      <p:sp>
        <p:nvSpPr>
          <p:cNvPr id="73" name="Google Shape;73;p7"/>
          <p:cNvSpPr/>
          <p:nvPr/>
        </p:nvSpPr>
        <p:spPr>
          <a:xfrm>
            <a:off x="749800" y="344283"/>
            <a:ext cx="7772400" cy="284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700"/>
              <a:buFont typeface="Calibri"/>
              <a:buNone/>
            </a:pPr>
            <a:r>
              <a:rPr b="1" lang="en-US" sz="1700">
                <a:solidFill>
                  <a:srgbClr val="FFFFFF"/>
                </a:solidFill>
                <a:latin typeface="Calibri"/>
                <a:ea typeface="Calibri"/>
                <a:cs typeface="Calibri"/>
                <a:sym typeface="Calibri"/>
              </a:rPr>
              <a:t>Dataset and Implementation Proposal</a:t>
            </a:r>
            <a:endParaRPr b="1" sz="1700">
              <a:solidFill>
                <a:srgbClr val="FFFFFF"/>
              </a:solidFill>
              <a:latin typeface="Calibri"/>
              <a:ea typeface="Calibri"/>
              <a:cs typeface="Calibri"/>
              <a:sym typeface="Calibri"/>
            </a:endParaRPr>
          </a:p>
        </p:txBody>
      </p:sp>
      <p:pic>
        <p:nvPicPr>
          <p:cNvPr id="74" name="Google Shape;74;p7"/>
          <p:cNvPicPr preferRelativeResize="0"/>
          <p:nvPr/>
        </p:nvPicPr>
        <p:blipFill>
          <a:blip r:embed="rId3">
            <a:alphaModFix/>
          </a:blip>
          <a:stretch>
            <a:fillRect/>
          </a:stretch>
        </p:blipFill>
        <p:spPr>
          <a:xfrm>
            <a:off x="313475" y="867800"/>
            <a:ext cx="1115775" cy="1115775"/>
          </a:xfrm>
          <a:prstGeom prst="rect">
            <a:avLst/>
          </a:prstGeom>
          <a:noFill/>
          <a:ln>
            <a:noFill/>
          </a:ln>
        </p:spPr>
      </p:pic>
      <p:sp>
        <p:nvSpPr>
          <p:cNvPr id="75" name="Google Shape;75;p7"/>
          <p:cNvSpPr txBox="1"/>
          <p:nvPr/>
        </p:nvSpPr>
        <p:spPr>
          <a:xfrm>
            <a:off x="6670225" y="702125"/>
            <a:ext cx="2441100" cy="587700"/>
          </a:xfrm>
          <a:prstGeom prst="rect">
            <a:avLst/>
          </a:prstGeom>
          <a:solidFill>
            <a:srgbClr val="FFF8E8"/>
          </a:solidFill>
          <a:ln cap="flat" cmpd="sng" w="9525">
            <a:solidFill>
              <a:srgbClr val="CC4125"/>
            </a:solidFill>
            <a:prstDash val="solid"/>
            <a:round/>
            <a:headEnd len="sm" w="sm" type="none"/>
            <a:tailEnd len="sm" w="sm" type="none"/>
          </a:ln>
        </p:spPr>
        <p:txBody>
          <a:bodyPr anchorCtr="0" anchor="t" bIns="91425" lIns="91425" spcFirstLastPara="1" rIns="91425" wrap="square" tIns="91425">
            <a:noAutofit/>
          </a:bodyPr>
          <a:lstStyle/>
          <a:p>
            <a:pPr indent="0" lvl="0" marL="0" rtl="0" algn="l">
              <a:lnSpc>
                <a:spcPct val="115000"/>
              </a:lnSpc>
              <a:spcBef>
                <a:spcPts val="2400"/>
              </a:spcBef>
              <a:spcAft>
                <a:spcPts val="600"/>
              </a:spcAft>
              <a:buNone/>
            </a:pPr>
            <a:r>
              <a:rPr b="1" lang="en-US" sz="1000">
                <a:solidFill>
                  <a:srgbClr val="A61C00"/>
                </a:solidFill>
                <a:latin typeface="Courier New"/>
                <a:ea typeface="Courier New"/>
                <a:cs typeface="Courier New"/>
                <a:sym typeface="Courier New"/>
              </a:rPr>
              <a:t>Wang &amp; Zhang (2024)</a:t>
            </a:r>
            <a:br>
              <a:rPr lang="en-US"/>
            </a:br>
            <a:r>
              <a:rPr b="1" lang="en-US" sz="800" u="sng">
                <a:solidFill>
                  <a:schemeClr val="hlink"/>
                </a:solidFill>
                <a:latin typeface="Courier New"/>
                <a:ea typeface="Courier New"/>
                <a:cs typeface="Courier New"/>
                <a:sym typeface="Courier New"/>
                <a:hlinkClick r:id="rId4"/>
              </a:rPr>
              <a:t>Predictability of commodity futures returns with machine learning models</a:t>
            </a:r>
            <a:endParaRPr b="1" sz="800">
              <a:solidFill>
                <a:schemeClr val="accent2"/>
              </a:solidFill>
              <a:latin typeface="Courier New"/>
              <a:ea typeface="Courier New"/>
              <a:cs typeface="Courier New"/>
              <a:sym typeface="Courier New"/>
            </a:endParaRPr>
          </a:p>
        </p:txBody>
      </p:sp>
      <p:sp>
        <p:nvSpPr>
          <p:cNvPr id="76" name="Google Shape;76;p7"/>
          <p:cNvSpPr txBox="1"/>
          <p:nvPr/>
        </p:nvSpPr>
        <p:spPr>
          <a:xfrm>
            <a:off x="6670225" y="1362750"/>
            <a:ext cx="2441100" cy="587700"/>
          </a:xfrm>
          <a:prstGeom prst="rect">
            <a:avLst/>
          </a:prstGeom>
          <a:solidFill>
            <a:srgbClr val="FFF8E8"/>
          </a:solidFill>
          <a:ln cap="flat" cmpd="sng" w="9525">
            <a:solidFill>
              <a:srgbClr val="CC4125"/>
            </a:solidFill>
            <a:prstDash val="solid"/>
            <a:round/>
            <a:headEnd len="sm" w="sm" type="none"/>
            <a:tailEnd len="sm" w="sm" type="none"/>
          </a:ln>
        </p:spPr>
        <p:txBody>
          <a:bodyPr anchorCtr="0" anchor="t" bIns="91425" lIns="91425" spcFirstLastPara="1" rIns="91425" wrap="square" tIns="91425">
            <a:noAutofit/>
          </a:bodyPr>
          <a:lstStyle/>
          <a:p>
            <a:pPr indent="0" lvl="0" marL="0" rtl="0" algn="l">
              <a:lnSpc>
                <a:spcPct val="115000"/>
              </a:lnSpc>
              <a:spcBef>
                <a:spcPts val="2400"/>
              </a:spcBef>
              <a:spcAft>
                <a:spcPts val="600"/>
              </a:spcAft>
              <a:buNone/>
            </a:pPr>
            <a:r>
              <a:rPr b="1" lang="en-US" sz="1000">
                <a:solidFill>
                  <a:srgbClr val="A61C00"/>
                </a:solidFill>
                <a:latin typeface="Courier New"/>
                <a:ea typeface="Courier New"/>
                <a:cs typeface="Courier New"/>
                <a:sym typeface="Courier New"/>
              </a:rPr>
              <a:t>Manogna et al. (2025)</a:t>
            </a:r>
            <a:br>
              <a:rPr lang="en-US"/>
            </a:br>
            <a:r>
              <a:rPr b="1" lang="en-US" sz="800" u="sng">
                <a:solidFill>
                  <a:schemeClr val="hlink"/>
                </a:solidFill>
                <a:latin typeface="Courier New"/>
                <a:ea typeface="Courier New"/>
                <a:cs typeface="Courier New"/>
                <a:sym typeface="Courier New"/>
                <a:hlinkClick r:id="rId5"/>
              </a:rPr>
              <a:t>Enhancing agricultural commodity price forecasting with deep learning</a:t>
            </a:r>
            <a:endParaRPr b="1" sz="800">
              <a:solidFill>
                <a:schemeClr val="accent2"/>
              </a:solidFill>
              <a:latin typeface="Courier New"/>
              <a:ea typeface="Courier New"/>
              <a:cs typeface="Courier New"/>
              <a:sym typeface="Courier New"/>
            </a:endParaRPr>
          </a:p>
        </p:txBody>
      </p:sp>
      <p:sp>
        <p:nvSpPr>
          <p:cNvPr id="77" name="Google Shape;77;p7"/>
          <p:cNvSpPr txBox="1"/>
          <p:nvPr/>
        </p:nvSpPr>
        <p:spPr>
          <a:xfrm>
            <a:off x="6670225" y="1983566"/>
            <a:ext cx="2441100" cy="587700"/>
          </a:xfrm>
          <a:prstGeom prst="rect">
            <a:avLst/>
          </a:prstGeom>
          <a:solidFill>
            <a:srgbClr val="FFF8E8"/>
          </a:solidFill>
          <a:ln cap="flat" cmpd="sng" w="9525">
            <a:solidFill>
              <a:srgbClr val="CC4125"/>
            </a:solidFill>
            <a:prstDash val="solid"/>
            <a:round/>
            <a:headEnd len="sm" w="sm" type="none"/>
            <a:tailEnd len="sm" w="sm" type="none"/>
          </a:ln>
        </p:spPr>
        <p:txBody>
          <a:bodyPr anchorCtr="0" anchor="t" bIns="91425" lIns="91425" spcFirstLastPara="1" rIns="91425" wrap="square" tIns="91425">
            <a:noAutofit/>
          </a:bodyPr>
          <a:lstStyle/>
          <a:p>
            <a:pPr indent="0" lvl="0" marL="0" rtl="0" algn="l">
              <a:lnSpc>
                <a:spcPct val="115000"/>
              </a:lnSpc>
              <a:spcBef>
                <a:spcPts val="2400"/>
              </a:spcBef>
              <a:spcAft>
                <a:spcPts val="600"/>
              </a:spcAft>
              <a:buNone/>
            </a:pPr>
            <a:r>
              <a:rPr b="1" lang="en-US" sz="1000">
                <a:solidFill>
                  <a:srgbClr val="A61C00"/>
                </a:solidFill>
                <a:latin typeface="Courier New"/>
                <a:ea typeface="Courier New"/>
                <a:cs typeface="Courier New"/>
                <a:sym typeface="Courier New"/>
              </a:rPr>
              <a:t>Gutierrez &amp; Taieb (2021)</a:t>
            </a:r>
            <a:br>
              <a:rPr lang="en-US"/>
            </a:br>
            <a:r>
              <a:rPr b="1" lang="en-US" sz="800" u="sng">
                <a:solidFill>
                  <a:schemeClr val="hlink"/>
                </a:solidFill>
                <a:latin typeface="Courier New"/>
                <a:ea typeface="Courier New"/>
                <a:cs typeface="Courier New"/>
                <a:sym typeface="Courier New"/>
                <a:hlinkClick r:id="rId6"/>
              </a:rPr>
              <a:t>Google trends as predictor of grain prices</a:t>
            </a:r>
            <a:endParaRPr b="1" sz="800">
              <a:solidFill>
                <a:schemeClr val="accent2"/>
              </a:solidFill>
              <a:latin typeface="Courier New"/>
              <a:ea typeface="Courier New"/>
              <a:cs typeface="Courier New"/>
              <a:sym typeface="Courier New"/>
            </a:endParaRPr>
          </a:p>
        </p:txBody>
      </p:sp>
      <p:sp>
        <p:nvSpPr>
          <p:cNvPr id="78" name="Google Shape;78;p7"/>
          <p:cNvSpPr txBox="1"/>
          <p:nvPr/>
        </p:nvSpPr>
        <p:spPr>
          <a:xfrm>
            <a:off x="6670225" y="2612571"/>
            <a:ext cx="2441100" cy="587700"/>
          </a:xfrm>
          <a:prstGeom prst="rect">
            <a:avLst/>
          </a:prstGeom>
          <a:solidFill>
            <a:srgbClr val="FFF8E8"/>
          </a:solidFill>
          <a:ln cap="flat" cmpd="sng" w="9525">
            <a:solidFill>
              <a:srgbClr val="CC4125"/>
            </a:solidFill>
            <a:prstDash val="solid"/>
            <a:round/>
            <a:headEnd len="sm" w="sm" type="none"/>
            <a:tailEnd len="sm" w="sm" type="none"/>
          </a:ln>
        </p:spPr>
        <p:txBody>
          <a:bodyPr anchorCtr="0" anchor="t" bIns="91425" lIns="91425" spcFirstLastPara="1" rIns="91425" wrap="square" tIns="91425">
            <a:noAutofit/>
          </a:bodyPr>
          <a:lstStyle/>
          <a:p>
            <a:pPr indent="0" lvl="0" marL="0" rtl="0" algn="l">
              <a:lnSpc>
                <a:spcPct val="115000"/>
              </a:lnSpc>
              <a:spcBef>
                <a:spcPts val="2400"/>
              </a:spcBef>
              <a:spcAft>
                <a:spcPts val="600"/>
              </a:spcAft>
              <a:buNone/>
            </a:pPr>
            <a:r>
              <a:rPr b="1" lang="en-US" sz="1000">
                <a:solidFill>
                  <a:srgbClr val="A61C00"/>
                </a:solidFill>
                <a:latin typeface="Courier New"/>
                <a:ea typeface="Courier New"/>
                <a:cs typeface="Courier New"/>
                <a:sym typeface="Courier New"/>
              </a:rPr>
              <a:t>Wang et al. (2023) </a:t>
            </a:r>
            <a:br>
              <a:rPr lang="en-US"/>
            </a:br>
            <a:r>
              <a:rPr b="1" lang="en-US" sz="800" u="sng">
                <a:solidFill>
                  <a:schemeClr val="hlink"/>
                </a:solidFill>
                <a:latin typeface="Courier New"/>
                <a:ea typeface="Courier New"/>
                <a:cs typeface="Courier New"/>
                <a:sym typeface="Courier New"/>
                <a:hlinkClick r:id="rId7"/>
              </a:rPr>
              <a:t>Climate and Envt. Data Contribute to the Predn. of Grain Commodity Prices</a:t>
            </a:r>
            <a:endParaRPr b="1" sz="800">
              <a:solidFill>
                <a:schemeClr val="accent2"/>
              </a:solidFill>
              <a:latin typeface="Courier New"/>
              <a:ea typeface="Courier New"/>
              <a:cs typeface="Courier New"/>
              <a:sym typeface="Courier New"/>
            </a:endParaRPr>
          </a:p>
        </p:txBody>
      </p:sp>
      <p:sp>
        <p:nvSpPr>
          <p:cNvPr id="79" name="Google Shape;79;p7"/>
          <p:cNvSpPr txBox="1"/>
          <p:nvPr/>
        </p:nvSpPr>
        <p:spPr>
          <a:xfrm>
            <a:off x="6670225" y="3254832"/>
            <a:ext cx="2441100" cy="587700"/>
          </a:xfrm>
          <a:prstGeom prst="rect">
            <a:avLst/>
          </a:prstGeom>
          <a:solidFill>
            <a:srgbClr val="FFF8E8"/>
          </a:solidFill>
          <a:ln cap="flat" cmpd="sng" w="9525">
            <a:solidFill>
              <a:srgbClr val="CC4125"/>
            </a:solidFill>
            <a:prstDash val="solid"/>
            <a:round/>
            <a:headEnd len="sm" w="sm" type="none"/>
            <a:tailEnd len="sm" w="sm" type="none"/>
          </a:ln>
        </p:spPr>
        <p:txBody>
          <a:bodyPr anchorCtr="0" anchor="t" bIns="91425" lIns="91425" spcFirstLastPara="1" rIns="91425" wrap="square" tIns="91425">
            <a:noAutofit/>
          </a:bodyPr>
          <a:lstStyle/>
          <a:p>
            <a:pPr indent="0" lvl="0" marL="0" rtl="0" algn="l">
              <a:lnSpc>
                <a:spcPct val="115000"/>
              </a:lnSpc>
              <a:spcBef>
                <a:spcPts val="2400"/>
              </a:spcBef>
              <a:spcAft>
                <a:spcPts val="600"/>
              </a:spcAft>
              <a:buNone/>
            </a:pPr>
            <a:r>
              <a:rPr b="1" lang="en-US" sz="1000">
                <a:solidFill>
                  <a:srgbClr val="A61C00"/>
                </a:solidFill>
                <a:latin typeface="Courier New"/>
                <a:ea typeface="Courier New"/>
                <a:cs typeface="Courier New"/>
                <a:sym typeface="Courier New"/>
              </a:rPr>
              <a:t>Teste (2025)  </a:t>
            </a:r>
            <a:br>
              <a:rPr lang="en-US"/>
            </a:br>
            <a:r>
              <a:rPr b="1" lang="en-US" sz="800" u="sng">
                <a:solidFill>
                  <a:schemeClr val="hlink"/>
                </a:solidFill>
                <a:latin typeface="Courier New"/>
                <a:ea typeface="Courier New"/>
                <a:cs typeface="Courier New"/>
                <a:sym typeface="Courier New"/>
                <a:hlinkClick r:id="rId8"/>
              </a:rPr>
              <a:t>Forecasting Agricultural Commodity Prices from Satellite</a:t>
            </a:r>
            <a:endParaRPr b="1" sz="800">
              <a:solidFill>
                <a:schemeClr val="accent2"/>
              </a:solidFill>
              <a:latin typeface="Courier New"/>
              <a:ea typeface="Courier New"/>
              <a:cs typeface="Courier New"/>
              <a:sym typeface="Courier New"/>
            </a:endParaRPr>
          </a:p>
        </p:txBody>
      </p:sp>
      <p:sp>
        <p:nvSpPr>
          <p:cNvPr id="80" name="Google Shape;80;p7"/>
          <p:cNvSpPr txBox="1"/>
          <p:nvPr/>
        </p:nvSpPr>
        <p:spPr>
          <a:xfrm>
            <a:off x="6670225" y="3901564"/>
            <a:ext cx="2441100" cy="587700"/>
          </a:xfrm>
          <a:prstGeom prst="rect">
            <a:avLst/>
          </a:prstGeom>
          <a:solidFill>
            <a:srgbClr val="FFF8E8"/>
          </a:solidFill>
          <a:ln cap="flat" cmpd="sng" w="9525">
            <a:solidFill>
              <a:srgbClr val="CC4125"/>
            </a:solidFill>
            <a:prstDash val="solid"/>
            <a:round/>
            <a:headEnd len="sm" w="sm" type="none"/>
            <a:tailEnd len="sm" w="sm" type="none"/>
          </a:ln>
        </p:spPr>
        <p:txBody>
          <a:bodyPr anchorCtr="0" anchor="t" bIns="91425" lIns="91425" spcFirstLastPara="1" rIns="91425" wrap="square" tIns="91425">
            <a:noAutofit/>
          </a:bodyPr>
          <a:lstStyle/>
          <a:p>
            <a:pPr indent="0" lvl="0" marL="0" rtl="0" algn="l">
              <a:lnSpc>
                <a:spcPct val="115000"/>
              </a:lnSpc>
              <a:spcBef>
                <a:spcPts val="2400"/>
              </a:spcBef>
              <a:spcAft>
                <a:spcPts val="600"/>
              </a:spcAft>
              <a:buNone/>
            </a:pPr>
            <a:r>
              <a:rPr b="1" lang="en-US" sz="1000">
                <a:solidFill>
                  <a:srgbClr val="A61C00"/>
                </a:solidFill>
                <a:latin typeface="Courier New"/>
                <a:ea typeface="Courier New"/>
                <a:cs typeface="Courier New"/>
                <a:sym typeface="Courier New"/>
              </a:rPr>
              <a:t>Ghali et al. (2024)</a:t>
            </a:r>
            <a:br>
              <a:rPr lang="en-US"/>
            </a:br>
            <a:r>
              <a:rPr b="1" lang="en-US" sz="800" u="sng">
                <a:solidFill>
                  <a:schemeClr val="hlink"/>
                </a:solidFill>
                <a:latin typeface="Courier New"/>
                <a:ea typeface="Courier New"/>
                <a:cs typeface="Courier New"/>
                <a:sym typeface="Courier New"/>
                <a:hlinkClick r:id="rId9"/>
              </a:rPr>
              <a:t>Forecasting Commodity Price Shocks Using Temporal and Semantic Fusion</a:t>
            </a:r>
            <a:endParaRPr b="1" sz="800">
              <a:solidFill>
                <a:schemeClr val="accent2"/>
              </a:solidFill>
              <a:latin typeface="Courier New"/>
              <a:ea typeface="Courier New"/>
              <a:cs typeface="Courier New"/>
              <a:sym typeface="Courier New"/>
            </a:endParaRPr>
          </a:p>
        </p:txBody>
      </p:sp>
      <p:sp>
        <p:nvSpPr>
          <p:cNvPr id="81" name="Google Shape;81;p7"/>
          <p:cNvSpPr txBox="1"/>
          <p:nvPr/>
        </p:nvSpPr>
        <p:spPr>
          <a:xfrm>
            <a:off x="6670225" y="4523025"/>
            <a:ext cx="2441100" cy="587700"/>
          </a:xfrm>
          <a:prstGeom prst="rect">
            <a:avLst/>
          </a:prstGeom>
          <a:solidFill>
            <a:srgbClr val="FFF8E8"/>
          </a:solidFill>
          <a:ln cap="flat" cmpd="sng" w="9525">
            <a:solidFill>
              <a:srgbClr val="CC4125"/>
            </a:solidFill>
            <a:prstDash val="solid"/>
            <a:round/>
            <a:headEnd len="sm" w="sm" type="none"/>
            <a:tailEnd len="sm" w="sm" type="none"/>
          </a:ln>
        </p:spPr>
        <p:txBody>
          <a:bodyPr anchorCtr="0" anchor="t" bIns="91425" lIns="91425" spcFirstLastPara="1" rIns="91425" wrap="square" tIns="91425">
            <a:noAutofit/>
          </a:bodyPr>
          <a:lstStyle/>
          <a:p>
            <a:pPr indent="0" lvl="0" marL="0" rtl="0" algn="l">
              <a:lnSpc>
                <a:spcPct val="115000"/>
              </a:lnSpc>
              <a:spcBef>
                <a:spcPts val="2400"/>
              </a:spcBef>
              <a:spcAft>
                <a:spcPts val="600"/>
              </a:spcAft>
              <a:buNone/>
            </a:pPr>
            <a:r>
              <a:rPr b="1" lang="en-US" sz="1000">
                <a:solidFill>
                  <a:srgbClr val="A61C00"/>
                </a:solidFill>
                <a:latin typeface="Courier New"/>
                <a:ea typeface="Courier New"/>
                <a:cs typeface="Courier New"/>
                <a:sym typeface="Courier New"/>
              </a:rPr>
              <a:t>Isengildina-Massa (2023)</a:t>
            </a:r>
            <a:br>
              <a:rPr lang="en-US"/>
            </a:br>
            <a:r>
              <a:rPr b="1" lang="en-US" sz="800" u="sng">
                <a:solidFill>
                  <a:schemeClr val="hlink"/>
                </a:solidFill>
                <a:latin typeface="Courier New"/>
                <a:ea typeface="Courier New"/>
                <a:cs typeface="Courier New"/>
                <a:sym typeface="Courier New"/>
                <a:hlinkClick r:id="rId10"/>
              </a:rPr>
              <a:t>What Do We Know About the Accuracy and Impact of USDA Reports?</a:t>
            </a:r>
            <a:endParaRPr b="1" sz="800">
              <a:solidFill>
                <a:schemeClr val="accent2"/>
              </a:solidFill>
              <a:latin typeface="Courier New"/>
              <a:ea typeface="Courier New"/>
              <a:cs typeface="Courier New"/>
              <a:sym typeface="Courier New"/>
            </a:endParaRPr>
          </a:p>
        </p:txBody>
      </p:sp>
      <p:pic>
        <p:nvPicPr>
          <p:cNvPr id="82" name="Google Shape;82;p7"/>
          <p:cNvPicPr preferRelativeResize="0"/>
          <p:nvPr/>
        </p:nvPicPr>
        <p:blipFill>
          <a:blip r:embed="rId11">
            <a:alphaModFix/>
          </a:blip>
          <a:stretch>
            <a:fillRect/>
          </a:stretch>
        </p:blipFill>
        <p:spPr>
          <a:xfrm>
            <a:off x="1940600" y="900621"/>
            <a:ext cx="1115775" cy="1050141"/>
          </a:xfrm>
          <a:prstGeom prst="rect">
            <a:avLst/>
          </a:prstGeom>
          <a:noFill/>
          <a:ln>
            <a:noFill/>
          </a:ln>
        </p:spPr>
      </p:pic>
      <p:pic>
        <p:nvPicPr>
          <p:cNvPr id="83" name="Google Shape;83;p7"/>
          <p:cNvPicPr preferRelativeResize="0"/>
          <p:nvPr/>
        </p:nvPicPr>
        <p:blipFill>
          <a:blip r:embed="rId12">
            <a:alphaModFix/>
          </a:blip>
          <a:stretch>
            <a:fillRect/>
          </a:stretch>
        </p:blipFill>
        <p:spPr>
          <a:xfrm>
            <a:off x="3567725" y="900625"/>
            <a:ext cx="1050125" cy="1050125"/>
          </a:xfrm>
          <a:prstGeom prst="rect">
            <a:avLst/>
          </a:prstGeom>
          <a:noFill/>
          <a:ln>
            <a:noFill/>
          </a:ln>
        </p:spPr>
      </p:pic>
      <p:pic>
        <p:nvPicPr>
          <p:cNvPr id="84" name="Google Shape;84;p7"/>
          <p:cNvPicPr preferRelativeResize="0"/>
          <p:nvPr/>
        </p:nvPicPr>
        <p:blipFill>
          <a:blip r:embed="rId13">
            <a:alphaModFix/>
          </a:blip>
          <a:stretch>
            <a:fillRect/>
          </a:stretch>
        </p:blipFill>
        <p:spPr>
          <a:xfrm>
            <a:off x="5192925" y="900625"/>
            <a:ext cx="1050125" cy="1050125"/>
          </a:xfrm>
          <a:prstGeom prst="rect">
            <a:avLst/>
          </a:prstGeom>
          <a:noFill/>
          <a:ln>
            <a:noFill/>
          </a:ln>
        </p:spPr>
      </p:pic>
      <p:pic>
        <p:nvPicPr>
          <p:cNvPr id="85" name="Google Shape;85;p7"/>
          <p:cNvPicPr preferRelativeResize="0"/>
          <p:nvPr/>
        </p:nvPicPr>
        <p:blipFill>
          <a:blip r:embed="rId14">
            <a:alphaModFix/>
          </a:blip>
          <a:stretch>
            <a:fillRect/>
          </a:stretch>
        </p:blipFill>
        <p:spPr>
          <a:xfrm>
            <a:off x="346300" y="2222575"/>
            <a:ext cx="1050125" cy="1050125"/>
          </a:xfrm>
          <a:prstGeom prst="rect">
            <a:avLst/>
          </a:prstGeom>
          <a:noFill/>
          <a:ln>
            <a:noFill/>
          </a:ln>
        </p:spPr>
      </p:pic>
      <p:pic>
        <p:nvPicPr>
          <p:cNvPr id="86" name="Google Shape;86;p7"/>
          <p:cNvPicPr preferRelativeResize="0"/>
          <p:nvPr/>
        </p:nvPicPr>
        <p:blipFill>
          <a:blip r:embed="rId15">
            <a:alphaModFix/>
          </a:blip>
          <a:stretch>
            <a:fillRect/>
          </a:stretch>
        </p:blipFill>
        <p:spPr>
          <a:xfrm>
            <a:off x="1940600" y="2222581"/>
            <a:ext cx="1050125" cy="1050125"/>
          </a:xfrm>
          <a:prstGeom prst="rect">
            <a:avLst/>
          </a:prstGeom>
          <a:noFill/>
          <a:ln>
            <a:noFill/>
          </a:ln>
        </p:spPr>
      </p:pic>
      <p:pic>
        <p:nvPicPr>
          <p:cNvPr id="87" name="Google Shape;87;p7"/>
          <p:cNvPicPr preferRelativeResize="0"/>
          <p:nvPr/>
        </p:nvPicPr>
        <p:blipFill rotWithShape="1">
          <a:blip r:embed="rId16">
            <a:alphaModFix/>
          </a:blip>
          <a:srcRect b="11887" l="8272" r="7751" t="9957"/>
          <a:stretch/>
        </p:blipFill>
        <p:spPr>
          <a:xfrm>
            <a:off x="3534899" y="2161881"/>
            <a:ext cx="1115775" cy="1038396"/>
          </a:xfrm>
          <a:prstGeom prst="rect">
            <a:avLst/>
          </a:prstGeom>
          <a:noFill/>
          <a:ln>
            <a:noFill/>
          </a:ln>
        </p:spPr>
      </p:pic>
      <p:pic>
        <p:nvPicPr>
          <p:cNvPr id="88" name="Google Shape;88;p7"/>
          <p:cNvPicPr preferRelativeResize="0"/>
          <p:nvPr/>
        </p:nvPicPr>
        <p:blipFill>
          <a:blip r:embed="rId17">
            <a:alphaModFix/>
          </a:blip>
          <a:stretch>
            <a:fillRect/>
          </a:stretch>
        </p:blipFill>
        <p:spPr>
          <a:xfrm>
            <a:off x="5135388" y="2222576"/>
            <a:ext cx="1050125" cy="1050125"/>
          </a:xfrm>
          <a:prstGeom prst="rect">
            <a:avLst/>
          </a:prstGeom>
          <a:noFill/>
          <a:ln>
            <a:noFill/>
          </a:ln>
        </p:spPr>
      </p:pic>
      <p:pic>
        <p:nvPicPr>
          <p:cNvPr id="89" name="Google Shape;89;p7"/>
          <p:cNvPicPr preferRelativeResize="0"/>
          <p:nvPr/>
        </p:nvPicPr>
        <p:blipFill>
          <a:blip r:embed="rId18">
            <a:alphaModFix/>
          </a:blip>
          <a:stretch>
            <a:fillRect/>
          </a:stretch>
        </p:blipFill>
        <p:spPr>
          <a:xfrm>
            <a:off x="1907776" y="3637529"/>
            <a:ext cx="1115775" cy="1115792"/>
          </a:xfrm>
          <a:prstGeom prst="rect">
            <a:avLst/>
          </a:prstGeom>
          <a:noFill/>
          <a:ln>
            <a:noFill/>
          </a:ln>
        </p:spPr>
      </p:pic>
      <p:pic>
        <p:nvPicPr>
          <p:cNvPr id="90" name="Google Shape;90;p7"/>
          <p:cNvPicPr preferRelativeResize="0"/>
          <p:nvPr/>
        </p:nvPicPr>
        <p:blipFill rotWithShape="1">
          <a:blip r:embed="rId19">
            <a:alphaModFix/>
          </a:blip>
          <a:srcRect b="0" l="19575" r="0" t="4889"/>
          <a:stretch/>
        </p:blipFill>
        <p:spPr>
          <a:xfrm>
            <a:off x="313478" y="3700612"/>
            <a:ext cx="1115774" cy="989626"/>
          </a:xfrm>
          <a:prstGeom prst="rect">
            <a:avLst/>
          </a:prstGeom>
          <a:noFill/>
          <a:ln>
            <a:noFill/>
          </a:ln>
        </p:spPr>
      </p:pic>
      <p:pic>
        <p:nvPicPr>
          <p:cNvPr id="91" name="Google Shape;91;p7"/>
          <p:cNvPicPr preferRelativeResize="0"/>
          <p:nvPr/>
        </p:nvPicPr>
        <p:blipFill>
          <a:blip r:embed="rId20">
            <a:alphaModFix/>
          </a:blip>
          <a:stretch>
            <a:fillRect/>
          </a:stretch>
        </p:blipFill>
        <p:spPr>
          <a:xfrm>
            <a:off x="3189250" y="3614050"/>
            <a:ext cx="3323575" cy="1288925"/>
          </a:xfrm>
          <a:prstGeom prst="rect">
            <a:avLst/>
          </a:prstGeom>
          <a:noFill/>
          <a:ln>
            <a:noFill/>
          </a:ln>
        </p:spPr>
      </p:pic>
    </p:spTree>
  </p:cSld>
  <p:clrMapOvr>
    <a:masterClrMapping/>
  </p:clrMapOvr>
  <mc:AlternateContent>
    <mc:Choice Requires="p14">
      <p:transition spd="med">
        <p14:flip dir="l"/>
      </p:transition>
    </mc:Choice>
    <mc:Fallback>
      <p:transition spd="med">
        <p:fade/>
      </p:transition>
    </mc:Fallback>
  </mc:AlternateContent>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2">
                                  <p:stCondLst>
                                    <p:cond delay="0"/>
                                  </p:stCondLst>
                                  <p:childTnLst>
                                    <p:set>
                                      <p:cBhvr>
                                        <p:cTn dur="1" fill="hold">
                                          <p:stCondLst>
                                            <p:cond delay="0"/>
                                          </p:stCondLst>
                                        </p:cTn>
                                        <p:tgtEl>
                                          <p:spTgt spid="75"/>
                                        </p:tgtEl>
                                        <p:attrNameLst>
                                          <p:attrName>style.visibility</p:attrName>
                                        </p:attrNameLst>
                                      </p:cBhvr>
                                      <p:to>
                                        <p:strVal val="visible"/>
                                      </p:to>
                                    </p:set>
                                    <p:anim calcmode="lin" valueType="num">
                                      <p:cBhvr additive="base">
                                        <p:cTn dur="1000"/>
                                        <p:tgtEl>
                                          <p:spTgt spid="75"/>
                                        </p:tgtEl>
                                        <p:attrNameLst>
                                          <p:attrName>ppt_x</p:attrName>
                                        </p:attrNameLst>
                                      </p:cBhvr>
                                      <p:tavLst>
                                        <p:tav fmla="" tm="0">
                                          <p:val>
                                            <p:strVal val="#ppt_x+1"/>
                                          </p:val>
                                        </p:tav>
                                        <p:tav fmla="" tm="100000">
                                          <p:val>
                                            <p:strVal val="#ppt_x"/>
                                          </p:val>
                                        </p:tav>
                                      </p:tavLst>
                                    </p:anim>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74"/>
                                        </p:tgtEl>
                                        <p:attrNameLst>
                                          <p:attrName>style.visibility</p:attrName>
                                        </p:attrNameLst>
                                      </p:cBhvr>
                                      <p:to>
                                        <p:strVal val="visible"/>
                                      </p:to>
                                    </p:set>
                                    <p:animEffect filter="fade" transition="in">
                                      <p:cBhvr>
                                        <p:cTn dur="1000"/>
                                        <p:tgtEl>
                                          <p:spTgt spid="7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2">
                                  <p:stCondLst>
                                    <p:cond delay="0"/>
                                  </p:stCondLst>
                                  <p:childTnLst>
                                    <p:set>
                                      <p:cBhvr>
                                        <p:cTn dur="1" fill="hold">
                                          <p:stCondLst>
                                            <p:cond delay="0"/>
                                          </p:stCondLst>
                                        </p:cTn>
                                        <p:tgtEl>
                                          <p:spTgt spid="76"/>
                                        </p:tgtEl>
                                        <p:attrNameLst>
                                          <p:attrName>style.visibility</p:attrName>
                                        </p:attrNameLst>
                                      </p:cBhvr>
                                      <p:to>
                                        <p:strVal val="visible"/>
                                      </p:to>
                                    </p:set>
                                    <p:anim calcmode="lin" valueType="num">
                                      <p:cBhvr additive="base">
                                        <p:cTn dur="1000"/>
                                        <p:tgtEl>
                                          <p:spTgt spid="76"/>
                                        </p:tgtEl>
                                        <p:attrNameLst>
                                          <p:attrName>ppt_x</p:attrName>
                                        </p:attrNameLst>
                                      </p:cBhvr>
                                      <p:tavLst>
                                        <p:tav fmla="" tm="0">
                                          <p:val>
                                            <p:strVal val="#ppt_x+1"/>
                                          </p:val>
                                        </p:tav>
                                        <p:tav fmla="" tm="100000">
                                          <p:val>
                                            <p:strVal val="#ppt_x"/>
                                          </p:val>
                                        </p:tav>
                                      </p:tavLst>
                                    </p:anim>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82"/>
                                        </p:tgtEl>
                                        <p:attrNameLst>
                                          <p:attrName>style.visibility</p:attrName>
                                        </p:attrNameLst>
                                      </p:cBhvr>
                                      <p:to>
                                        <p:strVal val="visible"/>
                                      </p:to>
                                    </p:set>
                                    <p:animEffect filter="fade" transition="in">
                                      <p:cBhvr>
                                        <p:cTn dur="1000"/>
                                        <p:tgtEl>
                                          <p:spTgt spid="82"/>
                                        </p:tgtEl>
                                      </p:cBhvr>
                                    </p:animEffect>
                                  </p:childTnLst>
                                </p:cTn>
                              </p:par>
                            </p:childTnLst>
                          </p:cTn>
                        </p:par>
                        <p:par>
                          <p:cTn fill="hold">
                            <p:stCondLst>
                              <p:cond delay="2000"/>
                            </p:stCondLst>
                            <p:childTnLst>
                              <p:par>
                                <p:cTn fill="hold" nodeType="afterEffect" presetClass="entr" presetID="10" presetSubtype="0">
                                  <p:stCondLst>
                                    <p:cond delay="0"/>
                                  </p:stCondLst>
                                  <p:childTnLst>
                                    <p:set>
                                      <p:cBhvr>
                                        <p:cTn dur="1" fill="hold">
                                          <p:stCondLst>
                                            <p:cond delay="0"/>
                                          </p:stCondLst>
                                        </p:cTn>
                                        <p:tgtEl>
                                          <p:spTgt spid="83"/>
                                        </p:tgtEl>
                                        <p:attrNameLst>
                                          <p:attrName>style.visibility</p:attrName>
                                        </p:attrNameLst>
                                      </p:cBhvr>
                                      <p:to>
                                        <p:strVal val="visible"/>
                                      </p:to>
                                    </p:set>
                                    <p:animEffect filter="fade" transition="in">
                                      <p:cBhvr>
                                        <p:cTn dur="1000"/>
                                        <p:tgtEl>
                                          <p:spTgt spid="83"/>
                                        </p:tgtEl>
                                      </p:cBhvr>
                                    </p:animEffect>
                                  </p:childTnLst>
                                </p:cTn>
                              </p:par>
                            </p:childTnLst>
                          </p:cTn>
                        </p:par>
                        <p:par>
                          <p:cTn fill="hold">
                            <p:stCondLst>
                              <p:cond delay="3000"/>
                            </p:stCondLst>
                            <p:childTnLst>
                              <p:par>
                                <p:cTn fill="hold" nodeType="afterEffect" presetClass="entr" presetID="10" presetSubtype="0">
                                  <p:stCondLst>
                                    <p:cond delay="0"/>
                                  </p:stCondLst>
                                  <p:childTnLst>
                                    <p:set>
                                      <p:cBhvr>
                                        <p:cTn dur="1" fill="hold">
                                          <p:stCondLst>
                                            <p:cond delay="0"/>
                                          </p:stCondLst>
                                        </p:cTn>
                                        <p:tgtEl>
                                          <p:spTgt spid="84"/>
                                        </p:tgtEl>
                                        <p:attrNameLst>
                                          <p:attrName>style.visibility</p:attrName>
                                        </p:attrNameLst>
                                      </p:cBhvr>
                                      <p:to>
                                        <p:strVal val="visible"/>
                                      </p:to>
                                    </p:set>
                                    <p:animEffect filter="fade" transition="in">
                                      <p:cBhvr>
                                        <p:cTn dur="1000"/>
                                        <p:tgtEl>
                                          <p:spTgt spid="84"/>
                                        </p:tgtEl>
                                      </p:cBhvr>
                                    </p:animEffect>
                                  </p:childTnLst>
                                </p:cTn>
                              </p:par>
                            </p:childTnLst>
                          </p:cTn>
                        </p:par>
                        <p:par>
                          <p:cTn fill="hold">
                            <p:stCondLst>
                              <p:cond delay="4000"/>
                            </p:stCondLst>
                            <p:childTnLst>
                              <p:par>
                                <p:cTn fill="hold" nodeType="afterEffect" presetClass="entr" presetID="10" presetSubtype="0">
                                  <p:stCondLst>
                                    <p:cond delay="0"/>
                                  </p:stCondLst>
                                  <p:childTnLst>
                                    <p:set>
                                      <p:cBhvr>
                                        <p:cTn dur="1" fill="hold">
                                          <p:stCondLst>
                                            <p:cond delay="0"/>
                                          </p:stCondLst>
                                        </p:cTn>
                                        <p:tgtEl>
                                          <p:spTgt spid="85"/>
                                        </p:tgtEl>
                                        <p:attrNameLst>
                                          <p:attrName>style.visibility</p:attrName>
                                        </p:attrNameLst>
                                      </p:cBhvr>
                                      <p:to>
                                        <p:strVal val="visible"/>
                                      </p:to>
                                    </p:set>
                                    <p:animEffect filter="fade" transition="in">
                                      <p:cBhvr>
                                        <p:cTn dur="1000"/>
                                        <p:tgtEl>
                                          <p:spTgt spid="85"/>
                                        </p:tgtEl>
                                      </p:cBhvr>
                                    </p:animEffect>
                                  </p:childTnLst>
                                </p:cTn>
                              </p:par>
                            </p:childTnLst>
                          </p:cTn>
                        </p:par>
                        <p:par>
                          <p:cTn fill="hold">
                            <p:stCondLst>
                              <p:cond delay="5000"/>
                            </p:stCondLst>
                            <p:childTnLst>
                              <p:par>
                                <p:cTn fill="hold" nodeType="afterEffect" presetClass="entr" presetID="10" presetSubtype="0">
                                  <p:stCondLst>
                                    <p:cond delay="0"/>
                                  </p:stCondLst>
                                  <p:childTnLst>
                                    <p:set>
                                      <p:cBhvr>
                                        <p:cTn dur="1" fill="hold">
                                          <p:stCondLst>
                                            <p:cond delay="0"/>
                                          </p:stCondLst>
                                        </p:cTn>
                                        <p:tgtEl>
                                          <p:spTgt spid="86"/>
                                        </p:tgtEl>
                                        <p:attrNameLst>
                                          <p:attrName>style.visibility</p:attrName>
                                        </p:attrNameLst>
                                      </p:cBhvr>
                                      <p:to>
                                        <p:strVal val="visible"/>
                                      </p:to>
                                    </p:set>
                                    <p:animEffect filter="fade" transition="in">
                                      <p:cBhvr>
                                        <p:cTn dur="1000"/>
                                        <p:tgtEl>
                                          <p:spTgt spid="8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2">
                                  <p:stCondLst>
                                    <p:cond delay="0"/>
                                  </p:stCondLst>
                                  <p:childTnLst>
                                    <p:set>
                                      <p:cBhvr>
                                        <p:cTn dur="1" fill="hold">
                                          <p:stCondLst>
                                            <p:cond delay="0"/>
                                          </p:stCondLst>
                                        </p:cTn>
                                        <p:tgtEl>
                                          <p:spTgt spid="77"/>
                                        </p:tgtEl>
                                        <p:attrNameLst>
                                          <p:attrName>style.visibility</p:attrName>
                                        </p:attrNameLst>
                                      </p:cBhvr>
                                      <p:to>
                                        <p:strVal val="visible"/>
                                      </p:to>
                                    </p:set>
                                    <p:anim calcmode="lin" valueType="num">
                                      <p:cBhvr additive="base">
                                        <p:cTn dur="1000"/>
                                        <p:tgtEl>
                                          <p:spTgt spid="77"/>
                                        </p:tgtEl>
                                        <p:attrNameLst>
                                          <p:attrName>ppt_x</p:attrName>
                                        </p:attrNameLst>
                                      </p:cBhvr>
                                      <p:tavLst>
                                        <p:tav fmla="" tm="0">
                                          <p:val>
                                            <p:strVal val="#ppt_x+1"/>
                                          </p:val>
                                        </p:tav>
                                        <p:tav fmla="" tm="100000">
                                          <p:val>
                                            <p:strVal val="#ppt_x"/>
                                          </p:val>
                                        </p:tav>
                                      </p:tavLst>
                                    </p:anim>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87"/>
                                        </p:tgtEl>
                                        <p:attrNameLst>
                                          <p:attrName>style.visibility</p:attrName>
                                        </p:attrNameLst>
                                      </p:cBhvr>
                                      <p:to>
                                        <p:strVal val="visible"/>
                                      </p:to>
                                    </p:set>
                                    <p:animEffect filter="fade" transition="in">
                                      <p:cBhvr>
                                        <p:cTn dur="1000"/>
                                        <p:tgtEl>
                                          <p:spTgt spid="8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2">
                                  <p:stCondLst>
                                    <p:cond delay="0"/>
                                  </p:stCondLst>
                                  <p:childTnLst>
                                    <p:set>
                                      <p:cBhvr>
                                        <p:cTn dur="1" fill="hold">
                                          <p:stCondLst>
                                            <p:cond delay="0"/>
                                          </p:stCondLst>
                                        </p:cTn>
                                        <p:tgtEl>
                                          <p:spTgt spid="78"/>
                                        </p:tgtEl>
                                        <p:attrNameLst>
                                          <p:attrName>style.visibility</p:attrName>
                                        </p:attrNameLst>
                                      </p:cBhvr>
                                      <p:to>
                                        <p:strVal val="visible"/>
                                      </p:to>
                                    </p:set>
                                    <p:anim calcmode="lin" valueType="num">
                                      <p:cBhvr additive="base">
                                        <p:cTn dur="1000"/>
                                        <p:tgtEl>
                                          <p:spTgt spid="78"/>
                                        </p:tgtEl>
                                        <p:attrNameLst>
                                          <p:attrName>ppt_x</p:attrName>
                                        </p:attrNameLst>
                                      </p:cBhvr>
                                      <p:tavLst>
                                        <p:tav fmla="" tm="0">
                                          <p:val>
                                            <p:strVal val="#ppt_x+1"/>
                                          </p:val>
                                        </p:tav>
                                        <p:tav fmla="" tm="100000">
                                          <p:val>
                                            <p:strVal val="#ppt_x"/>
                                          </p:val>
                                        </p:tav>
                                      </p:tavLst>
                                    </p:anim>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88"/>
                                        </p:tgtEl>
                                        <p:attrNameLst>
                                          <p:attrName>style.visibility</p:attrName>
                                        </p:attrNameLst>
                                      </p:cBhvr>
                                      <p:to>
                                        <p:strVal val="visible"/>
                                      </p:to>
                                    </p:set>
                                    <p:animEffect filter="fade" transition="in">
                                      <p:cBhvr>
                                        <p:cTn dur="1000"/>
                                        <p:tgtEl>
                                          <p:spTgt spid="8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2">
                                  <p:stCondLst>
                                    <p:cond delay="0"/>
                                  </p:stCondLst>
                                  <p:childTnLst>
                                    <p:set>
                                      <p:cBhvr>
                                        <p:cTn dur="1" fill="hold">
                                          <p:stCondLst>
                                            <p:cond delay="0"/>
                                          </p:stCondLst>
                                        </p:cTn>
                                        <p:tgtEl>
                                          <p:spTgt spid="79"/>
                                        </p:tgtEl>
                                        <p:attrNameLst>
                                          <p:attrName>style.visibility</p:attrName>
                                        </p:attrNameLst>
                                      </p:cBhvr>
                                      <p:to>
                                        <p:strVal val="visible"/>
                                      </p:to>
                                    </p:set>
                                    <p:anim calcmode="lin" valueType="num">
                                      <p:cBhvr additive="base">
                                        <p:cTn dur="1000"/>
                                        <p:tgtEl>
                                          <p:spTgt spid="79"/>
                                        </p:tgtEl>
                                        <p:attrNameLst>
                                          <p:attrName>ppt_x</p:attrName>
                                        </p:attrNameLst>
                                      </p:cBhvr>
                                      <p:tavLst>
                                        <p:tav fmla="" tm="0">
                                          <p:val>
                                            <p:strVal val="#ppt_x+1"/>
                                          </p:val>
                                        </p:tav>
                                        <p:tav fmla="" tm="100000">
                                          <p:val>
                                            <p:strVal val="#ppt_x"/>
                                          </p:val>
                                        </p:tav>
                                      </p:tavLst>
                                    </p:anim>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90"/>
                                        </p:tgtEl>
                                        <p:attrNameLst>
                                          <p:attrName>style.visibility</p:attrName>
                                        </p:attrNameLst>
                                      </p:cBhvr>
                                      <p:to>
                                        <p:strVal val="visible"/>
                                      </p:to>
                                    </p:set>
                                    <p:animEffect filter="fade" transition="in">
                                      <p:cBhvr>
                                        <p:cTn dur="1000"/>
                                        <p:tgtEl>
                                          <p:spTgt spid="9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2">
                                  <p:stCondLst>
                                    <p:cond delay="0"/>
                                  </p:stCondLst>
                                  <p:childTnLst>
                                    <p:set>
                                      <p:cBhvr>
                                        <p:cTn dur="1" fill="hold">
                                          <p:stCondLst>
                                            <p:cond delay="0"/>
                                          </p:stCondLst>
                                        </p:cTn>
                                        <p:tgtEl>
                                          <p:spTgt spid="80"/>
                                        </p:tgtEl>
                                        <p:attrNameLst>
                                          <p:attrName>style.visibility</p:attrName>
                                        </p:attrNameLst>
                                      </p:cBhvr>
                                      <p:to>
                                        <p:strVal val="visible"/>
                                      </p:to>
                                    </p:set>
                                    <p:anim calcmode="lin" valueType="num">
                                      <p:cBhvr additive="base">
                                        <p:cTn dur="1000"/>
                                        <p:tgtEl>
                                          <p:spTgt spid="80"/>
                                        </p:tgtEl>
                                        <p:attrNameLst>
                                          <p:attrName>ppt_x</p:attrName>
                                        </p:attrNameLst>
                                      </p:cBhvr>
                                      <p:tavLst>
                                        <p:tav fmla="" tm="0">
                                          <p:val>
                                            <p:strVal val="#ppt_x+1"/>
                                          </p:val>
                                        </p:tav>
                                        <p:tav fmla="" tm="100000">
                                          <p:val>
                                            <p:strVal val="#ppt_x"/>
                                          </p:val>
                                        </p:tav>
                                      </p:tavLst>
                                    </p:anim>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89"/>
                                        </p:tgtEl>
                                        <p:attrNameLst>
                                          <p:attrName>style.visibility</p:attrName>
                                        </p:attrNameLst>
                                      </p:cBhvr>
                                      <p:to>
                                        <p:strVal val="visible"/>
                                      </p:to>
                                    </p:set>
                                    <p:animEffect filter="fade" transition="in">
                                      <p:cBhvr>
                                        <p:cTn dur="1000"/>
                                        <p:tgtEl>
                                          <p:spTgt spid="8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2">
                                  <p:stCondLst>
                                    <p:cond delay="0"/>
                                  </p:stCondLst>
                                  <p:childTnLst>
                                    <p:set>
                                      <p:cBhvr>
                                        <p:cTn dur="1" fill="hold">
                                          <p:stCondLst>
                                            <p:cond delay="0"/>
                                          </p:stCondLst>
                                        </p:cTn>
                                        <p:tgtEl>
                                          <p:spTgt spid="81"/>
                                        </p:tgtEl>
                                        <p:attrNameLst>
                                          <p:attrName>style.visibility</p:attrName>
                                        </p:attrNameLst>
                                      </p:cBhvr>
                                      <p:to>
                                        <p:strVal val="visible"/>
                                      </p:to>
                                    </p:set>
                                    <p:anim calcmode="lin" valueType="num">
                                      <p:cBhvr additive="base">
                                        <p:cTn dur="1000"/>
                                        <p:tgtEl>
                                          <p:spTgt spid="81"/>
                                        </p:tgtEl>
                                        <p:attrNameLst>
                                          <p:attrName>ppt_x</p:attrName>
                                        </p:attrNameLst>
                                      </p:cBhvr>
                                      <p:tavLst>
                                        <p:tav fmla="" tm="0">
                                          <p:val>
                                            <p:strVal val="#ppt_x+1"/>
                                          </p:val>
                                        </p:tav>
                                        <p:tav fmla="" tm="100000">
                                          <p:val>
                                            <p:strVal val="#ppt_x"/>
                                          </p:val>
                                        </p:tav>
                                      </p:tavLst>
                                    </p:anim>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91"/>
                                        </p:tgtEl>
                                        <p:attrNameLst>
                                          <p:attrName>style.visibility</p:attrName>
                                        </p:attrNameLst>
                                      </p:cBhvr>
                                      <p:to>
                                        <p:strVal val="visible"/>
                                      </p:to>
                                    </p:set>
                                    <p:animEffect filter="fade" transition="in">
                                      <p:cBhvr>
                                        <p:cTn dur="1000"/>
                                        <p:tgtEl>
                                          <p:spTgt spid="9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xit" presetID="2" presetSubtype="2">
                                  <p:stCondLst>
                                    <p:cond delay="0"/>
                                  </p:stCondLst>
                                  <p:childTnLst>
                                    <p:anim calcmode="lin" valueType="num">
                                      <p:cBhvr additive="base">
                                        <p:cTn dur="1000"/>
                                        <p:tgtEl>
                                          <p:spTgt spid="75"/>
                                        </p:tgtEl>
                                        <p:attrNameLst>
                                          <p:attrName>ppt_x</p:attrName>
                                        </p:attrNameLst>
                                      </p:cBhvr>
                                      <p:tavLst>
                                        <p:tav fmla="" tm="0">
                                          <p:val>
                                            <p:strVal val="#ppt_x"/>
                                          </p:val>
                                        </p:tav>
                                        <p:tav fmla="" tm="100000">
                                          <p:val>
                                            <p:strVal val="#ppt_x+1"/>
                                          </p:val>
                                        </p:tav>
                                      </p:tavLst>
                                    </p:anim>
                                    <p:set>
                                      <p:cBhvr>
                                        <p:cTn dur="1" fill="hold">
                                          <p:stCondLst>
                                            <p:cond delay="1000"/>
                                          </p:stCondLst>
                                        </p:cTn>
                                        <p:tgtEl>
                                          <p:spTgt spid="75"/>
                                        </p:tgtEl>
                                        <p:attrNameLst>
                                          <p:attrName>style.visibility</p:attrName>
                                        </p:attrNameLst>
                                      </p:cBhvr>
                                      <p:to>
                                        <p:strVal val="hidden"/>
                                      </p:to>
                                    </p:set>
                                  </p:childTnLst>
                                </p:cTn>
                              </p:par>
                              <p:par>
                                <p:cTn fill="hold" nodeType="withEffect" presetClass="exit" presetID="2" presetSubtype="2">
                                  <p:stCondLst>
                                    <p:cond delay="0"/>
                                  </p:stCondLst>
                                  <p:childTnLst>
                                    <p:anim calcmode="lin" valueType="num">
                                      <p:cBhvr additive="base">
                                        <p:cTn dur="1000"/>
                                        <p:tgtEl>
                                          <p:spTgt spid="76"/>
                                        </p:tgtEl>
                                        <p:attrNameLst>
                                          <p:attrName>ppt_x</p:attrName>
                                        </p:attrNameLst>
                                      </p:cBhvr>
                                      <p:tavLst>
                                        <p:tav fmla="" tm="0">
                                          <p:val>
                                            <p:strVal val="#ppt_x"/>
                                          </p:val>
                                        </p:tav>
                                        <p:tav fmla="" tm="100000">
                                          <p:val>
                                            <p:strVal val="#ppt_x+1"/>
                                          </p:val>
                                        </p:tav>
                                      </p:tavLst>
                                    </p:anim>
                                    <p:set>
                                      <p:cBhvr>
                                        <p:cTn dur="1" fill="hold">
                                          <p:stCondLst>
                                            <p:cond delay="1000"/>
                                          </p:stCondLst>
                                        </p:cTn>
                                        <p:tgtEl>
                                          <p:spTgt spid="76"/>
                                        </p:tgtEl>
                                        <p:attrNameLst>
                                          <p:attrName>style.visibility</p:attrName>
                                        </p:attrNameLst>
                                      </p:cBhvr>
                                      <p:to>
                                        <p:strVal val="hidden"/>
                                      </p:to>
                                    </p:set>
                                  </p:childTnLst>
                                </p:cTn>
                              </p:par>
                              <p:par>
                                <p:cTn fill="hold" nodeType="withEffect" presetClass="exit" presetID="2" presetSubtype="2">
                                  <p:stCondLst>
                                    <p:cond delay="0"/>
                                  </p:stCondLst>
                                  <p:childTnLst>
                                    <p:anim calcmode="lin" valueType="num">
                                      <p:cBhvr additive="base">
                                        <p:cTn dur="1000"/>
                                        <p:tgtEl>
                                          <p:spTgt spid="77"/>
                                        </p:tgtEl>
                                        <p:attrNameLst>
                                          <p:attrName>ppt_x</p:attrName>
                                        </p:attrNameLst>
                                      </p:cBhvr>
                                      <p:tavLst>
                                        <p:tav fmla="" tm="0">
                                          <p:val>
                                            <p:strVal val="#ppt_x"/>
                                          </p:val>
                                        </p:tav>
                                        <p:tav fmla="" tm="100000">
                                          <p:val>
                                            <p:strVal val="#ppt_x+1"/>
                                          </p:val>
                                        </p:tav>
                                      </p:tavLst>
                                    </p:anim>
                                    <p:set>
                                      <p:cBhvr>
                                        <p:cTn dur="1" fill="hold">
                                          <p:stCondLst>
                                            <p:cond delay="1000"/>
                                          </p:stCondLst>
                                        </p:cTn>
                                        <p:tgtEl>
                                          <p:spTgt spid="77"/>
                                        </p:tgtEl>
                                        <p:attrNameLst>
                                          <p:attrName>style.visibility</p:attrName>
                                        </p:attrNameLst>
                                      </p:cBhvr>
                                      <p:to>
                                        <p:strVal val="hidden"/>
                                      </p:to>
                                    </p:set>
                                  </p:childTnLst>
                                </p:cTn>
                              </p:par>
                              <p:par>
                                <p:cTn fill="hold" nodeType="withEffect" presetClass="exit" presetID="2" presetSubtype="2">
                                  <p:stCondLst>
                                    <p:cond delay="0"/>
                                  </p:stCondLst>
                                  <p:childTnLst>
                                    <p:anim calcmode="lin" valueType="num">
                                      <p:cBhvr additive="base">
                                        <p:cTn dur="1000"/>
                                        <p:tgtEl>
                                          <p:spTgt spid="78"/>
                                        </p:tgtEl>
                                        <p:attrNameLst>
                                          <p:attrName>ppt_x</p:attrName>
                                        </p:attrNameLst>
                                      </p:cBhvr>
                                      <p:tavLst>
                                        <p:tav fmla="" tm="0">
                                          <p:val>
                                            <p:strVal val="#ppt_x"/>
                                          </p:val>
                                        </p:tav>
                                        <p:tav fmla="" tm="100000">
                                          <p:val>
                                            <p:strVal val="#ppt_x+1"/>
                                          </p:val>
                                        </p:tav>
                                      </p:tavLst>
                                    </p:anim>
                                    <p:set>
                                      <p:cBhvr>
                                        <p:cTn dur="1" fill="hold">
                                          <p:stCondLst>
                                            <p:cond delay="1000"/>
                                          </p:stCondLst>
                                        </p:cTn>
                                        <p:tgtEl>
                                          <p:spTgt spid="78"/>
                                        </p:tgtEl>
                                        <p:attrNameLst>
                                          <p:attrName>style.visibility</p:attrName>
                                        </p:attrNameLst>
                                      </p:cBhvr>
                                      <p:to>
                                        <p:strVal val="hidden"/>
                                      </p:to>
                                    </p:set>
                                  </p:childTnLst>
                                </p:cTn>
                              </p:par>
                              <p:par>
                                <p:cTn fill="hold" nodeType="withEffect" presetClass="exit" presetID="2" presetSubtype="2">
                                  <p:stCondLst>
                                    <p:cond delay="0"/>
                                  </p:stCondLst>
                                  <p:childTnLst>
                                    <p:anim calcmode="lin" valueType="num">
                                      <p:cBhvr additive="base">
                                        <p:cTn dur="1000"/>
                                        <p:tgtEl>
                                          <p:spTgt spid="79"/>
                                        </p:tgtEl>
                                        <p:attrNameLst>
                                          <p:attrName>ppt_x</p:attrName>
                                        </p:attrNameLst>
                                      </p:cBhvr>
                                      <p:tavLst>
                                        <p:tav fmla="" tm="0">
                                          <p:val>
                                            <p:strVal val="#ppt_x"/>
                                          </p:val>
                                        </p:tav>
                                        <p:tav fmla="" tm="100000">
                                          <p:val>
                                            <p:strVal val="#ppt_x+1"/>
                                          </p:val>
                                        </p:tav>
                                      </p:tavLst>
                                    </p:anim>
                                    <p:set>
                                      <p:cBhvr>
                                        <p:cTn dur="1" fill="hold">
                                          <p:stCondLst>
                                            <p:cond delay="1000"/>
                                          </p:stCondLst>
                                        </p:cTn>
                                        <p:tgtEl>
                                          <p:spTgt spid="79"/>
                                        </p:tgtEl>
                                        <p:attrNameLst>
                                          <p:attrName>style.visibility</p:attrName>
                                        </p:attrNameLst>
                                      </p:cBhvr>
                                      <p:to>
                                        <p:strVal val="hidden"/>
                                      </p:to>
                                    </p:set>
                                  </p:childTnLst>
                                </p:cTn>
                              </p:par>
                              <p:par>
                                <p:cTn fill="hold" nodeType="withEffect" presetClass="exit" presetID="2" presetSubtype="2">
                                  <p:stCondLst>
                                    <p:cond delay="0"/>
                                  </p:stCondLst>
                                  <p:childTnLst>
                                    <p:anim calcmode="lin" valueType="num">
                                      <p:cBhvr additive="base">
                                        <p:cTn dur="1000"/>
                                        <p:tgtEl>
                                          <p:spTgt spid="80"/>
                                        </p:tgtEl>
                                        <p:attrNameLst>
                                          <p:attrName>ppt_x</p:attrName>
                                        </p:attrNameLst>
                                      </p:cBhvr>
                                      <p:tavLst>
                                        <p:tav fmla="" tm="0">
                                          <p:val>
                                            <p:strVal val="#ppt_x"/>
                                          </p:val>
                                        </p:tav>
                                        <p:tav fmla="" tm="100000">
                                          <p:val>
                                            <p:strVal val="#ppt_x+1"/>
                                          </p:val>
                                        </p:tav>
                                      </p:tavLst>
                                    </p:anim>
                                    <p:set>
                                      <p:cBhvr>
                                        <p:cTn dur="1" fill="hold">
                                          <p:stCondLst>
                                            <p:cond delay="1000"/>
                                          </p:stCondLst>
                                        </p:cTn>
                                        <p:tgtEl>
                                          <p:spTgt spid="80"/>
                                        </p:tgtEl>
                                        <p:attrNameLst>
                                          <p:attrName>style.visibility</p:attrName>
                                        </p:attrNameLst>
                                      </p:cBhvr>
                                      <p:to>
                                        <p:strVal val="hidden"/>
                                      </p:to>
                                    </p:set>
                                  </p:childTnLst>
                                </p:cTn>
                              </p:par>
                              <p:par>
                                <p:cTn fill="hold" nodeType="withEffect" presetClass="exit" presetID="2" presetSubtype="2">
                                  <p:stCondLst>
                                    <p:cond delay="0"/>
                                  </p:stCondLst>
                                  <p:childTnLst>
                                    <p:anim calcmode="lin" valueType="num">
                                      <p:cBhvr additive="base">
                                        <p:cTn dur="1000"/>
                                        <p:tgtEl>
                                          <p:spTgt spid="81"/>
                                        </p:tgtEl>
                                        <p:attrNameLst>
                                          <p:attrName>ppt_x</p:attrName>
                                        </p:attrNameLst>
                                      </p:cBhvr>
                                      <p:tavLst>
                                        <p:tav fmla="" tm="0">
                                          <p:val>
                                            <p:strVal val="#ppt_x"/>
                                          </p:val>
                                        </p:tav>
                                        <p:tav fmla="" tm="100000">
                                          <p:val>
                                            <p:strVal val="#ppt_x+1"/>
                                          </p:val>
                                        </p:tav>
                                      </p:tavLst>
                                    </p:anim>
                                    <p:set>
                                      <p:cBhvr>
                                        <p:cTn dur="1" fill="hold">
                                          <p:stCondLst>
                                            <p:cond delay="1000"/>
                                          </p:stCondLst>
                                        </p:cTn>
                                        <p:tgtEl>
                                          <p:spTgt spid="81"/>
                                        </p:tgtEl>
                                        <p:attrNameLst>
                                          <p:attrName>style.visibility</p:attrName>
                                        </p:attrNameLst>
                                      </p:cBhvr>
                                      <p:to>
                                        <p:strVal val="hidden"/>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96" name="Shape 96"/>
        <p:cNvGrpSpPr/>
        <p:nvPr/>
      </p:nvGrpSpPr>
      <p:grpSpPr>
        <a:xfrm>
          <a:off x="0" y="0"/>
          <a:ext cx="0" cy="0"/>
          <a:chOff x="0" y="0"/>
          <a:chExt cx="0" cy="0"/>
        </a:xfrm>
      </p:grpSpPr>
      <p:sp>
        <p:nvSpPr>
          <p:cNvPr id="97" name="Google Shape;97;p8"/>
          <p:cNvSpPr/>
          <p:nvPr/>
        </p:nvSpPr>
        <p:spPr>
          <a:xfrm>
            <a:off x="0" y="0"/>
            <a:ext cx="9144000" cy="628800"/>
          </a:xfrm>
          <a:prstGeom prst="rect">
            <a:avLst/>
          </a:prstGeom>
          <a:solidFill>
            <a:srgbClr val="57068C"/>
          </a:solidFill>
          <a:ln cap="flat" cmpd="sng" w="12700">
            <a:solidFill>
              <a:srgbClr val="57068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 name="Google Shape;98;p8"/>
          <p:cNvSpPr/>
          <p:nvPr/>
        </p:nvSpPr>
        <p:spPr>
          <a:xfrm>
            <a:off x="228600" y="256032"/>
            <a:ext cx="411600" cy="255900"/>
          </a:xfrm>
          <a:prstGeom prst="rect">
            <a:avLst/>
          </a:prstGeom>
          <a:solidFill>
            <a:srgbClr val="57068C"/>
          </a:solidFill>
          <a:ln cap="flat" cmpd="sng" w="12700">
            <a:solidFill>
              <a:srgbClr val="57068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 name="Google Shape;99;p8"/>
          <p:cNvSpPr/>
          <p:nvPr/>
        </p:nvSpPr>
        <p:spPr>
          <a:xfrm>
            <a:off x="228600" y="256032"/>
            <a:ext cx="411600" cy="2559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000"/>
              <a:buFont typeface="Calibri"/>
              <a:buNone/>
            </a:pPr>
            <a:r>
              <a:rPr b="1" i="0" lang="en-US" sz="1000" u="none" cap="none" strike="noStrike">
                <a:solidFill>
                  <a:srgbClr val="FFFFFF"/>
                </a:solidFill>
                <a:latin typeface="Calibri"/>
                <a:ea typeface="Calibri"/>
                <a:cs typeface="Calibri"/>
                <a:sym typeface="Calibri"/>
              </a:rPr>
              <a:t>NYU</a:t>
            </a:r>
            <a:endParaRPr b="0" i="0" sz="1000" u="none" cap="none" strike="noStrike">
              <a:solidFill>
                <a:schemeClr val="dk1"/>
              </a:solidFill>
              <a:latin typeface="Calibri"/>
              <a:ea typeface="Calibri"/>
              <a:cs typeface="Calibri"/>
              <a:sym typeface="Calibri"/>
            </a:endParaRPr>
          </a:p>
        </p:txBody>
      </p:sp>
      <p:sp>
        <p:nvSpPr>
          <p:cNvPr id="100" name="Google Shape;100;p8"/>
          <p:cNvSpPr/>
          <p:nvPr/>
        </p:nvSpPr>
        <p:spPr>
          <a:xfrm>
            <a:off x="749800" y="91449"/>
            <a:ext cx="1371600" cy="276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C99FF"/>
              </a:buClr>
              <a:buSzPts val="900"/>
              <a:buFont typeface="Calibri"/>
              <a:buNone/>
            </a:pPr>
            <a:r>
              <a:rPr b="1" i="0" lang="en-US" sz="900" u="none" cap="none" strike="noStrike">
                <a:solidFill>
                  <a:srgbClr val="CC99FF"/>
                </a:solidFill>
                <a:latin typeface="Calibri"/>
                <a:ea typeface="Calibri"/>
                <a:cs typeface="Calibri"/>
                <a:sym typeface="Calibri"/>
              </a:rPr>
              <a:t>Week 1</a:t>
            </a:r>
            <a:endParaRPr b="0" i="0" sz="900" u="none" cap="none" strike="noStrike">
              <a:solidFill>
                <a:schemeClr val="dk1"/>
              </a:solidFill>
              <a:latin typeface="Calibri"/>
              <a:ea typeface="Calibri"/>
              <a:cs typeface="Calibri"/>
              <a:sym typeface="Calibri"/>
            </a:endParaRPr>
          </a:p>
        </p:txBody>
      </p:sp>
      <p:sp>
        <p:nvSpPr>
          <p:cNvPr id="101" name="Google Shape;101;p8"/>
          <p:cNvSpPr/>
          <p:nvPr/>
        </p:nvSpPr>
        <p:spPr>
          <a:xfrm>
            <a:off x="749800" y="344283"/>
            <a:ext cx="7772400" cy="284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700"/>
              <a:buFont typeface="Calibri"/>
              <a:buNone/>
            </a:pPr>
            <a:r>
              <a:rPr b="1" lang="en-US" sz="1700">
                <a:solidFill>
                  <a:srgbClr val="FFFFFF"/>
                </a:solidFill>
                <a:latin typeface="Calibri"/>
                <a:ea typeface="Calibri"/>
                <a:cs typeface="Calibri"/>
                <a:sym typeface="Calibri"/>
              </a:rPr>
              <a:t>Dataset and Implementation Proposal</a:t>
            </a:r>
            <a:endParaRPr b="1" sz="1700">
              <a:solidFill>
                <a:srgbClr val="FFFFFF"/>
              </a:solidFill>
              <a:latin typeface="Calibri"/>
              <a:ea typeface="Calibri"/>
              <a:cs typeface="Calibri"/>
              <a:sym typeface="Calibri"/>
            </a:endParaRPr>
          </a:p>
        </p:txBody>
      </p:sp>
      <p:graphicFrame>
        <p:nvGraphicFramePr>
          <p:cNvPr id="102" name="Google Shape;102;p8"/>
          <p:cNvGraphicFramePr/>
          <p:nvPr/>
        </p:nvGraphicFramePr>
        <p:xfrm>
          <a:off x="228595" y="810242"/>
          <a:ext cx="3000000" cy="3000000"/>
        </p:xfrm>
        <a:graphic>
          <a:graphicData uri="http://schemas.openxmlformats.org/drawingml/2006/table">
            <a:tbl>
              <a:tblPr bandRow="1" firstRow="1">
                <a:noFill/>
                <a:tableStyleId>{4310F7AD-64F9-490E-80AE-7DB1637BC63A}</a:tableStyleId>
              </a:tblPr>
              <a:tblGrid>
                <a:gridCol w="1649650"/>
                <a:gridCol w="2611975"/>
                <a:gridCol w="4467950"/>
              </a:tblGrid>
              <a:tr h="238650">
                <a:tc>
                  <a:txBody>
                    <a:bodyPr/>
                    <a:lstStyle/>
                    <a:p>
                      <a:pPr indent="0" lvl="0" marL="0" marR="0" rtl="0" algn="ctr">
                        <a:spcBef>
                          <a:spcPts val="0"/>
                        </a:spcBef>
                        <a:spcAft>
                          <a:spcPts val="0"/>
                        </a:spcAft>
                        <a:buNone/>
                      </a:pPr>
                      <a:r>
                        <a:rPr lang="en-US" sz="700" u="none" cap="none" strike="noStrike">
                          <a:solidFill>
                            <a:srgbClr val="FFFFFF"/>
                          </a:solidFill>
                        </a:rPr>
                        <a:t>Data Source</a:t>
                      </a:r>
                      <a:endParaRPr sz="1200"/>
                    </a:p>
                  </a:txBody>
                  <a:tcPr marT="45725" marB="45725" marR="91450" marL="91450">
                    <a:lnB cap="flat" cmpd="sng" w="38100">
                      <a:solidFill>
                        <a:schemeClr val="lt1"/>
                      </a:solidFill>
                      <a:prstDash val="solid"/>
                      <a:round/>
                      <a:headEnd len="sm" w="sm" type="none"/>
                      <a:tailEnd len="sm" w="sm" type="none"/>
                    </a:lnB>
                    <a:solidFill>
                      <a:srgbClr val="6AA84F"/>
                    </a:solidFill>
                  </a:tcPr>
                </a:tc>
                <a:tc>
                  <a:txBody>
                    <a:bodyPr/>
                    <a:lstStyle/>
                    <a:p>
                      <a:pPr indent="0" lvl="0" marL="0" marR="0" rtl="0" algn="ctr">
                        <a:spcBef>
                          <a:spcPts val="0"/>
                        </a:spcBef>
                        <a:spcAft>
                          <a:spcPts val="0"/>
                        </a:spcAft>
                        <a:buNone/>
                      </a:pPr>
                      <a:r>
                        <a:rPr lang="en-US" sz="700" u="none" cap="none" strike="noStrike">
                          <a:solidFill>
                            <a:srgbClr val="FFFFFF"/>
                          </a:solidFill>
                        </a:rPr>
                        <a:t>Features Used</a:t>
                      </a:r>
                      <a:endParaRPr sz="1200"/>
                    </a:p>
                  </a:txBody>
                  <a:tcPr marT="45725" marB="45725" marR="91450" marL="91450">
                    <a:lnB cap="flat" cmpd="sng" w="38100">
                      <a:solidFill>
                        <a:schemeClr val="lt1"/>
                      </a:solidFill>
                      <a:prstDash val="solid"/>
                      <a:round/>
                      <a:headEnd len="sm" w="sm" type="none"/>
                      <a:tailEnd len="sm" w="sm" type="none"/>
                    </a:lnB>
                    <a:solidFill>
                      <a:srgbClr val="6AA84F"/>
                    </a:solidFill>
                  </a:tcPr>
                </a:tc>
                <a:tc>
                  <a:txBody>
                    <a:bodyPr/>
                    <a:lstStyle/>
                    <a:p>
                      <a:pPr indent="0" lvl="0" marL="0" marR="0" rtl="0" algn="ctr">
                        <a:spcBef>
                          <a:spcPts val="0"/>
                        </a:spcBef>
                        <a:spcAft>
                          <a:spcPts val="0"/>
                        </a:spcAft>
                        <a:buNone/>
                      </a:pPr>
                      <a:r>
                        <a:rPr lang="en-US" sz="700" u="none" cap="none" strike="noStrike">
                          <a:solidFill>
                            <a:srgbClr val="FFFFFF"/>
                          </a:solidFill>
                        </a:rPr>
                        <a:t>What It Provides</a:t>
                      </a:r>
                      <a:endParaRPr sz="1200"/>
                    </a:p>
                  </a:txBody>
                  <a:tcPr marT="45725" marB="45725" marR="91450" marL="91450">
                    <a:lnB cap="flat" cmpd="sng" w="38100">
                      <a:solidFill>
                        <a:schemeClr val="lt1"/>
                      </a:solidFill>
                      <a:prstDash val="solid"/>
                      <a:round/>
                      <a:headEnd len="sm" w="sm" type="none"/>
                      <a:tailEnd len="sm" w="sm" type="none"/>
                    </a:lnB>
                    <a:solidFill>
                      <a:srgbClr val="6AA84F"/>
                    </a:solidFill>
                  </a:tcPr>
                </a:tc>
              </a:tr>
              <a:tr h="293750">
                <a:tc>
                  <a:txBody>
                    <a:bodyPr/>
                    <a:lstStyle/>
                    <a:p>
                      <a:pPr indent="0" lvl="0" marL="0" marR="0" rtl="0" algn="ctr">
                        <a:spcBef>
                          <a:spcPts val="0"/>
                        </a:spcBef>
                        <a:spcAft>
                          <a:spcPts val="0"/>
                        </a:spcAft>
                        <a:buNone/>
                      </a:pPr>
                      <a:r>
                        <a:rPr b="1" lang="en-US" sz="600" u="none" cap="none" strike="noStrike">
                          <a:solidFill>
                            <a:schemeClr val="lt1"/>
                          </a:solidFill>
                        </a:rPr>
                        <a:t>CFTC COT</a:t>
                      </a:r>
                      <a:endParaRPr b="1" sz="600">
                        <a:solidFill>
                          <a:schemeClr val="lt1"/>
                        </a:solidFill>
                      </a:endParaRPr>
                    </a:p>
                    <a:p>
                      <a:pPr indent="0" lvl="0" marL="0" marR="0" rtl="0" algn="ctr">
                        <a:spcBef>
                          <a:spcPts val="0"/>
                        </a:spcBef>
                        <a:spcAft>
                          <a:spcPts val="0"/>
                        </a:spcAft>
                        <a:buNone/>
                      </a:pPr>
                      <a:r>
                        <a:rPr b="1" lang="en-US" sz="600" u="none" cap="none" strike="noStrike">
                          <a:solidFill>
                            <a:schemeClr val="lt1"/>
                          </a:solidFill>
                        </a:rPr>
                        <a:t>cftc.gov | Weekly</a:t>
                      </a:r>
                      <a:endParaRPr b="1" sz="600">
                        <a:solidFill>
                          <a:schemeClr val="lt1"/>
                        </a:solidFill>
                      </a:endParaRPr>
                    </a:p>
                  </a:txBody>
                  <a:tcPr marT="45725" marB="45725" marR="91450" marL="91450"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381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3D85C6"/>
                    </a:solidFill>
                  </a:tcPr>
                </a:tc>
                <a:tc>
                  <a:txBody>
                    <a:bodyPr/>
                    <a:lstStyle/>
                    <a:p>
                      <a:pPr indent="0" lvl="0" marL="0" marR="0" rtl="0" algn="ctr">
                        <a:spcBef>
                          <a:spcPts val="0"/>
                        </a:spcBef>
                        <a:spcAft>
                          <a:spcPts val="0"/>
                        </a:spcAft>
                        <a:buNone/>
                      </a:pPr>
                      <a:r>
                        <a:rPr b="1" lang="en-US" sz="600" u="none" cap="none" strike="noStrike">
                          <a:solidFill>
                            <a:schemeClr val="lt1"/>
                          </a:solidFill>
                        </a:rPr>
                        <a:t>hedge_pr, spec_se, pos_chg,</a:t>
                      </a:r>
                      <a:endParaRPr b="1" sz="600">
                        <a:solidFill>
                          <a:schemeClr val="lt1"/>
                        </a:solidFill>
                      </a:endParaRPr>
                    </a:p>
                    <a:p>
                      <a:pPr indent="0" lvl="0" marL="0" marR="0" rtl="0" algn="ctr">
                        <a:spcBef>
                          <a:spcPts val="0"/>
                        </a:spcBef>
                        <a:spcAft>
                          <a:spcPts val="0"/>
                        </a:spcAft>
                        <a:buNone/>
                      </a:pPr>
                      <a:r>
                        <a:rPr b="1" lang="en-US" sz="600" u="none" cap="none" strike="noStrike">
                          <a:solidFill>
                            <a:schemeClr val="lt1"/>
                          </a:solidFill>
                        </a:rPr>
                        <a:t>spec_z, oi_lev</a:t>
                      </a:r>
                      <a:endParaRPr b="1" sz="600">
                        <a:solidFill>
                          <a:schemeClr val="lt1"/>
                        </a:solidFill>
                      </a:endParaRPr>
                    </a:p>
                  </a:txBody>
                  <a:tcPr marT="45725" marB="45725" marR="91450" marL="91450"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381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3D85C6"/>
                    </a:solidFill>
                  </a:tcPr>
                </a:tc>
                <a:tc>
                  <a:txBody>
                    <a:bodyPr/>
                    <a:lstStyle/>
                    <a:p>
                      <a:pPr indent="0" lvl="0" marL="0" marR="0" rtl="0" algn="ctr">
                        <a:spcBef>
                          <a:spcPts val="0"/>
                        </a:spcBef>
                        <a:spcAft>
                          <a:spcPts val="0"/>
                        </a:spcAft>
                        <a:buNone/>
                      </a:pPr>
                      <a:r>
                        <a:rPr b="1" lang="en-US" sz="600" u="none" cap="none" strike="noStrike">
                          <a:solidFill>
                            <a:schemeClr val="lt1"/>
                          </a:solidFill>
                        </a:rPr>
                        <a:t>WHO is betting on wheat — hedge fund vs farmer</a:t>
                      </a:r>
                      <a:endParaRPr b="1" sz="600">
                        <a:solidFill>
                          <a:schemeClr val="lt1"/>
                        </a:solidFill>
                      </a:endParaRPr>
                    </a:p>
                    <a:p>
                      <a:pPr indent="0" lvl="0" marL="0" marR="0" rtl="0" algn="ctr">
                        <a:spcBef>
                          <a:spcPts val="0"/>
                        </a:spcBef>
                        <a:spcAft>
                          <a:spcPts val="0"/>
                        </a:spcAft>
                        <a:buNone/>
                      </a:pPr>
                      <a:r>
                        <a:rPr b="1" lang="en-US" sz="600" u="none" cap="none" strike="noStrike">
                          <a:solidFill>
                            <a:schemeClr val="lt1"/>
                          </a:solidFill>
                        </a:rPr>
                        <a:t>positioning. Extreme positions signal reversals.</a:t>
                      </a:r>
                      <a:endParaRPr b="1" sz="600">
                        <a:solidFill>
                          <a:schemeClr val="lt1"/>
                        </a:solidFill>
                      </a:endParaRPr>
                    </a:p>
                  </a:txBody>
                  <a:tcPr marT="45725" marB="45725" marR="91450" marL="91450"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381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3D85C6"/>
                    </a:solidFill>
                  </a:tcPr>
                </a:tc>
              </a:tr>
              <a:tr h="293750">
                <a:tc>
                  <a:txBody>
                    <a:bodyPr/>
                    <a:lstStyle/>
                    <a:p>
                      <a:pPr indent="0" lvl="0" marL="0" marR="0" rtl="0" algn="ctr">
                        <a:spcBef>
                          <a:spcPts val="0"/>
                        </a:spcBef>
                        <a:spcAft>
                          <a:spcPts val="0"/>
                        </a:spcAft>
                        <a:buNone/>
                      </a:pPr>
                      <a:r>
                        <a:rPr b="1" lang="en-US" sz="600" u="none" cap="none" strike="noStrike">
                          <a:solidFill>
                            <a:schemeClr val="lt1"/>
                          </a:solidFill>
                        </a:rPr>
                        <a:t>Corn Futures</a:t>
                      </a:r>
                      <a:endParaRPr sz="600">
                        <a:solidFill>
                          <a:schemeClr val="lt1"/>
                        </a:solidFill>
                      </a:endParaRPr>
                    </a:p>
                    <a:p>
                      <a:pPr indent="0" lvl="0" marL="0" marR="0" rtl="0" algn="ctr">
                        <a:spcBef>
                          <a:spcPts val="0"/>
                        </a:spcBef>
                        <a:spcAft>
                          <a:spcPts val="0"/>
                        </a:spcAft>
                        <a:buNone/>
                      </a:pPr>
                      <a:r>
                        <a:rPr b="1" lang="en-US" sz="600" u="none" cap="none" strike="noStrike">
                          <a:solidFill>
                            <a:schemeClr val="lt1"/>
                          </a:solidFill>
                        </a:rPr>
                        <a:t>Yahoo Finance | Daily</a:t>
                      </a:r>
                      <a:endParaRPr sz="600">
                        <a:solidFill>
                          <a:schemeClr val="lt1"/>
                        </a:solidFill>
                      </a:endParaRPr>
                    </a:p>
                  </a:txBody>
                  <a:tcPr marT="45725" marB="45725" marR="91450" marL="91450">
                    <a:lnT cap="flat" cmpd="sng" w="12700">
                      <a:solidFill>
                        <a:schemeClr val="lt1"/>
                      </a:solidFill>
                      <a:prstDash val="solid"/>
                      <a:round/>
                      <a:headEnd len="sm" w="sm" type="none"/>
                      <a:tailEnd len="sm" w="sm" type="none"/>
                    </a:lnT>
                    <a:solidFill>
                      <a:srgbClr val="93C47D"/>
                    </a:solidFill>
                  </a:tcPr>
                </a:tc>
                <a:tc>
                  <a:txBody>
                    <a:bodyPr/>
                    <a:lstStyle/>
                    <a:p>
                      <a:pPr indent="0" lvl="0" marL="0" marR="0" rtl="0" algn="ctr">
                        <a:spcBef>
                          <a:spcPts val="0"/>
                        </a:spcBef>
                        <a:spcAft>
                          <a:spcPts val="0"/>
                        </a:spcAft>
                        <a:buNone/>
                      </a:pPr>
                      <a:r>
                        <a:rPr lang="en-US" sz="600" u="none" cap="none" strike="noStrike">
                          <a:solidFill>
                            <a:schemeClr val="lt1"/>
                          </a:solidFill>
                        </a:rPr>
                        <a:t>corn_cl, wc_rat, wc_m20,</a:t>
                      </a:r>
                      <a:endParaRPr sz="600">
                        <a:solidFill>
                          <a:schemeClr val="lt1"/>
                        </a:solidFill>
                      </a:endParaRPr>
                    </a:p>
                    <a:p>
                      <a:pPr indent="0" lvl="0" marL="0" marR="0" rtl="0" algn="ctr">
                        <a:spcBef>
                          <a:spcPts val="0"/>
                        </a:spcBef>
                        <a:spcAft>
                          <a:spcPts val="0"/>
                        </a:spcAft>
                        <a:buNone/>
                      </a:pPr>
                      <a:r>
                        <a:rPr lang="en-US" sz="600" u="none" cap="none" strike="noStrike">
                          <a:solidFill>
                            <a:schemeClr val="lt1"/>
                          </a:solidFill>
                        </a:rPr>
                        <a:t>rel_cn</a:t>
                      </a:r>
                      <a:endParaRPr sz="600">
                        <a:solidFill>
                          <a:schemeClr val="lt1"/>
                        </a:solidFill>
                      </a:endParaRPr>
                    </a:p>
                  </a:txBody>
                  <a:tcPr marT="45725" marB="45725" marR="91450" marL="91450">
                    <a:lnT cap="flat" cmpd="sng" w="12700">
                      <a:solidFill>
                        <a:schemeClr val="lt1"/>
                      </a:solidFill>
                      <a:prstDash val="solid"/>
                      <a:round/>
                      <a:headEnd len="sm" w="sm" type="none"/>
                      <a:tailEnd len="sm" w="sm" type="none"/>
                    </a:lnT>
                    <a:solidFill>
                      <a:srgbClr val="93C47D"/>
                    </a:solidFill>
                  </a:tcPr>
                </a:tc>
                <a:tc>
                  <a:txBody>
                    <a:bodyPr/>
                    <a:lstStyle/>
                    <a:p>
                      <a:pPr indent="0" lvl="0" marL="0" marR="0" rtl="0" algn="ctr">
                        <a:spcBef>
                          <a:spcPts val="0"/>
                        </a:spcBef>
                        <a:spcAft>
                          <a:spcPts val="0"/>
                        </a:spcAft>
                        <a:buNone/>
                      </a:pPr>
                      <a:r>
                        <a:rPr lang="en-US" sz="600" u="none" cap="none" strike="noStrike">
                          <a:solidFill>
                            <a:schemeClr val="lt1"/>
                          </a:solidFill>
                        </a:rPr>
                        <a:t>Feed substitution pressure — when wheat is expensive</a:t>
                      </a:r>
                      <a:endParaRPr sz="600">
                        <a:solidFill>
                          <a:schemeClr val="lt1"/>
                        </a:solidFill>
                      </a:endParaRPr>
                    </a:p>
                    <a:p>
                      <a:pPr indent="0" lvl="0" marL="0" marR="0" rtl="0" algn="ctr">
                        <a:spcBef>
                          <a:spcPts val="0"/>
                        </a:spcBef>
                        <a:spcAft>
                          <a:spcPts val="0"/>
                        </a:spcAft>
                        <a:buNone/>
                      </a:pPr>
                      <a:r>
                        <a:rPr lang="en-US" sz="600" u="none" cap="none" strike="noStrike">
                          <a:solidFill>
                            <a:schemeClr val="lt1"/>
                          </a:solidFill>
                        </a:rPr>
                        <a:t>relative to corn, demand shifts to corn.</a:t>
                      </a:r>
                      <a:endParaRPr sz="600">
                        <a:solidFill>
                          <a:schemeClr val="lt1"/>
                        </a:solidFill>
                      </a:endParaRPr>
                    </a:p>
                  </a:txBody>
                  <a:tcPr marT="45725" marB="45725" marR="91450" marL="91450">
                    <a:lnT cap="flat" cmpd="sng" w="12700">
                      <a:solidFill>
                        <a:schemeClr val="lt1"/>
                      </a:solidFill>
                      <a:prstDash val="solid"/>
                      <a:round/>
                      <a:headEnd len="sm" w="sm" type="none"/>
                      <a:tailEnd len="sm" w="sm" type="none"/>
                    </a:lnT>
                    <a:solidFill>
                      <a:srgbClr val="93C47D"/>
                    </a:solidFill>
                  </a:tcPr>
                </a:tc>
              </a:tr>
              <a:tr h="293750">
                <a:tc>
                  <a:txBody>
                    <a:bodyPr/>
                    <a:lstStyle/>
                    <a:p>
                      <a:pPr indent="0" lvl="0" marL="0" marR="0" rtl="0" algn="ctr">
                        <a:lnSpc>
                          <a:spcPct val="100000"/>
                        </a:lnSpc>
                        <a:spcBef>
                          <a:spcPts val="0"/>
                        </a:spcBef>
                        <a:spcAft>
                          <a:spcPts val="0"/>
                        </a:spcAft>
                        <a:buNone/>
                      </a:pPr>
                      <a:r>
                        <a:rPr b="1" lang="en-US" sz="600" u="none" cap="none" strike="noStrike">
                          <a:solidFill>
                            <a:schemeClr val="lt1"/>
                          </a:solidFill>
                        </a:rPr>
                        <a:t>Soybean Futures</a:t>
                      </a:r>
                      <a:endParaRPr b="1" sz="600">
                        <a:solidFill>
                          <a:schemeClr val="lt1"/>
                        </a:solidFill>
                      </a:endParaRPr>
                    </a:p>
                    <a:p>
                      <a:pPr indent="0" lvl="0" marL="0" marR="0" rtl="0" algn="ctr">
                        <a:spcBef>
                          <a:spcPts val="0"/>
                        </a:spcBef>
                        <a:spcAft>
                          <a:spcPts val="0"/>
                        </a:spcAft>
                        <a:buNone/>
                      </a:pPr>
                      <a:r>
                        <a:rPr b="1" lang="en-US" sz="600" u="none" cap="none" strike="noStrike">
                          <a:solidFill>
                            <a:schemeClr val="lt1"/>
                          </a:solidFill>
                        </a:rPr>
                        <a:t>Yahoo Finance | Daily</a:t>
                      </a:r>
                      <a:endParaRPr sz="600">
                        <a:solidFill>
                          <a:schemeClr val="lt1"/>
                        </a:solidFill>
                      </a:endParaRPr>
                    </a:p>
                  </a:txBody>
                  <a:tcPr marT="45725" marB="45725" marR="91450" marL="91450" anchor="ctr">
                    <a:solidFill>
                      <a:srgbClr val="3D85C6"/>
                    </a:solidFill>
                  </a:tcPr>
                </a:tc>
                <a:tc>
                  <a:txBody>
                    <a:bodyPr/>
                    <a:lstStyle/>
                    <a:p>
                      <a:pPr indent="0" lvl="0" marL="0" marR="0" rtl="0" algn="ctr">
                        <a:spcBef>
                          <a:spcPts val="0"/>
                        </a:spcBef>
                        <a:spcAft>
                          <a:spcPts val="0"/>
                        </a:spcAft>
                        <a:buNone/>
                      </a:pPr>
                      <a:r>
                        <a:rPr lang="en-US" sz="600" u="none" cap="none" strike="noStrike">
                          <a:solidFill>
                            <a:schemeClr val="lt1"/>
                          </a:solidFill>
                        </a:rPr>
                        <a:t>soy_cl, ws_rat, ws_m20</a:t>
                      </a:r>
                      <a:endParaRPr sz="600">
                        <a:solidFill>
                          <a:schemeClr val="lt1"/>
                        </a:solidFill>
                      </a:endParaRPr>
                    </a:p>
                  </a:txBody>
                  <a:tcPr marT="45725" marB="45725" marR="91450" marL="91450">
                    <a:solidFill>
                      <a:srgbClr val="3D85C6"/>
                    </a:solidFill>
                  </a:tcPr>
                </a:tc>
                <a:tc>
                  <a:txBody>
                    <a:bodyPr/>
                    <a:lstStyle/>
                    <a:p>
                      <a:pPr indent="0" lvl="0" marL="0" marR="0" rtl="0" algn="ctr">
                        <a:spcBef>
                          <a:spcPts val="0"/>
                        </a:spcBef>
                        <a:spcAft>
                          <a:spcPts val="0"/>
                        </a:spcAft>
                        <a:buNone/>
                      </a:pPr>
                      <a:r>
                        <a:rPr lang="en-US" sz="600" u="none" cap="none" strike="noStrike">
                          <a:solidFill>
                            <a:schemeClr val="lt1"/>
                          </a:solidFill>
                        </a:rPr>
                        <a:t>Acreage competition — farmers choose between planting</a:t>
                      </a:r>
                      <a:endParaRPr sz="600">
                        <a:solidFill>
                          <a:schemeClr val="lt1"/>
                        </a:solidFill>
                      </a:endParaRPr>
                    </a:p>
                    <a:p>
                      <a:pPr indent="0" lvl="0" marL="0" marR="0" rtl="0" algn="ctr">
                        <a:spcBef>
                          <a:spcPts val="0"/>
                        </a:spcBef>
                        <a:spcAft>
                          <a:spcPts val="0"/>
                        </a:spcAft>
                        <a:buNone/>
                      </a:pPr>
                      <a:r>
                        <a:rPr lang="en-US" sz="600" u="none" cap="none" strike="noStrike">
                          <a:solidFill>
                            <a:schemeClr val="lt1"/>
                          </a:solidFill>
                        </a:rPr>
                        <a:t>wheat or soybeans based on relative price.</a:t>
                      </a:r>
                      <a:endParaRPr sz="600">
                        <a:solidFill>
                          <a:schemeClr val="lt1"/>
                        </a:solidFill>
                      </a:endParaRPr>
                    </a:p>
                  </a:txBody>
                  <a:tcPr marT="45725" marB="45725" marR="91450" marL="91450">
                    <a:solidFill>
                      <a:srgbClr val="3D85C6"/>
                    </a:solidFill>
                  </a:tcPr>
                </a:tc>
              </a:tr>
              <a:tr h="293750">
                <a:tc>
                  <a:txBody>
                    <a:bodyPr/>
                    <a:lstStyle/>
                    <a:p>
                      <a:pPr indent="0" lvl="0" marL="0" marR="0" rtl="0" algn="ctr">
                        <a:spcBef>
                          <a:spcPts val="0"/>
                        </a:spcBef>
                        <a:spcAft>
                          <a:spcPts val="0"/>
                        </a:spcAft>
                        <a:buNone/>
                      </a:pPr>
                      <a:r>
                        <a:rPr b="1" lang="en-US" sz="600" u="none" cap="none" strike="noStrike">
                          <a:solidFill>
                            <a:schemeClr val="lt1"/>
                          </a:solidFill>
                        </a:rPr>
                        <a:t>Crude Oil (WTI)</a:t>
                      </a:r>
                      <a:endParaRPr sz="600">
                        <a:solidFill>
                          <a:schemeClr val="lt1"/>
                        </a:solidFill>
                      </a:endParaRPr>
                    </a:p>
                    <a:p>
                      <a:pPr indent="0" lvl="0" marL="0" marR="0" rtl="0" algn="ctr">
                        <a:spcBef>
                          <a:spcPts val="0"/>
                        </a:spcBef>
                        <a:spcAft>
                          <a:spcPts val="0"/>
                        </a:spcAft>
                        <a:buNone/>
                      </a:pPr>
                      <a:r>
                        <a:rPr b="1" lang="en-US" sz="600" u="none" cap="none" strike="noStrike">
                          <a:solidFill>
                            <a:schemeClr val="lt1"/>
                          </a:solidFill>
                        </a:rPr>
                        <a:t>Yahoo Finance | Daily</a:t>
                      </a:r>
                      <a:endParaRPr sz="600">
                        <a:solidFill>
                          <a:schemeClr val="lt1"/>
                        </a:solidFill>
                      </a:endParaRPr>
                    </a:p>
                  </a:txBody>
                  <a:tcPr marT="45725" marB="45725" marR="91450" marL="91450">
                    <a:solidFill>
                      <a:srgbClr val="93C47D"/>
                    </a:solidFill>
                  </a:tcPr>
                </a:tc>
                <a:tc>
                  <a:txBody>
                    <a:bodyPr/>
                    <a:lstStyle/>
                    <a:p>
                      <a:pPr indent="0" lvl="0" marL="0" marR="0" rtl="0" algn="ctr">
                        <a:spcBef>
                          <a:spcPts val="0"/>
                        </a:spcBef>
                        <a:spcAft>
                          <a:spcPts val="0"/>
                        </a:spcAft>
                        <a:buNone/>
                      </a:pPr>
                      <a:r>
                        <a:rPr lang="en-US" sz="600" u="none" cap="none" strike="noStrike">
                          <a:solidFill>
                            <a:schemeClr val="lt1"/>
                          </a:solidFill>
                        </a:rPr>
                        <a:t>oil_cl, rel_ol</a:t>
                      </a:r>
                      <a:endParaRPr sz="600">
                        <a:solidFill>
                          <a:schemeClr val="lt1"/>
                        </a:solidFill>
                      </a:endParaRPr>
                    </a:p>
                  </a:txBody>
                  <a:tcPr marT="45725" marB="45725" marR="91450" marL="91450">
                    <a:solidFill>
                      <a:srgbClr val="93C47D"/>
                    </a:solidFill>
                  </a:tcPr>
                </a:tc>
                <a:tc>
                  <a:txBody>
                    <a:bodyPr/>
                    <a:lstStyle/>
                    <a:p>
                      <a:pPr indent="0" lvl="0" marL="0" marR="0" rtl="0" algn="ctr">
                        <a:spcBef>
                          <a:spcPts val="0"/>
                        </a:spcBef>
                        <a:spcAft>
                          <a:spcPts val="0"/>
                        </a:spcAft>
                        <a:buNone/>
                      </a:pPr>
                      <a:r>
                        <a:rPr lang="en-US" sz="600" u="none" cap="none" strike="noStrike">
                          <a:solidFill>
                            <a:schemeClr val="lt1"/>
                          </a:solidFill>
                        </a:rPr>
                        <a:t>Input cost for farming — fertilizer, transportation,</a:t>
                      </a:r>
                      <a:endParaRPr sz="600">
                        <a:solidFill>
                          <a:schemeClr val="lt1"/>
                        </a:solidFill>
                      </a:endParaRPr>
                    </a:p>
                    <a:p>
                      <a:pPr indent="0" lvl="0" marL="0" marR="0" rtl="0" algn="ctr">
                        <a:spcBef>
                          <a:spcPts val="0"/>
                        </a:spcBef>
                        <a:spcAft>
                          <a:spcPts val="0"/>
                        </a:spcAft>
                        <a:buNone/>
                      </a:pPr>
                      <a:r>
                        <a:rPr lang="en-US" sz="600" u="none" cap="none" strike="noStrike">
                          <a:solidFill>
                            <a:schemeClr val="lt1"/>
                          </a:solidFill>
                        </a:rPr>
                        <a:t>and grain drying are all oil-dependent.</a:t>
                      </a:r>
                      <a:endParaRPr sz="600">
                        <a:solidFill>
                          <a:schemeClr val="lt1"/>
                        </a:solidFill>
                      </a:endParaRPr>
                    </a:p>
                  </a:txBody>
                  <a:tcPr marT="45725" marB="45725" marR="91450" marL="91450">
                    <a:solidFill>
                      <a:srgbClr val="93C47D"/>
                    </a:solidFill>
                  </a:tcPr>
                </a:tc>
              </a:tr>
              <a:tr h="293750">
                <a:tc>
                  <a:txBody>
                    <a:bodyPr/>
                    <a:lstStyle/>
                    <a:p>
                      <a:pPr indent="0" lvl="0" marL="0" marR="0" rtl="0" algn="ctr">
                        <a:spcBef>
                          <a:spcPts val="0"/>
                        </a:spcBef>
                        <a:spcAft>
                          <a:spcPts val="0"/>
                        </a:spcAft>
                        <a:buNone/>
                      </a:pPr>
                      <a:r>
                        <a:rPr b="1" lang="en-US" sz="600" u="none" cap="none" strike="noStrike">
                          <a:solidFill>
                            <a:schemeClr val="lt1"/>
                          </a:solidFill>
                        </a:rPr>
                        <a:t>USD Index</a:t>
                      </a:r>
                      <a:endParaRPr sz="600">
                        <a:solidFill>
                          <a:schemeClr val="lt1"/>
                        </a:solidFill>
                      </a:endParaRPr>
                    </a:p>
                    <a:p>
                      <a:pPr indent="0" lvl="0" marL="0" marR="0" rtl="0" algn="ctr">
                        <a:spcBef>
                          <a:spcPts val="0"/>
                        </a:spcBef>
                        <a:spcAft>
                          <a:spcPts val="0"/>
                        </a:spcAft>
                        <a:buNone/>
                      </a:pPr>
                      <a:r>
                        <a:rPr b="1" lang="en-US" sz="600" u="none" cap="none" strike="noStrike">
                          <a:solidFill>
                            <a:schemeClr val="lt1"/>
                          </a:solidFill>
                        </a:rPr>
                        <a:t>Yahoo Finance | Daily</a:t>
                      </a:r>
                      <a:endParaRPr sz="600">
                        <a:solidFill>
                          <a:schemeClr val="lt1"/>
                        </a:solidFill>
                      </a:endParaRPr>
                    </a:p>
                  </a:txBody>
                  <a:tcPr marT="45725" marB="45725" marR="91450" marL="91450">
                    <a:solidFill>
                      <a:srgbClr val="3D85C6"/>
                    </a:solidFill>
                  </a:tcPr>
                </a:tc>
                <a:tc>
                  <a:txBody>
                    <a:bodyPr/>
                    <a:lstStyle/>
                    <a:p>
                      <a:pPr indent="0" lvl="0" marL="0" marR="0" rtl="0" algn="ctr">
                        <a:spcBef>
                          <a:spcPts val="0"/>
                        </a:spcBef>
                        <a:spcAft>
                          <a:spcPts val="0"/>
                        </a:spcAft>
                        <a:buNone/>
                      </a:pPr>
                      <a:r>
                        <a:rPr lang="en-US" sz="600" u="none" cap="none" strike="noStrike">
                          <a:solidFill>
                            <a:schemeClr val="lt1"/>
                          </a:solidFill>
                        </a:rPr>
                        <a:t>usd_cl, usd_c10</a:t>
                      </a:r>
                      <a:endParaRPr sz="600">
                        <a:solidFill>
                          <a:schemeClr val="lt1"/>
                        </a:solidFill>
                      </a:endParaRPr>
                    </a:p>
                  </a:txBody>
                  <a:tcPr marT="45725" marB="45725" marR="91450" marL="91450">
                    <a:solidFill>
                      <a:srgbClr val="3D85C6"/>
                    </a:solidFill>
                  </a:tcPr>
                </a:tc>
                <a:tc>
                  <a:txBody>
                    <a:bodyPr/>
                    <a:lstStyle/>
                    <a:p>
                      <a:pPr indent="0" lvl="0" marL="0" marR="0" rtl="0" algn="ctr">
                        <a:spcBef>
                          <a:spcPts val="0"/>
                        </a:spcBef>
                        <a:spcAft>
                          <a:spcPts val="0"/>
                        </a:spcAft>
                        <a:buNone/>
                      </a:pPr>
                      <a:r>
                        <a:rPr lang="en-US" sz="600" u="none" cap="none" strike="noStrike">
                          <a:solidFill>
                            <a:schemeClr val="lt1"/>
                          </a:solidFill>
                        </a:rPr>
                        <a:t>Wheat is traded globally in USD. Strong dollar makes</a:t>
                      </a:r>
                      <a:endParaRPr sz="600">
                        <a:solidFill>
                          <a:schemeClr val="lt1"/>
                        </a:solidFill>
                      </a:endParaRPr>
                    </a:p>
                    <a:p>
                      <a:pPr indent="0" lvl="0" marL="0" marR="0" rtl="0" algn="ctr">
                        <a:spcBef>
                          <a:spcPts val="0"/>
                        </a:spcBef>
                        <a:spcAft>
                          <a:spcPts val="0"/>
                        </a:spcAft>
                        <a:buNone/>
                      </a:pPr>
                      <a:r>
                        <a:rPr lang="en-US" sz="600" u="none" cap="none" strike="noStrike">
                          <a:solidFill>
                            <a:schemeClr val="lt1"/>
                          </a:solidFill>
                        </a:rPr>
                        <a:t>wheat expensive for foreign buyers -&gt; less demand.</a:t>
                      </a:r>
                      <a:endParaRPr sz="600">
                        <a:solidFill>
                          <a:schemeClr val="lt1"/>
                        </a:solidFill>
                      </a:endParaRPr>
                    </a:p>
                  </a:txBody>
                  <a:tcPr marT="45725" marB="45725" marR="91450" marL="91450">
                    <a:solidFill>
                      <a:srgbClr val="3D85C6"/>
                    </a:solidFill>
                  </a:tcPr>
                </a:tc>
              </a:tr>
              <a:tr h="293750">
                <a:tc>
                  <a:txBody>
                    <a:bodyPr/>
                    <a:lstStyle/>
                    <a:p>
                      <a:pPr indent="0" lvl="0" marL="0" marR="0" rtl="0" algn="ctr">
                        <a:spcBef>
                          <a:spcPts val="0"/>
                        </a:spcBef>
                        <a:spcAft>
                          <a:spcPts val="0"/>
                        </a:spcAft>
                        <a:buNone/>
                      </a:pPr>
                      <a:r>
                        <a:rPr b="1" lang="en-US" sz="600" u="none" cap="none" strike="noStrike">
                          <a:solidFill>
                            <a:schemeClr val="lt1"/>
                          </a:solidFill>
                        </a:rPr>
                        <a:t>Gold Futures</a:t>
                      </a:r>
                      <a:endParaRPr sz="600">
                        <a:solidFill>
                          <a:schemeClr val="lt1"/>
                        </a:solidFill>
                      </a:endParaRPr>
                    </a:p>
                    <a:p>
                      <a:pPr indent="0" lvl="0" marL="0" marR="0" rtl="0" algn="ctr">
                        <a:spcBef>
                          <a:spcPts val="0"/>
                        </a:spcBef>
                        <a:spcAft>
                          <a:spcPts val="0"/>
                        </a:spcAft>
                        <a:buNone/>
                      </a:pPr>
                      <a:r>
                        <a:rPr b="1" lang="en-US" sz="600" u="none" cap="none" strike="noStrike">
                          <a:solidFill>
                            <a:schemeClr val="lt1"/>
                          </a:solidFill>
                        </a:rPr>
                        <a:t>Yahoo Finance | Daily</a:t>
                      </a:r>
                      <a:endParaRPr sz="600">
                        <a:solidFill>
                          <a:schemeClr val="lt1"/>
                        </a:solidFill>
                      </a:endParaRPr>
                    </a:p>
                  </a:txBody>
                  <a:tcPr marT="45725" marB="45725" marR="91450" marL="91450">
                    <a:solidFill>
                      <a:srgbClr val="93C47D"/>
                    </a:solidFill>
                  </a:tcPr>
                </a:tc>
                <a:tc>
                  <a:txBody>
                    <a:bodyPr/>
                    <a:lstStyle/>
                    <a:p>
                      <a:pPr indent="0" lvl="0" marL="0" marR="0" rtl="0" algn="ctr">
                        <a:spcBef>
                          <a:spcPts val="0"/>
                        </a:spcBef>
                        <a:spcAft>
                          <a:spcPts val="0"/>
                        </a:spcAft>
                        <a:buNone/>
                      </a:pPr>
                      <a:r>
                        <a:rPr lang="en-US" sz="600" u="none" cap="none" strike="noStrike">
                          <a:solidFill>
                            <a:schemeClr val="lt1"/>
                          </a:solidFill>
                        </a:rPr>
                        <a:t>gold_cl, gld_c10</a:t>
                      </a:r>
                      <a:endParaRPr sz="600">
                        <a:solidFill>
                          <a:schemeClr val="lt1"/>
                        </a:solidFill>
                      </a:endParaRPr>
                    </a:p>
                  </a:txBody>
                  <a:tcPr marT="45725" marB="45725" marR="91450" marL="91450">
                    <a:solidFill>
                      <a:srgbClr val="93C47D"/>
                    </a:solidFill>
                  </a:tcPr>
                </a:tc>
                <a:tc>
                  <a:txBody>
                    <a:bodyPr/>
                    <a:lstStyle/>
                    <a:p>
                      <a:pPr indent="0" lvl="0" marL="0" marR="0" rtl="0" algn="ctr">
                        <a:spcBef>
                          <a:spcPts val="0"/>
                        </a:spcBef>
                        <a:spcAft>
                          <a:spcPts val="0"/>
                        </a:spcAft>
                        <a:buNone/>
                      </a:pPr>
                      <a:r>
                        <a:rPr lang="en-US" sz="600" u="none" cap="none" strike="noStrike">
                          <a:solidFill>
                            <a:schemeClr val="lt1"/>
                          </a:solidFill>
                        </a:rPr>
                        <a:t>Inflation / safe-haven proxy. Gold and commodities</a:t>
                      </a:r>
                      <a:endParaRPr sz="600">
                        <a:solidFill>
                          <a:schemeClr val="lt1"/>
                        </a:solidFill>
                      </a:endParaRPr>
                    </a:p>
                    <a:p>
                      <a:pPr indent="0" lvl="0" marL="0" marR="0" rtl="0" algn="ctr">
                        <a:spcBef>
                          <a:spcPts val="0"/>
                        </a:spcBef>
                        <a:spcAft>
                          <a:spcPts val="0"/>
                        </a:spcAft>
                        <a:buNone/>
                      </a:pPr>
                      <a:r>
                        <a:rPr lang="en-US" sz="600" u="none" cap="none" strike="noStrike">
                          <a:solidFill>
                            <a:schemeClr val="lt1"/>
                          </a:solidFill>
                        </a:rPr>
                        <a:t>move together during inflation fear periods.</a:t>
                      </a:r>
                      <a:endParaRPr sz="600">
                        <a:solidFill>
                          <a:schemeClr val="lt1"/>
                        </a:solidFill>
                      </a:endParaRPr>
                    </a:p>
                  </a:txBody>
                  <a:tcPr marT="45725" marB="45725" marR="91450" marL="91450">
                    <a:solidFill>
                      <a:srgbClr val="93C47D"/>
                    </a:solidFill>
                  </a:tcPr>
                </a:tc>
              </a:tr>
              <a:tr h="293750">
                <a:tc>
                  <a:txBody>
                    <a:bodyPr/>
                    <a:lstStyle/>
                    <a:p>
                      <a:pPr indent="0" lvl="0" marL="0" marR="0" rtl="0" algn="ctr">
                        <a:spcBef>
                          <a:spcPts val="0"/>
                        </a:spcBef>
                        <a:spcAft>
                          <a:spcPts val="0"/>
                        </a:spcAft>
                        <a:buNone/>
                      </a:pPr>
                      <a:r>
                        <a:rPr b="1" lang="en-US" sz="600" u="none" cap="none" strike="noStrike">
                          <a:solidFill>
                            <a:schemeClr val="lt1"/>
                          </a:solidFill>
                        </a:rPr>
                        <a:t>Google Trends</a:t>
                      </a:r>
                      <a:endParaRPr sz="600">
                        <a:solidFill>
                          <a:schemeClr val="lt1"/>
                        </a:solidFill>
                      </a:endParaRPr>
                    </a:p>
                    <a:p>
                      <a:pPr indent="0" lvl="0" marL="0" marR="0" rtl="0" algn="ctr">
                        <a:spcBef>
                          <a:spcPts val="0"/>
                        </a:spcBef>
                        <a:spcAft>
                          <a:spcPts val="0"/>
                        </a:spcAft>
                        <a:buNone/>
                      </a:pPr>
                      <a:r>
                        <a:rPr b="1" lang="en-US" sz="600" u="none" cap="none" strike="noStrike">
                          <a:solidFill>
                            <a:schemeClr val="lt1"/>
                          </a:solidFill>
                        </a:rPr>
                        <a:t>trends.google.com | Weekly</a:t>
                      </a:r>
                      <a:endParaRPr sz="600">
                        <a:solidFill>
                          <a:schemeClr val="lt1"/>
                        </a:solidFill>
                      </a:endParaRPr>
                    </a:p>
                  </a:txBody>
                  <a:tcPr marT="45725" marB="45725" marR="91450" marL="91450">
                    <a:solidFill>
                      <a:srgbClr val="3C78D8"/>
                    </a:solidFill>
                  </a:tcPr>
                </a:tc>
                <a:tc>
                  <a:txBody>
                    <a:bodyPr/>
                    <a:lstStyle/>
                    <a:p>
                      <a:pPr indent="0" lvl="0" marL="0" marR="0" rtl="0" algn="ctr">
                        <a:spcBef>
                          <a:spcPts val="0"/>
                        </a:spcBef>
                        <a:spcAft>
                          <a:spcPts val="0"/>
                        </a:spcAft>
                        <a:buNone/>
                      </a:pPr>
                      <a:r>
                        <a:rPr lang="en-US" sz="600" u="none" cap="none" strike="noStrike">
                          <a:solidFill>
                            <a:schemeClr val="lt1"/>
                          </a:solidFill>
                        </a:rPr>
                        <a:t>wheat_price, wheat_futures,</a:t>
                      </a:r>
                      <a:endParaRPr sz="600">
                        <a:solidFill>
                          <a:schemeClr val="lt1"/>
                        </a:solidFill>
                      </a:endParaRPr>
                    </a:p>
                    <a:p>
                      <a:pPr indent="0" lvl="0" marL="0" marR="0" rtl="0" algn="ctr">
                        <a:spcBef>
                          <a:spcPts val="0"/>
                        </a:spcBef>
                        <a:spcAft>
                          <a:spcPts val="0"/>
                        </a:spcAft>
                        <a:buNone/>
                      </a:pPr>
                      <a:r>
                        <a:rPr lang="en-US" sz="600" u="none" cap="none" strike="noStrike">
                          <a:solidFill>
                            <a:schemeClr val="lt1"/>
                          </a:solidFill>
                        </a:rPr>
                        <a:t>drought, crop_failure, USDA_report</a:t>
                      </a:r>
                      <a:endParaRPr sz="600">
                        <a:solidFill>
                          <a:schemeClr val="lt1"/>
                        </a:solidFill>
                      </a:endParaRPr>
                    </a:p>
                  </a:txBody>
                  <a:tcPr marT="45725" marB="45725" marR="91450" marL="91450">
                    <a:solidFill>
                      <a:srgbClr val="3C78D8"/>
                    </a:solidFill>
                  </a:tcPr>
                </a:tc>
                <a:tc>
                  <a:txBody>
                    <a:bodyPr/>
                    <a:lstStyle/>
                    <a:p>
                      <a:pPr indent="0" lvl="0" marL="0" marR="0" rtl="0" algn="ctr">
                        <a:spcBef>
                          <a:spcPts val="0"/>
                        </a:spcBef>
                        <a:spcAft>
                          <a:spcPts val="0"/>
                        </a:spcAft>
                        <a:buNone/>
                      </a:pPr>
                      <a:r>
                        <a:rPr lang="en-US" sz="600" u="none" cap="none" strike="noStrike">
                          <a:solidFill>
                            <a:schemeClr val="lt1"/>
                          </a:solidFill>
                        </a:rPr>
                        <a:t>Public attention — search spikes for 'drought' or</a:t>
                      </a:r>
                      <a:endParaRPr sz="600">
                        <a:solidFill>
                          <a:schemeClr val="lt1"/>
                        </a:solidFill>
                      </a:endParaRPr>
                    </a:p>
                    <a:p>
                      <a:pPr indent="0" lvl="0" marL="0" marR="0" rtl="0" algn="ctr">
                        <a:spcBef>
                          <a:spcPts val="0"/>
                        </a:spcBef>
                        <a:spcAft>
                          <a:spcPts val="0"/>
                        </a:spcAft>
                        <a:buNone/>
                      </a:pPr>
                      <a:r>
                        <a:rPr lang="en-US" sz="600" u="none" cap="none" strike="noStrike">
                          <a:solidFill>
                            <a:schemeClr val="lt1"/>
                          </a:solidFill>
                        </a:rPr>
                        <a:t>'wheat price' precede actual price moves.</a:t>
                      </a:r>
                      <a:endParaRPr sz="600">
                        <a:solidFill>
                          <a:schemeClr val="lt1"/>
                        </a:solidFill>
                      </a:endParaRPr>
                    </a:p>
                  </a:txBody>
                  <a:tcPr marT="45725" marB="45725" marR="91450" marL="91450">
                    <a:solidFill>
                      <a:srgbClr val="3C78D8"/>
                    </a:solidFill>
                  </a:tcPr>
                </a:tc>
              </a:tr>
              <a:tr h="293750">
                <a:tc>
                  <a:txBody>
                    <a:bodyPr/>
                    <a:lstStyle/>
                    <a:p>
                      <a:pPr indent="0" lvl="0" marL="0" marR="0" rtl="0" algn="ctr">
                        <a:spcBef>
                          <a:spcPts val="0"/>
                        </a:spcBef>
                        <a:spcAft>
                          <a:spcPts val="0"/>
                        </a:spcAft>
                        <a:buNone/>
                      </a:pPr>
                      <a:r>
                        <a:rPr b="1" lang="en-US" sz="600" u="none" cap="none" strike="noStrike">
                          <a:solidFill>
                            <a:schemeClr val="lt1"/>
                          </a:solidFill>
                        </a:rPr>
                        <a:t>Weather — Kansas</a:t>
                      </a:r>
                      <a:endParaRPr sz="600">
                        <a:solidFill>
                          <a:schemeClr val="lt1"/>
                        </a:solidFill>
                      </a:endParaRPr>
                    </a:p>
                    <a:p>
                      <a:pPr indent="0" lvl="0" marL="0" marR="0" rtl="0" algn="ctr">
                        <a:spcBef>
                          <a:spcPts val="0"/>
                        </a:spcBef>
                        <a:spcAft>
                          <a:spcPts val="0"/>
                        </a:spcAft>
                        <a:buNone/>
                      </a:pPr>
                      <a:r>
                        <a:rPr b="1" lang="en-US" sz="600" u="none" cap="none" strike="noStrike">
                          <a:solidFill>
                            <a:schemeClr val="lt1"/>
                          </a:solidFill>
                        </a:rPr>
                        <a:t>Open-Meteo | Daily</a:t>
                      </a:r>
                      <a:endParaRPr sz="600">
                        <a:solidFill>
                          <a:schemeClr val="lt1"/>
                        </a:solidFill>
                      </a:endParaRPr>
                    </a:p>
                  </a:txBody>
                  <a:tcPr marT="45725" marB="45725" marR="91450" marL="91450">
                    <a:solidFill>
                      <a:srgbClr val="93C47D"/>
                    </a:solidFill>
                  </a:tcPr>
                </a:tc>
                <a:tc>
                  <a:txBody>
                    <a:bodyPr/>
                    <a:lstStyle/>
                    <a:p>
                      <a:pPr indent="0" lvl="0" marL="0" marR="0" rtl="0" algn="ctr">
                        <a:spcBef>
                          <a:spcPts val="0"/>
                        </a:spcBef>
                        <a:spcAft>
                          <a:spcPts val="0"/>
                        </a:spcAft>
                        <a:buNone/>
                      </a:pPr>
                      <a:r>
                        <a:rPr lang="en-US" sz="600" u="none" cap="none" strike="noStrike">
                          <a:solidFill>
                            <a:schemeClr val="lt1"/>
                          </a:solidFill>
                        </a:rPr>
                        <a:t>temp_max, temp_min, precip,</a:t>
                      </a:r>
                      <a:endParaRPr sz="600">
                        <a:solidFill>
                          <a:schemeClr val="lt1"/>
                        </a:solidFill>
                      </a:endParaRPr>
                    </a:p>
                    <a:p>
                      <a:pPr indent="0" lvl="0" marL="0" marR="0" rtl="0" algn="ctr">
                        <a:spcBef>
                          <a:spcPts val="0"/>
                        </a:spcBef>
                        <a:spcAft>
                          <a:spcPts val="0"/>
                        </a:spcAft>
                        <a:buNone/>
                      </a:pPr>
                      <a:r>
                        <a:rPr lang="en-US" sz="600" u="none" cap="none" strike="noStrike">
                          <a:solidFill>
                            <a:schemeClr val="lt1"/>
                          </a:solidFill>
                        </a:rPr>
                        <a:t>rain, snowfall, wind_speed</a:t>
                      </a:r>
                      <a:endParaRPr sz="600">
                        <a:solidFill>
                          <a:schemeClr val="lt1"/>
                        </a:solidFill>
                      </a:endParaRPr>
                    </a:p>
                  </a:txBody>
                  <a:tcPr marT="45725" marB="45725" marR="91450" marL="91450">
                    <a:solidFill>
                      <a:srgbClr val="93C47D"/>
                    </a:solidFill>
                  </a:tcPr>
                </a:tc>
                <a:tc>
                  <a:txBody>
                    <a:bodyPr/>
                    <a:lstStyle/>
                    <a:p>
                      <a:pPr indent="0" lvl="0" marL="0" marR="0" rtl="0" algn="ctr">
                        <a:spcBef>
                          <a:spcPts val="0"/>
                        </a:spcBef>
                        <a:spcAft>
                          <a:spcPts val="0"/>
                        </a:spcAft>
                        <a:buNone/>
                      </a:pPr>
                      <a:r>
                        <a:rPr lang="en-US" sz="600" u="none" cap="none" strike="noStrike">
                          <a:solidFill>
                            <a:schemeClr val="lt1"/>
                          </a:solidFill>
                        </a:rPr>
                        <a:t>Growing conditions in top US wheat state.</a:t>
                      </a:r>
                      <a:endParaRPr sz="600">
                        <a:solidFill>
                          <a:schemeClr val="lt1"/>
                        </a:solidFill>
                      </a:endParaRPr>
                    </a:p>
                    <a:p>
                      <a:pPr indent="0" lvl="0" marL="0" marR="0" rtl="0" algn="ctr">
                        <a:spcBef>
                          <a:spcPts val="0"/>
                        </a:spcBef>
                        <a:spcAft>
                          <a:spcPts val="0"/>
                        </a:spcAft>
                        <a:buNone/>
                      </a:pPr>
                      <a:r>
                        <a:rPr lang="en-US" sz="600" u="none" cap="none" strike="noStrike">
                          <a:solidFill>
                            <a:schemeClr val="lt1"/>
                          </a:solidFill>
                        </a:rPr>
                        <a:t>Drought/frost = supply shock -&gt; price up.</a:t>
                      </a:r>
                      <a:endParaRPr sz="600">
                        <a:solidFill>
                          <a:schemeClr val="lt1"/>
                        </a:solidFill>
                      </a:endParaRPr>
                    </a:p>
                  </a:txBody>
                  <a:tcPr marT="45725" marB="45725" marR="91450" marL="91450">
                    <a:solidFill>
                      <a:srgbClr val="93C47D"/>
                    </a:solidFill>
                  </a:tcPr>
                </a:tc>
              </a:tr>
              <a:tr h="351800">
                <a:tc>
                  <a:txBody>
                    <a:bodyPr/>
                    <a:lstStyle/>
                    <a:p>
                      <a:pPr indent="0" lvl="0" marL="0" marR="0" rtl="0" algn="ctr">
                        <a:spcBef>
                          <a:spcPts val="0"/>
                        </a:spcBef>
                        <a:spcAft>
                          <a:spcPts val="0"/>
                        </a:spcAft>
                        <a:buNone/>
                      </a:pPr>
                      <a:r>
                        <a:rPr b="1" lang="en-US" sz="600" u="none" cap="none" strike="noStrike">
                          <a:solidFill>
                            <a:schemeClr val="lt1"/>
                          </a:solidFill>
                        </a:rPr>
                        <a:t>Weather — N. Dakota</a:t>
                      </a:r>
                      <a:endParaRPr sz="600">
                        <a:solidFill>
                          <a:schemeClr val="lt1"/>
                        </a:solidFill>
                      </a:endParaRPr>
                    </a:p>
                    <a:p>
                      <a:pPr indent="0" lvl="0" marL="0" marR="0" rtl="0" algn="ctr">
                        <a:spcBef>
                          <a:spcPts val="0"/>
                        </a:spcBef>
                        <a:spcAft>
                          <a:spcPts val="0"/>
                        </a:spcAft>
                        <a:buNone/>
                      </a:pPr>
                      <a:r>
                        <a:rPr b="1" lang="en-US" sz="600" u="none" cap="none" strike="noStrike">
                          <a:solidFill>
                            <a:schemeClr val="lt1"/>
                          </a:solidFill>
                        </a:rPr>
                        <a:t>Open-Meteo | Daily</a:t>
                      </a:r>
                      <a:endParaRPr sz="600">
                        <a:solidFill>
                          <a:schemeClr val="lt1"/>
                        </a:solidFill>
                      </a:endParaRPr>
                    </a:p>
                  </a:txBody>
                  <a:tcPr marT="45725" marB="45725" marR="91450" marL="91450">
                    <a:solidFill>
                      <a:srgbClr val="3C78D8"/>
                    </a:solidFill>
                  </a:tcPr>
                </a:tc>
                <a:tc>
                  <a:txBody>
                    <a:bodyPr/>
                    <a:lstStyle/>
                    <a:p>
                      <a:pPr indent="0" lvl="0" marL="0" marR="0" rtl="0" algn="ctr">
                        <a:spcBef>
                          <a:spcPts val="0"/>
                        </a:spcBef>
                        <a:spcAft>
                          <a:spcPts val="0"/>
                        </a:spcAft>
                        <a:buNone/>
                      </a:pPr>
                      <a:r>
                        <a:rPr lang="en-US" sz="600" u="none" cap="none" strike="noStrike">
                          <a:solidFill>
                            <a:schemeClr val="lt1"/>
                          </a:solidFill>
                        </a:rPr>
                        <a:t>temp_max, temp_min, precip,</a:t>
                      </a:r>
                      <a:endParaRPr sz="600">
                        <a:solidFill>
                          <a:schemeClr val="lt1"/>
                        </a:solidFill>
                      </a:endParaRPr>
                    </a:p>
                    <a:p>
                      <a:pPr indent="0" lvl="0" marL="0" marR="0" rtl="0" algn="ctr">
                        <a:spcBef>
                          <a:spcPts val="0"/>
                        </a:spcBef>
                        <a:spcAft>
                          <a:spcPts val="0"/>
                        </a:spcAft>
                        <a:buNone/>
                      </a:pPr>
                      <a:r>
                        <a:rPr lang="en-US" sz="600" u="none" cap="none" strike="noStrike">
                          <a:solidFill>
                            <a:schemeClr val="lt1"/>
                          </a:solidFill>
                        </a:rPr>
                        <a:t>rain, snowfall, wind_speed</a:t>
                      </a:r>
                      <a:endParaRPr sz="600">
                        <a:solidFill>
                          <a:schemeClr val="lt1"/>
                        </a:solidFill>
                      </a:endParaRPr>
                    </a:p>
                  </a:txBody>
                  <a:tcPr marT="45725" marB="45725" marR="91450" marL="91450">
                    <a:solidFill>
                      <a:srgbClr val="3C78D8"/>
                    </a:solidFill>
                  </a:tcPr>
                </a:tc>
                <a:tc>
                  <a:txBody>
                    <a:bodyPr/>
                    <a:lstStyle/>
                    <a:p>
                      <a:pPr indent="0" lvl="0" marL="0" marR="0" rtl="0" algn="ctr">
                        <a:spcBef>
                          <a:spcPts val="0"/>
                        </a:spcBef>
                        <a:spcAft>
                          <a:spcPts val="0"/>
                        </a:spcAft>
                        <a:buNone/>
                      </a:pPr>
                      <a:r>
                        <a:rPr lang="en-US" sz="600" u="none" cap="none" strike="noStrike">
                          <a:solidFill>
                            <a:schemeClr val="lt1"/>
                          </a:solidFill>
                        </a:rPr>
                        <a:t>Second major wheat state. Spring wheat variety.</a:t>
                      </a:r>
                      <a:endParaRPr sz="600">
                        <a:solidFill>
                          <a:schemeClr val="lt1"/>
                        </a:solidFill>
                      </a:endParaRPr>
                    </a:p>
                    <a:p>
                      <a:pPr indent="0" lvl="0" marL="0" marR="0" rtl="0" algn="ctr">
                        <a:spcBef>
                          <a:spcPts val="0"/>
                        </a:spcBef>
                        <a:spcAft>
                          <a:spcPts val="0"/>
                        </a:spcAft>
                        <a:buNone/>
                      </a:pPr>
                      <a:r>
                        <a:rPr lang="en-US" sz="600" u="none" cap="none" strike="noStrike">
                          <a:solidFill>
                            <a:schemeClr val="lt1"/>
                          </a:solidFill>
                        </a:rPr>
                        <a:t>Different climate risk than Kansas winter wheat.</a:t>
                      </a:r>
                      <a:endParaRPr sz="600">
                        <a:solidFill>
                          <a:schemeClr val="lt1"/>
                        </a:solidFill>
                      </a:endParaRPr>
                    </a:p>
                  </a:txBody>
                  <a:tcPr marT="45725" marB="45725" marR="91450" marL="91450">
                    <a:solidFill>
                      <a:srgbClr val="3C78D8"/>
                    </a:solidFill>
                  </a:tcPr>
                </a:tc>
              </a:tr>
              <a:tr h="293750">
                <a:tc>
                  <a:txBody>
                    <a:bodyPr/>
                    <a:lstStyle/>
                    <a:p>
                      <a:pPr indent="0" lvl="0" marL="0" marR="0" rtl="0" algn="ctr">
                        <a:spcBef>
                          <a:spcPts val="0"/>
                        </a:spcBef>
                        <a:spcAft>
                          <a:spcPts val="0"/>
                        </a:spcAft>
                        <a:buNone/>
                      </a:pPr>
                      <a:r>
                        <a:rPr b="1" lang="en-US" sz="600" u="none" cap="none" strike="noStrike">
                          <a:solidFill>
                            <a:schemeClr val="lt1"/>
                          </a:solidFill>
                        </a:rPr>
                        <a:t>VIX</a:t>
                      </a:r>
                      <a:endParaRPr sz="600">
                        <a:solidFill>
                          <a:schemeClr val="lt1"/>
                        </a:solidFill>
                      </a:endParaRPr>
                    </a:p>
                    <a:p>
                      <a:pPr indent="0" lvl="0" marL="0" marR="0" rtl="0" algn="ctr">
                        <a:spcBef>
                          <a:spcPts val="0"/>
                        </a:spcBef>
                        <a:spcAft>
                          <a:spcPts val="0"/>
                        </a:spcAft>
                        <a:buNone/>
                      </a:pPr>
                      <a:r>
                        <a:rPr b="1" lang="en-US" sz="600" u="none" cap="none" strike="noStrike">
                          <a:solidFill>
                            <a:schemeClr val="lt1"/>
                          </a:solidFill>
                        </a:rPr>
                        <a:t>Yahoo Finance | Daily</a:t>
                      </a:r>
                      <a:endParaRPr sz="600">
                        <a:solidFill>
                          <a:schemeClr val="lt1"/>
                        </a:solidFill>
                      </a:endParaRPr>
                    </a:p>
                  </a:txBody>
                  <a:tcPr marT="45725" marB="45725" marR="91450" marL="91450">
                    <a:solidFill>
                      <a:srgbClr val="93C47D"/>
                    </a:solidFill>
                  </a:tcPr>
                </a:tc>
                <a:tc>
                  <a:txBody>
                    <a:bodyPr/>
                    <a:lstStyle/>
                    <a:p>
                      <a:pPr indent="0" lvl="0" marL="0" marR="0" rtl="0" algn="ctr">
                        <a:spcBef>
                          <a:spcPts val="0"/>
                        </a:spcBef>
                        <a:spcAft>
                          <a:spcPts val="0"/>
                        </a:spcAft>
                        <a:buNone/>
                      </a:pPr>
                      <a:r>
                        <a:rPr lang="en-US" sz="600" u="none" cap="none" strike="noStrike">
                          <a:solidFill>
                            <a:schemeClr val="lt1"/>
                          </a:solidFill>
                        </a:rPr>
                        <a:t>vix_close</a:t>
                      </a:r>
                      <a:endParaRPr sz="600">
                        <a:solidFill>
                          <a:schemeClr val="lt1"/>
                        </a:solidFill>
                      </a:endParaRPr>
                    </a:p>
                  </a:txBody>
                  <a:tcPr marT="45725" marB="45725" marR="91450" marL="91450">
                    <a:solidFill>
                      <a:srgbClr val="93C47D"/>
                    </a:solidFill>
                  </a:tcPr>
                </a:tc>
                <a:tc>
                  <a:txBody>
                    <a:bodyPr/>
                    <a:lstStyle/>
                    <a:p>
                      <a:pPr indent="0" lvl="0" marL="0" marR="0" rtl="0" algn="ctr">
                        <a:spcBef>
                          <a:spcPts val="0"/>
                        </a:spcBef>
                        <a:spcAft>
                          <a:spcPts val="0"/>
                        </a:spcAft>
                        <a:buNone/>
                      </a:pPr>
                      <a:r>
                        <a:rPr lang="en-US" sz="600" u="none" cap="none" strike="noStrike">
                          <a:solidFill>
                            <a:schemeClr val="lt1"/>
                          </a:solidFill>
                        </a:rPr>
                        <a:t>Market-wide fear index. VIX spikes trigger</a:t>
                      </a:r>
                      <a:endParaRPr sz="600">
                        <a:solidFill>
                          <a:schemeClr val="lt1"/>
                        </a:solidFill>
                      </a:endParaRPr>
                    </a:p>
                    <a:p>
                      <a:pPr indent="0" lvl="0" marL="0" marR="0" rtl="0" algn="ctr">
                        <a:spcBef>
                          <a:spcPts val="0"/>
                        </a:spcBef>
                        <a:spcAft>
                          <a:spcPts val="0"/>
                        </a:spcAft>
                        <a:buNone/>
                      </a:pPr>
                      <a:r>
                        <a:rPr lang="en-US" sz="600" u="none" cap="none" strike="noStrike">
                          <a:solidFill>
                            <a:schemeClr val="lt1"/>
                          </a:solidFill>
                        </a:rPr>
                        <a:t>cross-asset de-risking including commodities.</a:t>
                      </a:r>
                      <a:endParaRPr sz="600">
                        <a:solidFill>
                          <a:schemeClr val="lt1"/>
                        </a:solidFill>
                      </a:endParaRPr>
                    </a:p>
                  </a:txBody>
                  <a:tcPr marT="45725" marB="45725" marR="91450" marL="91450">
                    <a:solidFill>
                      <a:srgbClr val="93C47D"/>
                    </a:solidFill>
                  </a:tcPr>
                </a:tc>
              </a:tr>
              <a:tr h="293750">
                <a:tc>
                  <a:txBody>
                    <a:bodyPr/>
                    <a:lstStyle/>
                    <a:p>
                      <a:pPr indent="0" lvl="0" marL="0" marR="0" rtl="0" algn="ctr">
                        <a:spcBef>
                          <a:spcPts val="0"/>
                        </a:spcBef>
                        <a:spcAft>
                          <a:spcPts val="0"/>
                        </a:spcAft>
                        <a:buNone/>
                      </a:pPr>
                      <a:r>
                        <a:rPr b="1" lang="en-US" sz="600" u="none" cap="none" strike="noStrike">
                          <a:solidFill>
                            <a:schemeClr val="lt1"/>
                          </a:solidFill>
                        </a:rPr>
                        <a:t>OVX</a:t>
                      </a:r>
                      <a:endParaRPr sz="600">
                        <a:solidFill>
                          <a:schemeClr val="lt1"/>
                        </a:solidFill>
                      </a:endParaRPr>
                    </a:p>
                    <a:p>
                      <a:pPr indent="0" lvl="0" marL="0" marR="0" rtl="0" algn="ctr">
                        <a:spcBef>
                          <a:spcPts val="0"/>
                        </a:spcBef>
                        <a:spcAft>
                          <a:spcPts val="0"/>
                        </a:spcAft>
                        <a:buNone/>
                      </a:pPr>
                      <a:r>
                        <a:rPr b="1" lang="en-US" sz="600" u="none" cap="none" strike="noStrike">
                          <a:solidFill>
                            <a:schemeClr val="lt1"/>
                          </a:solidFill>
                        </a:rPr>
                        <a:t>Yahoo Finance | Daily</a:t>
                      </a:r>
                      <a:endParaRPr sz="600">
                        <a:solidFill>
                          <a:schemeClr val="lt1"/>
                        </a:solidFill>
                      </a:endParaRPr>
                    </a:p>
                  </a:txBody>
                  <a:tcPr marT="45725" marB="45725" marR="91450" marL="91450">
                    <a:solidFill>
                      <a:srgbClr val="3C78D8"/>
                    </a:solidFill>
                  </a:tcPr>
                </a:tc>
                <a:tc>
                  <a:txBody>
                    <a:bodyPr/>
                    <a:lstStyle/>
                    <a:p>
                      <a:pPr indent="0" lvl="0" marL="0" marR="0" rtl="0" algn="ctr">
                        <a:spcBef>
                          <a:spcPts val="0"/>
                        </a:spcBef>
                        <a:spcAft>
                          <a:spcPts val="0"/>
                        </a:spcAft>
                        <a:buNone/>
                      </a:pPr>
                      <a:r>
                        <a:rPr lang="en-US" sz="600" u="none" cap="none" strike="noStrike">
                          <a:solidFill>
                            <a:schemeClr val="lt1"/>
                          </a:solidFill>
                        </a:rPr>
                        <a:t>ovx_close</a:t>
                      </a:r>
                      <a:endParaRPr sz="600">
                        <a:solidFill>
                          <a:schemeClr val="lt1"/>
                        </a:solidFill>
                      </a:endParaRPr>
                    </a:p>
                  </a:txBody>
                  <a:tcPr marT="45725" marB="45725" marR="91450" marL="91450">
                    <a:solidFill>
                      <a:srgbClr val="3C78D8"/>
                    </a:solidFill>
                  </a:tcPr>
                </a:tc>
                <a:tc>
                  <a:txBody>
                    <a:bodyPr/>
                    <a:lstStyle/>
                    <a:p>
                      <a:pPr indent="0" lvl="0" marL="0" marR="0" rtl="0" algn="ctr">
                        <a:spcBef>
                          <a:spcPts val="0"/>
                        </a:spcBef>
                        <a:spcAft>
                          <a:spcPts val="0"/>
                        </a:spcAft>
                        <a:buNone/>
                      </a:pPr>
                      <a:r>
                        <a:rPr lang="en-US" sz="600" u="none" cap="none" strike="noStrike">
                          <a:solidFill>
                            <a:schemeClr val="lt1"/>
                          </a:solidFill>
                        </a:rPr>
                        <a:t>Oil-specific volatility. High OVX = uncertainty</a:t>
                      </a:r>
                      <a:endParaRPr sz="600">
                        <a:solidFill>
                          <a:schemeClr val="lt1"/>
                        </a:solidFill>
                      </a:endParaRPr>
                    </a:p>
                    <a:p>
                      <a:pPr indent="0" lvl="0" marL="0" marR="0" rtl="0" algn="ctr">
                        <a:spcBef>
                          <a:spcPts val="0"/>
                        </a:spcBef>
                        <a:spcAft>
                          <a:spcPts val="0"/>
                        </a:spcAft>
                        <a:buNone/>
                      </a:pPr>
                      <a:r>
                        <a:rPr lang="en-US" sz="600" u="none" cap="none" strike="noStrike">
                          <a:solidFill>
                            <a:schemeClr val="lt1"/>
                          </a:solidFill>
                        </a:rPr>
                        <a:t>in energy costs that feed into ag input prices.</a:t>
                      </a:r>
                      <a:endParaRPr sz="600">
                        <a:solidFill>
                          <a:schemeClr val="lt1"/>
                        </a:solidFill>
                      </a:endParaRPr>
                    </a:p>
                  </a:txBody>
                  <a:tcPr marT="45725" marB="45725" marR="91450" marL="91450">
                    <a:solidFill>
                      <a:srgbClr val="3C78D8"/>
                    </a:solidFill>
                  </a:tcPr>
                </a:tc>
              </a:tr>
              <a:tr h="357975">
                <a:tc>
                  <a:txBody>
                    <a:bodyPr/>
                    <a:lstStyle/>
                    <a:p>
                      <a:pPr indent="0" lvl="0" marL="0" marR="0" rtl="0" algn="ctr">
                        <a:spcBef>
                          <a:spcPts val="0"/>
                        </a:spcBef>
                        <a:spcAft>
                          <a:spcPts val="0"/>
                        </a:spcAft>
                        <a:buNone/>
                      </a:pPr>
                      <a:r>
                        <a:rPr b="1" lang="en-US" sz="600" u="none" cap="none" strike="noStrike">
                          <a:solidFill>
                            <a:schemeClr val="lt1"/>
                          </a:solidFill>
                        </a:rPr>
                        <a:t>NASA POWER</a:t>
                      </a:r>
                      <a:endParaRPr sz="600">
                        <a:solidFill>
                          <a:schemeClr val="lt1"/>
                        </a:solidFill>
                      </a:endParaRPr>
                    </a:p>
                    <a:p>
                      <a:pPr indent="0" lvl="0" marL="0" marR="0" rtl="0" algn="ctr">
                        <a:spcBef>
                          <a:spcPts val="0"/>
                        </a:spcBef>
                        <a:spcAft>
                          <a:spcPts val="0"/>
                        </a:spcAft>
                        <a:buNone/>
                      </a:pPr>
                      <a:r>
                        <a:rPr b="1" lang="en-US" sz="600" u="none" cap="none" strike="noStrike">
                          <a:solidFill>
                            <a:schemeClr val="lt1"/>
                          </a:solidFill>
                        </a:rPr>
                        <a:t>power.larc.nasa.gov | Daily</a:t>
                      </a:r>
                      <a:endParaRPr sz="600">
                        <a:solidFill>
                          <a:schemeClr val="lt1"/>
                        </a:solidFill>
                      </a:endParaRPr>
                    </a:p>
                  </a:txBody>
                  <a:tcPr marT="45725" marB="45725" marR="91450" marL="91450">
                    <a:solidFill>
                      <a:srgbClr val="93C47D"/>
                    </a:solidFill>
                  </a:tcPr>
                </a:tc>
                <a:tc>
                  <a:txBody>
                    <a:bodyPr/>
                    <a:lstStyle/>
                    <a:p>
                      <a:pPr indent="0" lvl="0" marL="0" marR="0" rtl="0" algn="ctr">
                        <a:spcBef>
                          <a:spcPts val="0"/>
                        </a:spcBef>
                        <a:spcAft>
                          <a:spcPts val="0"/>
                        </a:spcAft>
                        <a:buNone/>
                      </a:pPr>
                      <a:r>
                        <a:rPr lang="en-US" sz="600" u="none" cap="none" strike="noStrike">
                          <a:solidFill>
                            <a:schemeClr val="lt1"/>
                          </a:solidFill>
                        </a:rPr>
                        <a:t>nasa_t2m, nasa_prectotcorr,</a:t>
                      </a:r>
                      <a:endParaRPr sz="600">
                        <a:solidFill>
                          <a:schemeClr val="lt1"/>
                        </a:solidFill>
                      </a:endParaRPr>
                    </a:p>
                    <a:p>
                      <a:pPr indent="0" lvl="0" marL="0" marR="0" rtl="0" algn="ctr">
                        <a:spcBef>
                          <a:spcPts val="0"/>
                        </a:spcBef>
                        <a:spcAft>
                          <a:spcPts val="0"/>
                        </a:spcAft>
                        <a:buNone/>
                      </a:pPr>
                      <a:r>
                        <a:rPr lang="en-US" sz="600" u="none" cap="none" strike="noStrike">
                          <a:solidFill>
                            <a:schemeClr val="lt1"/>
                          </a:solidFill>
                        </a:rPr>
                        <a:t>nasa_allsky_sfc_sw_dwn, nasa_rh2m,</a:t>
                      </a:r>
                      <a:endParaRPr sz="600">
                        <a:solidFill>
                          <a:schemeClr val="lt1"/>
                        </a:solidFill>
                      </a:endParaRPr>
                    </a:p>
                    <a:p>
                      <a:pPr indent="0" lvl="0" marL="0" marR="0" rtl="0" algn="ctr">
                        <a:spcBef>
                          <a:spcPts val="0"/>
                        </a:spcBef>
                        <a:spcAft>
                          <a:spcPts val="0"/>
                        </a:spcAft>
                        <a:buNone/>
                      </a:pPr>
                      <a:r>
                        <a:rPr lang="en-US" sz="600" u="none" cap="none" strike="noStrike">
                          <a:solidFill>
                            <a:schemeClr val="lt1"/>
                          </a:solidFill>
                        </a:rPr>
                        <a:t>nasa_ws2m</a:t>
                      </a:r>
                      <a:endParaRPr sz="600">
                        <a:solidFill>
                          <a:schemeClr val="lt1"/>
                        </a:solidFill>
                      </a:endParaRPr>
                    </a:p>
                  </a:txBody>
                  <a:tcPr marT="45725" marB="45725" marR="91450" marL="91450">
                    <a:solidFill>
                      <a:srgbClr val="93C47D"/>
                    </a:solidFill>
                  </a:tcPr>
                </a:tc>
                <a:tc>
                  <a:txBody>
                    <a:bodyPr/>
                    <a:lstStyle/>
                    <a:p>
                      <a:pPr indent="0" lvl="0" marL="0" marR="0" rtl="0" algn="ctr">
                        <a:spcBef>
                          <a:spcPts val="0"/>
                        </a:spcBef>
                        <a:spcAft>
                          <a:spcPts val="0"/>
                        </a:spcAft>
                        <a:buNone/>
                      </a:pPr>
                      <a:r>
                        <a:rPr lang="en-US" sz="600" u="none" cap="none" strike="noStrike">
                          <a:solidFill>
                            <a:schemeClr val="lt1"/>
                          </a:solidFill>
                        </a:rPr>
                        <a:t>Vegetation / growing condition proxy. Solar radiation</a:t>
                      </a:r>
                      <a:endParaRPr sz="600">
                        <a:solidFill>
                          <a:schemeClr val="lt1"/>
                        </a:solidFill>
                      </a:endParaRPr>
                    </a:p>
                    <a:p>
                      <a:pPr indent="0" lvl="0" marL="0" marR="0" rtl="0" algn="ctr">
                        <a:spcBef>
                          <a:spcPts val="0"/>
                        </a:spcBef>
                        <a:spcAft>
                          <a:spcPts val="0"/>
                        </a:spcAft>
                        <a:buNone/>
                      </a:pPr>
                      <a:r>
                        <a:rPr lang="en-US" sz="600" u="none" cap="none" strike="noStrike">
                          <a:solidFill>
                            <a:schemeClr val="lt1"/>
                          </a:solidFill>
                        </a:rPr>
                        <a:t>and humidity directly affect crop health.</a:t>
                      </a:r>
                      <a:endParaRPr sz="600">
                        <a:solidFill>
                          <a:schemeClr val="lt1"/>
                        </a:solidFill>
                      </a:endParaRPr>
                    </a:p>
                  </a:txBody>
                  <a:tcPr marT="45725" marB="45725" marR="91450" marL="91450">
                    <a:solidFill>
                      <a:srgbClr val="93C47D"/>
                    </a:solidFill>
                  </a:tcPr>
                </a:tc>
              </a:tr>
              <a:tr h="357975">
                <a:tc>
                  <a:txBody>
                    <a:bodyPr/>
                    <a:lstStyle/>
                    <a:p>
                      <a:pPr indent="0" lvl="0" marL="0" marR="0" rtl="0" algn="ctr">
                        <a:spcBef>
                          <a:spcPts val="0"/>
                        </a:spcBef>
                        <a:spcAft>
                          <a:spcPts val="0"/>
                        </a:spcAft>
                        <a:buNone/>
                      </a:pPr>
                      <a:r>
                        <a:rPr b="1" lang="en-US" sz="600" u="none" cap="none" strike="noStrike">
                          <a:solidFill>
                            <a:schemeClr val="lt1"/>
                          </a:solidFill>
                        </a:rPr>
                        <a:t>Technical Indicators</a:t>
                      </a:r>
                      <a:endParaRPr sz="600">
                        <a:solidFill>
                          <a:schemeClr val="lt1"/>
                        </a:solidFill>
                      </a:endParaRPr>
                    </a:p>
                    <a:p>
                      <a:pPr indent="0" lvl="0" marL="0" marR="0" rtl="0" algn="ctr">
                        <a:spcBef>
                          <a:spcPts val="0"/>
                        </a:spcBef>
                        <a:spcAft>
                          <a:spcPts val="0"/>
                        </a:spcAft>
                        <a:buNone/>
                      </a:pPr>
                      <a:r>
                        <a:rPr b="1" lang="en-US" sz="600" u="none" cap="none" strike="noStrike">
                          <a:solidFill>
                            <a:schemeClr val="lt1"/>
                          </a:solidFill>
                        </a:rPr>
                        <a:t>Computed from OHLCV</a:t>
                      </a:r>
                      <a:endParaRPr sz="600">
                        <a:solidFill>
                          <a:schemeClr val="lt1"/>
                        </a:solidFill>
                      </a:endParaRPr>
                    </a:p>
                  </a:txBody>
                  <a:tcPr marT="45725" marB="45725" marR="91450" marL="91450">
                    <a:solidFill>
                      <a:srgbClr val="3C78D8"/>
                    </a:solidFill>
                  </a:tcPr>
                </a:tc>
                <a:tc>
                  <a:txBody>
                    <a:bodyPr/>
                    <a:lstStyle/>
                    <a:p>
                      <a:pPr indent="0" lvl="0" marL="0" marR="0" rtl="0" algn="ctr">
                        <a:spcBef>
                          <a:spcPts val="0"/>
                        </a:spcBef>
                        <a:spcAft>
                          <a:spcPts val="0"/>
                        </a:spcAft>
                        <a:buNone/>
                      </a:pPr>
                      <a:r>
                        <a:rPr lang="en-US" sz="600" u="none" cap="none" strike="noStrike">
                          <a:solidFill>
                            <a:schemeClr val="lt1"/>
                          </a:solidFill>
                        </a:rPr>
                        <a:t>mom_5d, mom_10d, mom_20d,</a:t>
                      </a:r>
                      <a:endParaRPr sz="600">
                        <a:solidFill>
                          <a:schemeClr val="lt1"/>
                        </a:solidFill>
                      </a:endParaRPr>
                    </a:p>
                    <a:p>
                      <a:pPr indent="0" lvl="0" marL="0" marR="0" rtl="0" algn="ctr">
                        <a:spcBef>
                          <a:spcPts val="0"/>
                        </a:spcBef>
                        <a:spcAft>
                          <a:spcPts val="0"/>
                        </a:spcAft>
                        <a:buNone/>
                      </a:pPr>
                      <a:r>
                        <a:rPr lang="en-US" sz="600" u="none" cap="none" strike="noStrike">
                          <a:solidFill>
                            <a:schemeClr val="lt1"/>
                          </a:solidFill>
                        </a:rPr>
                        <a:t>rsi, macd, macd_hist,</a:t>
                      </a:r>
                      <a:endParaRPr sz="600">
                        <a:solidFill>
                          <a:schemeClr val="lt1"/>
                        </a:solidFill>
                      </a:endParaRPr>
                    </a:p>
                    <a:p>
                      <a:pPr indent="0" lvl="0" marL="0" marR="0" rtl="0" algn="ctr">
                        <a:spcBef>
                          <a:spcPts val="0"/>
                        </a:spcBef>
                        <a:spcAft>
                          <a:spcPts val="0"/>
                        </a:spcAft>
                        <a:buNone/>
                      </a:pPr>
                      <a:r>
                        <a:rPr lang="en-US" sz="600" u="none" cap="none" strike="noStrike">
                          <a:solidFill>
                            <a:schemeClr val="lt1"/>
                          </a:solidFill>
                        </a:rPr>
                        <a:t>bb_pctb, atr, vol_sma</a:t>
                      </a:r>
                      <a:endParaRPr sz="600">
                        <a:solidFill>
                          <a:schemeClr val="lt1"/>
                        </a:solidFill>
                      </a:endParaRPr>
                    </a:p>
                  </a:txBody>
                  <a:tcPr marT="45725" marB="45725" marR="91450" marL="91450">
                    <a:solidFill>
                      <a:srgbClr val="3C78D8"/>
                    </a:solidFill>
                  </a:tcPr>
                </a:tc>
                <a:tc>
                  <a:txBody>
                    <a:bodyPr/>
                    <a:lstStyle/>
                    <a:p>
                      <a:pPr indent="0" lvl="0" marL="0" marR="0" rtl="0" algn="ctr">
                        <a:spcBef>
                          <a:spcPts val="0"/>
                        </a:spcBef>
                        <a:spcAft>
                          <a:spcPts val="0"/>
                        </a:spcAft>
                        <a:buNone/>
                      </a:pPr>
                      <a:r>
                        <a:rPr lang="en-US" sz="600" u="none" cap="none" strike="noStrike">
                          <a:solidFill>
                            <a:schemeClr val="lt1"/>
                          </a:solidFill>
                        </a:rPr>
                        <a:t>Price microstructure — momentum, overbought/oversold,</a:t>
                      </a:r>
                      <a:endParaRPr sz="600">
                        <a:solidFill>
                          <a:schemeClr val="lt1"/>
                        </a:solidFill>
                      </a:endParaRPr>
                    </a:p>
                    <a:p>
                      <a:pPr indent="0" lvl="0" marL="0" marR="0" rtl="0" algn="ctr">
                        <a:spcBef>
                          <a:spcPts val="0"/>
                        </a:spcBef>
                        <a:spcAft>
                          <a:spcPts val="0"/>
                        </a:spcAft>
                        <a:buNone/>
                      </a:pPr>
                      <a:r>
                        <a:rPr lang="en-US" sz="600" u="none" cap="none" strike="noStrike">
                          <a:solidFill>
                            <a:schemeClr val="lt1"/>
                          </a:solidFill>
                        </a:rPr>
                        <a:t>trend strength, volatility regime.</a:t>
                      </a:r>
                      <a:endParaRPr sz="600">
                        <a:solidFill>
                          <a:schemeClr val="lt1"/>
                        </a:solidFill>
                      </a:endParaRPr>
                    </a:p>
                  </a:txBody>
                  <a:tcPr marT="45725" marB="45725" marR="91450" marL="91450">
                    <a:solidFill>
                      <a:srgbClr val="3C78D8"/>
                    </a:solidFill>
                  </a:tcPr>
                </a:tc>
              </a:tr>
            </a:tbl>
          </a:graphicData>
        </a:graphic>
      </p:graphicFrame>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2"/>
                                        </p:tgtEl>
                                        <p:attrNameLst>
                                          <p:attrName>style.visibility</p:attrName>
                                        </p:attrNameLst>
                                      </p:cBhvr>
                                      <p:to>
                                        <p:strVal val="visible"/>
                                      </p:to>
                                    </p:set>
                                    <p:animEffect filter="fade" transition="in">
                                      <p:cBhvr>
                                        <p:cTn dur="1000"/>
                                        <p:tgtEl>
                                          <p:spTgt spid="102"/>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07" name="Shape 107"/>
        <p:cNvGrpSpPr/>
        <p:nvPr/>
      </p:nvGrpSpPr>
      <p:grpSpPr>
        <a:xfrm>
          <a:off x="0" y="0"/>
          <a:ext cx="0" cy="0"/>
          <a:chOff x="0" y="0"/>
          <a:chExt cx="0" cy="0"/>
        </a:xfrm>
      </p:grpSpPr>
      <p:sp>
        <p:nvSpPr>
          <p:cNvPr id="108" name="Google Shape;108;p9"/>
          <p:cNvSpPr/>
          <p:nvPr/>
        </p:nvSpPr>
        <p:spPr>
          <a:xfrm>
            <a:off x="0" y="0"/>
            <a:ext cx="9144000" cy="628800"/>
          </a:xfrm>
          <a:prstGeom prst="rect">
            <a:avLst/>
          </a:prstGeom>
          <a:solidFill>
            <a:srgbClr val="57068C"/>
          </a:solidFill>
          <a:ln cap="flat" cmpd="sng" w="12700">
            <a:solidFill>
              <a:srgbClr val="57068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 name="Google Shape;109;p9"/>
          <p:cNvSpPr/>
          <p:nvPr/>
        </p:nvSpPr>
        <p:spPr>
          <a:xfrm>
            <a:off x="228600" y="256032"/>
            <a:ext cx="411600" cy="255900"/>
          </a:xfrm>
          <a:prstGeom prst="rect">
            <a:avLst/>
          </a:prstGeom>
          <a:solidFill>
            <a:srgbClr val="57068C"/>
          </a:solidFill>
          <a:ln cap="flat" cmpd="sng" w="12700">
            <a:solidFill>
              <a:srgbClr val="57068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 name="Google Shape;110;p9"/>
          <p:cNvSpPr/>
          <p:nvPr/>
        </p:nvSpPr>
        <p:spPr>
          <a:xfrm>
            <a:off x="228600" y="256032"/>
            <a:ext cx="411600" cy="2559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000"/>
              <a:buFont typeface="Calibri"/>
              <a:buNone/>
            </a:pPr>
            <a:r>
              <a:rPr b="1" i="0" lang="en-US" sz="1000" u="none" cap="none" strike="noStrike">
                <a:solidFill>
                  <a:srgbClr val="FFFFFF"/>
                </a:solidFill>
                <a:latin typeface="Calibri"/>
                <a:ea typeface="Calibri"/>
                <a:cs typeface="Calibri"/>
                <a:sym typeface="Calibri"/>
              </a:rPr>
              <a:t>NYU</a:t>
            </a:r>
            <a:endParaRPr b="0" i="0" sz="1000" u="none" cap="none" strike="noStrike">
              <a:solidFill>
                <a:schemeClr val="dk1"/>
              </a:solidFill>
              <a:latin typeface="Calibri"/>
              <a:ea typeface="Calibri"/>
              <a:cs typeface="Calibri"/>
              <a:sym typeface="Calibri"/>
            </a:endParaRPr>
          </a:p>
        </p:txBody>
      </p:sp>
      <p:sp>
        <p:nvSpPr>
          <p:cNvPr id="111" name="Google Shape;111;p9"/>
          <p:cNvSpPr/>
          <p:nvPr/>
        </p:nvSpPr>
        <p:spPr>
          <a:xfrm>
            <a:off x="749800" y="91449"/>
            <a:ext cx="1371600" cy="276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C99FF"/>
              </a:buClr>
              <a:buSzPts val="900"/>
              <a:buFont typeface="Calibri"/>
              <a:buNone/>
            </a:pPr>
            <a:r>
              <a:rPr b="1" i="0" lang="en-US" sz="900" u="none" cap="none" strike="noStrike">
                <a:solidFill>
                  <a:srgbClr val="CC99FF"/>
                </a:solidFill>
                <a:latin typeface="Calibri"/>
                <a:ea typeface="Calibri"/>
                <a:cs typeface="Calibri"/>
                <a:sym typeface="Calibri"/>
              </a:rPr>
              <a:t>Week 1</a:t>
            </a:r>
            <a:endParaRPr b="0" i="0" sz="900" u="none" cap="none" strike="noStrike">
              <a:solidFill>
                <a:schemeClr val="dk1"/>
              </a:solidFill>
              <a:latin typeface="Calibri"/>
              <a:ea typeface="Calibri"/>
              <a:cs typeface="Calibri"/>
              <a:sym typeface="Calibri"/>
            </a:endParaRPr>
          </a:p>
        </p:txBody>
      </p:sp>
      <p:sp>
        <p:nvSpPr>
          <p:cNvPr id="112" name="Google Shape;112;p9"/>
          <p:cNvSpPr/>
          <p:nvPr/>
        </p:nvSpPr>
        <p:spPr>
          <a:xfrm>
            <a:off x="749800" y="344283"/>
            <a:ext cx="7772400" cy="284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700"/>
              <a:buFont typeface="Calibri"/>
              <a:buNone/>
            </a:pPr>
            <a:r>
              <a:rPr b="1" lang="en-US" sz="1700">
                <a:solidFill>
                  <a:srgbClr val="FFFFFF"/>
                </a:solidFill>
                <a:latin typeface="Calibri"/>
                <a:ea typeface="Calibri"/>
                <a:cs typeface="Calibri"/>
                <a:sym typeface="Calibri"/>
              </a:rPr>
              <a:t>Trial Implementation of the Plan</a:t>
            </a:r>
            <a:endParaRPr b="1" sz="1700">
              <a:solidFill>
                <a:srgbClr val="FFFFFF"/>
              </a:solidFill>
              <a:latin typeface="Calibri"/>
              <a:ea typeface="Calibri"/>
              <a:cs typeface="Calibri"/>
              <a:sym typeface="Calibri"/>
            </a:endParaRPr>
          </a:p>
        </p:txBody>
      </p:sp>
      <p:pic>
        <p:nvPicPr>
          <p:cNvPr id="113" name="Google Shape;113;p9"/>
          <p:cNvPicPr preferRelativeResize="0"/>
          <p:nvPr/>
        </p:nvPicPr>
        <p:blipFill>
          <a:blip r:embed="rId3">
            <a:alphaModFix/>
          </a:blip>
          <a:stretch>
            <a:fillRect/>
          </a:stretch>
        </p:blipFill>
        <p:spPr>
          <a:xfrm>
            <a:off x="640200" y="959275"/>
            <a:ext cx="7463875" cy="2055481"/>
          </a:xfrm>
          <a:prstGeom prst="rect">
            <a:avLst/>
          </a:prstGeom>
          <a:noFill/>
          <a:ln>
            <a:noFill/>
          </a:ln>
        </p:spPr>
      </p:pic>
      <p:pic>
        <p:nvPicPr>
          <p:cNvPr id="114" name="Google Shape;114;p9"/>
          <p:cNvPicPr preferRelativeResize="0"/>
          <p:nvPr/>
        </p:nvPicPr>
        <p:blipFill>
          <a:blip r:embed="rId4">
            <a:alphaModFix/>
          </a:blip>
          <a:stretch>
            <a:fillRect/>
          </a:stretch>
        </p:blipFill>
        <p:spPr>
          <a:xfrm>
            <a:off x="1365977" y="3134036"/>
            <a:ext cx="6012311" cy="1901658"/>
          </a:xfrm>
          <a:prstGeom prst="rect">
            <a:avLst/>
          </a:prstGeom>
          <a:noFill/>
          <a:ln>
            <a:noFill/>
          </a:ln>
        </p:spPr>
      </p:pic>
      <p:sp>
        <p:nvSpPr>
          <p:cNvPr id="115" name="Google Shape;115;p9"/>
          <p:cNvSpPr txBox="1"/>
          <p:nvPr/>
        </p:nvSpPr>
        <p:spPr>
          <a:xfrm>
            <a:off x="33450" y="628675"/>
            <a:ext cx="90771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u="sng">
                <a:solidFill>
                  <a:schemeClr val="hlink"/>
                </a:solidFill>
                <a:hlinkClick r:id="rId5"/>
              </a:rPr>
              <a:t>Colab Link</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113"/>
                                        </p:tgtEl>
                                        <p:attrNameLst>
                                          <p:attrName>style.visibility</p:attrName>
                                        </p:attrNameLst>
                                      </p:cBhvr>
                                      <p:to>
                                        <p:strVal val="visible"/>
                                      </p:to>
                                    </p:set>
                                    <p:anim calcmode="lin" valueType="num">
                                      <p:cBhvr additive="base">
                                        <p:cTn dur="1000"/>
                                        <p:tgtEl>
                                          <p:spTgt spid="113"/>
                                        </p:tgtEl>
                                        <p:attrNameLst>
                                          <p:attrName>ppt_x</p:attrName>
                                        </p:attrNameLst>
                                      </p:cBhvr>
                                      <p:tavLst>
                                        <p:tav fmla="" tm="0">
                                          <p:val>
                                            <p:strVal val="#ppt_x-1"/>
                                          </p:val>
                                        </p:tav>
                                        <p:tav fmla="" tm="100000">
                                          <p:val>
                                            <p:strVal val="#ppt_x"/>
                                          </p:val>
                                        </p:tav>
                                      </p:tavLst>
                                    </p:anim>
                                  </p:childTnLst>
                                </p:cTn>
                              </p:par>
                              <p:par>
                                <p:cTn fill="hold" nodeType="withEffect" presetClass="entr" presetID="2" presetSubtype="2">
                                  <p:stCondLst>
                                    <p:cond delay="0"/>
                                  </p:stCondLst>
                                  <p:childTnLst>
                                    <p:set>
                                      <p:cBhvr>
                                        <p:cTn dur="1" fill="hold">
                                          <p:stCondLst>
                                            <p:cond delay="0"/>
                                          </p:stCondLst>
                                        </p:cTn>
                                        <p:tgtEl>
                                          <p:spTgt spid="114"/>
                                        </p:tgtEl>
                                        <p:attrNameLst>
                                          <p:attrName>style.visibility</p:attrName>
                                        </p:attrNameLst>
                                      </p:cBhvr>
                                      <p:to>
                                        <p:strVal val="visible"/>
                                      </p:to>
                                    </p:set>
                                    <p:anim calcmode="lin" valueType="num">
                                      <p:cBhvr additive="base">
                                        <p:cTn dur="1000"/>
                                        <p:tgtEl>
                                          <p:spTgt spid="114"/>
                                        </p:tgtEl>
                                        <p:attrNameLst>
                                          <p:attrName>ppt_x</p:attrName>
                                        </p:attrNameLst>
                                      </p:cBhvr>
                                      <p:tavLst>
                                        <p:tav fmla="" tm="0">
                                          <p:val>
                                            <p:strVal val="#ppt_x+1"/>
                                          </p:val>
                                        </p:tav>
                                        <p:tav fmla="" tm="100000">
                                          <p:val>
                                            <p:strVal val="#ppt_x"/>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