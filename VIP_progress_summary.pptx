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Vertically Integrated Projects  |  Agriculture Commodity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FFFFF"/>
                </a:solidFill>
                <a:latin typeface="Calibri"/>
              </a:rPr>
              <a:t>Wheat Futures</a:t>
            </a:r>
          </a:p>
          <a:p>
            <a:r>
              <a:rPr sz="3200">
                <a:solidFill>
                  <a:srgbClr val="00D4AA"/>
                </a:solidFill>
                <a:latin typeface="Calibri"/>
              </a:rPr>
              <a:t>Classification  ·  v2 → v2.3  +  Phase 2 Ablation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1828800" cy="20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BBBBCC"/>
                </a:solidFill>
                <a:latin typeface="Calibri"/>
              </a:rPr>
              <a:t>ARX  ·  BiGRU  ·  BiRNN + Attention  ·  BiRNN +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libri"/>
              </a:rPr>
              <a:t>Nishant Pushparaju   |   N11677724   |   Update for Idriss Malek   |   April 22,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212080"/>
            <a:ext cx="2194560" cy="9144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0.522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BiGRU accuracy (v2.3)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5212080"/>
            <a:ext cx="2194560" cy="9144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0.521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BiRNN+Attn +ABC (Phase 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5212080"/>
            <a:ext cx="2194560" cy="9144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5-fold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TimeSeriesSplit CV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5212080"/>
            <a:ext cx="2194560" cy="9144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32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Ablation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5212080"/>
            <a:ext cx="2194560" cy="9144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2008+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Data 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Problem statement &amp; TA-compliant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we are 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669280" cy="45720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The task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▸ Predict next-day direction (up / down) of US Wheat Futures close price.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▸ Binary target:  y_t = 1 if close_t &gt; close_{t-1} else 0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Cohort ceiling: ~50 % across ~50 architectures × 12 students.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Goal: clear 52 % under strict TA 5-fold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486400" cy="45720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Shared pipeline (constant across all versions)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31 FRED-MD variables — exact TA list, per-variable t-codes, +1-month publication lag, daily forward-fill.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30 lagged daily closing prices + log-return channel.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5-fold TimeSeriesSplit, no shuffling.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Per-fold StandardScaler fit on train only.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Data clipped to 2008-01-01+ (post-GFC regime).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4 models share this pipeline: ARX, BiGRU, BiRNN+Attn, BiRNN+Skip.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What we fixed in the per-week notebooks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Architectural fixes carried forward from v2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Original issue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Fix applied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BiGRU pooling: GlobalAveragePooling1D over sequence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Made pooling an Optuna hyperparameter (last / mean / max)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Optuna re-selected mean-pool — original pooling was a helpful regularizer, not a bug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Attention softmax over feature dim instead of time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Softmax over dim=1 (time)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Weights now sum to 1 across the 30 timesteps, as intended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Skip-connection: implicit shape broadcast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Explicit nn.Linear(n_feats → 2·hidden) projection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Dimensions always match; no silent coercion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Class imbalance ignored in loss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pos_weight from per-fold train class balance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Small but consistent F1 gain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Default init, no grad hygiene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Orthogonal GRU init + grad-clip 1.0 + cosine LR + patience-8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Training stability, especially on smaller folds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6035040"/>
            <a:ext cx="11430000" cy="45720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200" b="0">
                <a:solidFill>
                  <a:srgbClr val="BBBBCC"/>
                </a:solidFill>
                <a:latin typeface="Calibri"/>
              </a:rPr>
              <a:t>These architectural fixes went in at v2 and remained constant through v2.3 and Phase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From baseline consolidation to headline 52 %+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Version progression:  v2 → v2.1 → v2.2 → v2.3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change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BiGRU acc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Consolidated notebook, log-return channel, bug fixes, threshold tuning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Baseline; insufficient lift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v2.1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Team convention: 2008+ clip + 80/20 split + test-slice eval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Reverted — 80/20 not required by TA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Keep 2008+ clip; revert to pure 5-fold; pool tuning enabled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TA-compliant; mean-pool wins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v2.3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Seed ensembling (5 seeds) on final refit for BiGRU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0.522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★ FINAL — clears 52 % bar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4846320"/>
            <a:ext cx="11430000" cy="155448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Key insight on pooling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Optuna independently picked pool=mean for BiGRU and BiRNN+Skip when given the choice of last / mean / max.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The original per-week notebooks used GlobalAveragePooling1D — what we first thought was a bug is a helpful regularizer for this low-SNR signal.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Final classification results — 5-fold mean, TA-compliant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v2.3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651760" cy="11887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3400" b="1">
                <a:solidFill>
                  <a:srgbClr val="00D4AA"/>
                </a:solidFill>
                <a:latin typeface="Calibri"/>
              </a:rPr>
              <a:t>0.522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BiGRU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737360"/>
            <a:ext cx="2651760" cy="11887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3400" b="1">
                <a:solidFill>
                  <a:srgbClr val="00D4AA"/>
                </a:solidFill>
                <a:latin typeface="Calibri"/>
              </a:rPr>
              <a:t>0.526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BiGRU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737360"/>
            <a:ext cx="2651760" cy="11887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3400" b="1">
                <a:solidFill>
                  <a:srgbClr val="00D4AA"/>
                </a:solidFill>
                <a:latin typeface="Calibri"/>
              </a:rPr>
              <a:t>0.535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BiGRU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737360"/>
            <a:ext cx="2651760" cy="11887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3000" b="1">
                <a:solidFill>
                  <a:srgbClr val="3CB371"/>
                </a:solidFill>
                <a:latin typeface="Calibri"/>
              </a:rPr>
              <a:t>✓ 52%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Target cleared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20040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1801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ARX (logistic)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0.511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0.547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Linear baseline (deterministic)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BiGRU (mean-pool + 5-seed)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0.522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0.535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★ HEADLINE — above 52 % target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BiRNN+Attention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0.544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Class-biased: recall up=0.80, down=0.23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BiRNN+Skip (mean-pool)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0.566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Similar to v2.2 levels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Ensemble (mean-prob)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0.501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0.525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0.549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Held down by Attn/Skip degradation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Ensemble (AUC-weighted)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0.503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0.550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Weights ARX/BG/Attn/Skip ≈ 0.20/0.31/0.27/0.22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6172200"/>
            <a:ext cx="11430000" cy="3200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100" b="0">
                <a:solidFill>
                  <a:srgbClr val="E6A83C"/>
                </a:solidFill>
                <a:latin typeface="Calibri"/>
              </a:rPr>
              <a:t>Honest finding: seed ensembling hurts attention-based models — averaging across different learned attention patterns destroys signal.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Cumulative contributions &amp; things we discarded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How we got from ~50 % → 52.2 %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Lever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BiGRU Δ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Introduced in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2008-01-01+ data clip (post-GFC regime)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+1.0 pp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Optuna picked mean-pool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+0.5 pp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5-seed ensembling on final refit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+0.5 pp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v2.3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Per-fold threshold tuning (on train)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+0.3–0.5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Log-return price channel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+0.2 pp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Pool / attn-dim / skip-shape fixes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498079" y="1828800"/>
            <a:ext cx="4297680" cy="43891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Graveyard (tried, discarded)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Global-window wavelet denoising — leaked future info into past features.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5-day forward target — lifts +20 pp but TA §1.3 mandates next-day.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80/20 top-level split (team convention) — not required by TA email.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Seed ensembling on attention models — flattens learned attention patterns.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Polymarket / prediction markets — wheat-specific markets too thin.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E6A83C"/>
                </a:solidFill>
                <a:latin typeface="Calibri"/>
              </a:rPr>
              <a:t>▸ FinBERT / NDVI — stretch goals, not yet started (open question).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Does any additional data beyond FRED-MD help?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Phase 2 — Data Ablation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120640" cy="4663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Design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Full 2³ = 8-config power set on top of TA baseline.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4 models per config → 32 cells total.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Per-cell Optuna (30 trials, TPE + MedianPruner).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Single seed across all cells — fairness across configs.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▸ ~4.5 h wall time on A100.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BBBBCC"/>
                </a:solidFill>
                <a:latin typeface="Calibri"/>
              </a:rPr>
              <a:t>▸ Protocol otherwise identical to v2.3.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1737360"/>
          <a:ext cx="6126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/>
                <a:gridCol w="2042160"/>
                <a:gridCol w="20421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 feats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A — TECH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Wheat OHLCV indicators (RSI, MACD, Bollinger, ATR, momentum, volume-z)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B — COT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CFTC disaggregated, Chicago SRW (comm-net/OI, spec-net/OI, 4w mom, 52w z)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 — CROSS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Corn / soy / crude / DXY / gold (ratios, 20d corr, log-returns)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760720" y="4023360"/>
            <a:ext cx="6126480" cy="2377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8 ablation configurations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baseline  —  FRED + price only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+A, +B, +C  —  single-group additions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+AB, +AC, +BC  —  pairwise combinations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+ABC  —  all three groups combined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32-cell results, best per model highlighted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Phase 2 accuracy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ARX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BiGRU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BiRNN+Attn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BiRNN+Skip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0.493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+A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0.519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0.499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+B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0.491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0.515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+C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+AB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0.515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+AC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0.518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+BC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0.520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0.507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0.509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+ABC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0.514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0.521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040880" y="1828800"/>
            <a:ext cx="4846320" cy="10058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73152"/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0.521 / AUC 0.535</a:t>
            </a:r>
          </a:p>
          <a:p>
            <a:pPr algn="ctr"/>
            <a:r>
              <a:rPr sz="1100">
                <a:solidFill>
                  <a:srgbClr val="BBBBCC"/>
                </a:solidFill>
                <a:latin typeface="Calibri"/>
              </a:rPr>
              <a:t>Best single cell  (BiRNN+Attn on +ABC)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2971800"/>
            <a:ext cx="4846320" cy="347472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Headlines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BiRNN+Attn on +ABC:  0.521 / 0.535 — best single cell, clears 52 %.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BiGRU on +BC:  0.520 — also above 52 %.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Every model peaks on +ABC or a pair containing TECH+CROSS.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Every model's AUC improves under +ABC.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Which group earns its keep, and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Per-group marginal lift &amp; interpretation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82880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ARX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BiGRU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BiRNN+Attn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BiRNN+Skip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L="45720" marR="45720" marT="27432" marB="27432">
                    <a:solidFill>
                      <a:srgbClr val="5706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A — TECH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+0.013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+0.011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+0.006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B — COT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≈ 0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+0.007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+0.002</a:t>
                      </a:r>
                    </a:p>
                  </a:txBody>
                  <a:tcPr marL="45720" marR="45720" marT="27432" marB="27432">
                    <a:solidFill>
                      <a:srgbClr val="1A1A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C — CROSS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+0.008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+0.012</a:t>
                      </a:r>
                    </a:p>
                  </a:txBody>
                  <a:tcPr marL="45720" marR="45720" marT="27432" marB="27432">
                    <a:solidFill>
                      <a:srgbClr val="0A5B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−0.002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+0.004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FFFF"/>
                          </a:solidFill>
                          <a:latin typeface="Calibri"/>
                        </a:rPr>
                        <a:t>+0.006</a:t>
                      </a:r>
                    </a:p>
                  </a:txBody>
                  <a:tcPr marL="45720" marR="45720" marT="27432" marB="27432"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65760" y="4023360"/>
            <a:ext cx="3749039" cy="2377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TECH — the RNNs' story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+1.3 pp BiGRU, +1.1 pp Attn.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Baseline FRED is monthly ffilled → 29/30 timesteps repeat. The RNN sequence branch was starving.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Technical indicators give real daily-varying features worth modelling.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023360"/>
            <a:ext cx="3749039" cy="2377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CROSS — ARX's story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+0.8 pp ARX (largest linear gain anywhere).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Wheat/corn and wheat/soy log-ratios carry linearly-separable signal.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BiGRU also gains +1.2 pp — grain-complex substitution effect.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749039" cy="2377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COT — essentially null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E6A83C"/>
                </a:solidFill>
                <a:latin typeface="Calibri"/>
              </a:rPr>
              <a:t>▸ ~0 average lift across 3 of 4 models.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Weekly publication + 3-day lag dilutes signal at daily horizon.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▸ Literature (Wang &amp; Zhang 2024) reports Sharpe 2.07 — at weekly+ horizons, not daily.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VIP Agriculture — Wheat Futures Classification   |   NYU Tandon School of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57068C"/>
                </a:solidFill>
                <a:latin typeface="Calibri"/>
              </a:rPr>
              <a:t>NYU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914400" cy="1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Where we are, and what to discuss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5669280" cy="4663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What we delivered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v2.3 classification:  BiGRU at 0.522 acc / 0.526 AUC  (TA-compliant 5-fold).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Phase 2 ablation:  BiRNN+Attn on +ABC at 0.521 / 0.535  (independent path).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TECH and CROSS each provide reliable +1 pp lifts.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COT is negligible at daily horizon.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+ABC combines groups roughly additively — no catastrophic interactions.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Two reproducible paths to 52 %+ on strict TA 5-fold 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486400" cy="4663440"/>
          </a:xfrm>
          <a:prstGeom prst="roundRect">
            <a:avLst/>
          </a:prstGeom>
          <a:solidFill>
            <a:srgbClr val="24243E"/>
          </a:solidFill>
          <a:ln>
            <a:solidFill>
              <a:srgbClr val="242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/>
            <a:r>
              <a:rPr sz="1500" b="1">
                <a:solidFill>
                  <a:srgbClr val="00D4AA"/>
                </a:solidFill>
                <a:latin typeface="Calibri"/>
              </a:rPr>
              <a:t>Discussion points for this meeting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Extend ablation to FinBERT news + NDVI satellite?  (new data collection)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Re-run 4 Phase 2 baseline cells at v2.3 settings to anchor absolute numbers?  (~45 min A100)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Headline framing — lead with v2.3 BiGRU or Phase 2 BiRNN+Attn?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▸ Is seed-ensembling-hurts-attention worth writing up formally?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D4AA"/>
                </a:solidFill>
                <a:latin typeface="Calibri"/>
              </a:rPr>
              <a:t>▸ Ready to close out classification deliverable?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999AA"/>
                </a:solidFill>
                <a:latin typeface="Calibri"/>
              </a:rPr>
              <a:t>Reports: docs/classification_v2_progression.md · docs/phase2_ablation_report.md · docs/ta_meeting_storyline.md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